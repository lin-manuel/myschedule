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5143500" cx="9144000"/>
  <p:notesSz cx="9144000" cy="51435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29" roundtripDataSignature="AMtx7mhN8QNJla/o+42NHLhqqwPBgJkcA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2571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257175"/>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2474913"/>
            <a:ext cx="7315200" cy="20256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4886325"/>
            <a:ext cx="3962400" cy="257175"/>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4886325"/>
            <a:ext cx="3962400" cy="257175"/>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1:notes"/>
          <p:cNvSpPr txBox="1"/>
          <p:nvPr>
            <p:ph idx="1" type="body"/>
          </p:nvPr>
        </p:nvSpPr>
        <p:spPr>
          <a:xfrm>
            <a:off x="914400" y="2474913"/>
            <a:ext cx="7315200" cy="20256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 name="Google Shape;99;p1: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2:notes"/>
          <p:cNvSpPr txBox="1"/>
          <p:nvPr>
            <p:ph idx="1" type="body"/>
          </p:nvPr>
        </p:nvSpPr>
        <p:spPr>
          <a:xfrm>
            <a:off x="914400" y="2474913"/>
            <a:ext cx="7315200" cy="20256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 name="Google Shape;107;p2: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3:notes"/>
          <p:cNvSpPr txBox="1"/>
          <p:nvPr>
            <p:ph idx="1" type="body"/>
          </p:nvPr>
        </p:nvSpPr>
        <p:spPr>
          <a:xfrm>
            <a:off x="914400" y="2474913"/>
            <a:ext cx="7315200" cy="20256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 name="Google Shape;113;p3: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4:notes"/>
          <p:cNvSpPr txBox="1"/>
          <p:nvPr>
            <p:ph idx="1" type="body"/>
          </p:nvPr>
        </p:nvSpPr>
        <p:spPr>
          <a:xfrm>
            <a:off x="914400" y="2474913"/>
            <a:ext cx="7315200" cy="20256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 name="Google Shape;120;p4: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5: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p5:notes"/>
          <p:cNvSpPr txBox="1"/>
          <p:nvPr>
            <p:ph idx="1" type="body"/>
          </p:nvPr>
        </p:nvSpPr>
        <p:spPr>
          <a:xfrm>
            <a:off x="914400" y="2474913"/>
            <a:ext cx="7315200" cy="20256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7" name="Google Shape;127;p5:notes"/>
          <p:cNvSpPr txBox="1"/>
          <p:nvPr>
            <p:ph idx="12" type="sldNum"/>
          </p:nvPr>
        </p:nvSpPr>
        <p:spPr>
          <a:xfrm>
            <a:off x="5180013" y="4886325"/>
            <a:ext cx="3962400" cy="25717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6:notes"/>
          <p:cNvSpPr txBox="1"/>
          <p:nvPr>
            <p:ph idx="1" type="body"/>
          </p:nvPr>
        </p:nvSpPr>
        <p:spPr>
          <a:xfrm>
            <a:off x="914400" y="2474913"/>
            <a:ext cx="7315200" cy="20256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3" name="Google Shape;133;p6: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7:notes"/>
          <p:cNvSpPr txBox="1"/>
          <p:nvPr>
            <p:ph idx="1" type="body"/>
          </p:nvPr>
        </p:nvSpPr>
        <p:spPr>
          <a:xfrm>
            <a:off x="914400" y="2474913"/>
            <a:ext cx="7315200" cy="20256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9" name="Google Shape;139;p7: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8:notes"/>
          <p:cNvSpPr txBox="1"/>
          <p:nvPr>
            <p:ph idx="1" type="body"/>
          </p:nvPr>
        </p:nvSpPr>
        <p:spPr>
          <a:xfrm>
            <a:off x="914400" y="2474913"/>
            <a:ext cx="7315200" cy="20256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8" name="Google Shape;158;p8: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9:notes"/>
          <p:cNvSpPr txBox="1"/>
          <p:nvPr>
            <p:ph idx="1" type="body"/>
          </p:nvPr>
        </p:nvSpPr>
        <p:spPr>
          <a:xfrm>
            <a:off x="914400" y="2474913"/>
            <a:ext cx="7315200" cy="20256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7" name="Google Shape;167;p9: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0:notes"/>
          <p:cNvSpPr txBox="1"/>
          <p:nvPr>
            <p:ph idx="1" type="body"/>
          </p:nvPr>
        </p:nvSpPr>
        <p:spPr>
          <a:xfrm>
            <a:off x="914400" y="2474913"/>
            <a:ext cx="7315200" cy="20256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5" name="Google Shape;175;p10: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1:notes"/>
          <p:cNvSpPr txBox="1"/>
          <p:nvPr>
            <p:ph idx="1" type="body"/>
          </p:nvPr>
        </p:nvSpPr>
        <p:spPr>
          <a:xfrm>
            <a:off x="914400" y="2474913"/>
            <a:ext cx="7315200" cy="20256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3" name="Google Shape;183;p11: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2:notes"/>
          <p:cNvSpPr txBox="1"/>
          <p:nvPr>
            <p:ph idx="1" type="body"/>
          </p:nvPr>
        </p:nvSpPr>
        <p:spPr>
          <a:xfrm>
            <a:off x="914400" y="2474913"/>
            <a:ext cx="7315200" cy="20256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p12: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3:notes"/>
          <p:cNvSpPr txBox="1"/>
          <p:nvPr>
            <p:ph idx="1" type="body"/>
          </p:nvPr>
        </p:nvSpPr>
        <p:spPr>
          <a:xfrm>
            <a:off x="914400" y="2474913"/>
            <a:ext cx="7315200" cy="20256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9" name="Google Shape;199;p13: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4:notes"/>
          <p:cNvSpPr txBox="1"/>
          <p:nvPr>
            <p:ph idx="1" type="body"/>
          </p:nvPr>
        </p:nvSpPr>
        <p:spPr>
          <a:xfrm>
            <a:off x="914400" y="2474913"/>
            <a:ext cx="7315200" cy="20256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9" name="Google Shape;209;p14: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5:notes"/>
          <p:cNvSpPr txBox="1"/>
          <p:nvPr>
            <p:ph idx="1" type="body"/>
          </p:nvPr>
        </p:nvSpPr>
        <p:spPr>
          <a:xfrm>
            <a:off x="914400" y="2474913"/>
            <a:ext cx="7315200" cy="20256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7" name="Google Shape;217;p15: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6:notes"/>
          <p:cNvSpPr txBox="1"/>
          <p:nvPr>
            <p:ph idx="1" type="body"/>
          </p:nvPr>
        </p:nvSpPr>
        <p:spPr>
          <a:xfrm>
            <a:off x="914400" y="2474913"/>
            <a:ext cx="7315200" cy="20256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5" name="Google Shape;225;p16: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7:notes"/>
          <p:cNvSpPr txBox="1"/>
          <p:nvPr>
            <p:ph idx="1" type="body"/>
          </p:nvPr>
        </p:nvSpPr>
        <p:spPr>
          <a:xfrm>
            <a:off x="914400" y="2474913"/>
            <a:ext cx="7315200" cy="20256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4" name="Google Shape;244;p17: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8:notes"/>
          <p:cNvSpPr txBox="1"/>
          <p:nvPr>
            <p:ph idx="1" type="body"/>
          </p:nvPr>
        </p:nvSpPr>
        <p:spPr>
          <a:xfrm>
            <a:off x="914400" y="2474913"/>
            <a:ext cx="7315200" cy="20256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2" name="Google Shape;252;p18: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9:notes"/>
          <p:cNvSpPr txBox="1"/>
          <p:nvPr>
            <p:ph idx="1" type="body"/>
          </p:nvPr>
        </p:nvSpPr>
        <p:spPr>
          <a:xfrm>
            <a:off x="914400" y="2474913"/>
            <a:ext cx="7315200" cy="20256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9" name="Google Shape;269;p19: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0:notes"/>
          <p:cNvSpPr txBox="1"/>
          <p:nvPr>
            <p:ph idx="1" type="body"/>
          </p:nvPr>
        </p:nvSpPr>
        <p:spPr>
          <a:xfrm>
            <a:off x="914400" y="2474913"/>
            <a:ext cx="7315200" cy="20256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8" name="Google Shape;278;p20: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21:notes"/>
          <p:cNvSpPr txBox="1"/>
          <p:nvPr>
            <p:ph idx="1" type="body"/>
          </p:nvPr>
        </p:nvSpPr>
        <p:spPr>
          <a:xfrm>
            <a:off x="914400" y="2474913"/>
            <a:ext cx="7315200" cy="20256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9" name="Google Shape;309;p21: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22:notes"/>
          <p:cNvSpPr txBox="1"/>
          <p:nvPr>
            <p:ph idx="1" type="body"/>
          </p:nvPr>
        </p:nvSpPr>
        <p:spPr>
          <a:xfrm>
            <a:off x="914400" y="2474913"/>
            <a:ext cx="7315200" cy="20256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3" name="Google Shape;323;p22: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23:notes"/>
          <p:cNvSpPr txBox="1"/>
          <p:nvPr>
            <p:ph idx="1" type="body"/>
          </p:nvPr>
        </p:nvSpPr>
        <p:spPr>
          <a:xfrm>
            <a:off x="914400" y="2474913"/>
            <a:ext cx="7315200" cy="20256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23: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type="obj">
  <p:cSld name="OBJECT">
    <p:spTree>
      <p:nvGrpSpPr>
        <p:cNvPr id="15" name="Shape 15"/>
        <p:cNvGrpSpPr/>
        <p:nvPr/>
      </p:nvGrpSpPr>
      <p:grpSpPr>
        <a:xfrm>
          <a:off x="0" y="0"/>
          <a:ext cx="0" cy="0"/>
          <a:chOff x="0" y="0"/>
          <a:chExt cx="0" cy="0"/>
        </a:xfrm>
      </p:grpSpPr>
      <p:sp>
        <p:nvSpPr>
          <p:cNvPr id="16" name="Google Shape;16;p25"/>
          <p:cNvSpPr txBox="1"/>
          <p:nvPr>
            <p:ph type="ctrTitle"/>
          </p:nvPr>
        </p:nvSpPr>
        <p:spPr>
          <a:xfrm>
            <a:off x="744282" y="1135051"/>
            <a:ext cx="7655434" cy="1488439"/>
          </a:xfrm>
          <a:prstGeom prst="rect">
            <a:avLst/>
          </a:prstGeom>
          <a:noFill/>
          <a:ln>
            <a:noFill/>
          </a:ln>
        </p:spPr>
        <p:txBody>
          <a:bodyPr anchorCtr="0" anchor="ctr" bIns="0" lIns="0" spcFirstLastPara="1" rIns="0" wrap="square" tIns="0">
            <a:spAutoFit/>
          </a:bodyPr>
          <a:lstStyle>
            <a:lvl1pPr lvl="0" algn="l">
              <a:lnSpc>
                <a:spcPct val="90000"/>
              </a:lnSpc>
              <a:spcBef>
                <a:spcPts val="0"/>
              </a:spcBef>
              <a:spcAft>
                <a:spcPts val="0"/>
              </a:spcAft>
              <a:buClr>
                <a:schemeClr val="dk1"/>
              </a:buClr>
              <a:buSzPts val="3300"/>
              <a:buFont typeface="Calibri"/>
              <a:buNone/>
              <a:defRPr b="0" i="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5"/>
          <p:cNvSpPr txBox="1"/>
          <p:nvPr>
            <p:ph idx="1" type="subTitle"/>
          </p:nvPr>
        </p:nvSpPr>
        <p:spPr>
          <a:xfrm>
            <a:off x="1371600" y="2880360"/>
            <a:ext cx="6400800" cy="1285875"/>
          </a:xfrm>
          <a:prstGeom prst="rect">
            <a:avLst/>
          </a:prstGeom>
          <a:noFill/>
          <a:ln>
            <a:noFill/>
          </a:ln>
        </p:spPr>
        <p:txBody>
          <a:bodyPr anchorCtr="0" anchor="t" bIns="0" lIns="0" spcFirstLastPara="1" rIns="0" wrap="square" tIns="0">
            <a:spAutoFit/>
          </a:bodyPr>
          <a:lstStyle>
            <a:lvl1pPr lvl="0" algn="l">
              <a:lnSpc>
                <a:spcPct val="90000"/>
              </a:lnSpc>
              <a:spcBef>
                <a:spcPts val="750"/>
              </a:spcBef>
              <a:spcAft>
                <a:spcPts val="0"/>
              </a:spcAft>
              <a:buClr>
                <a:schemeClr val="dk1"/>
              </a:buClr>
              <a:buSzPts val="2100"/>
              <a:buChar char="•"/>
              <a:defRPr/>
            </a:lvl1pPr>
            <a:lvl2pPr lvl="1" algn="l">
              <a:lnSpc>
                <a:spcPct val="90000"/>
              </a:lnSpc>
              <a:spcBef>
                <a:spcPts val="375"/>
              </a:spcBef>
              <a:spcAft>
                <a:spcPts val="0"/>
              </a:spcAft>
              <a:buClr>
                <a:schemeClr val="dk1"/>
              </a:buClr>
              <a:buSzPts val="1800"/>
              <a:buChar char="•"/>
              <a:defRPr/>
            </a:lvl2pPr>
            <a:lvl3pPr lvl="2" algn="l">
              <a:lnSpc>
                <a:spcPct val="90000"/>
              </a:lnSpc>
              <a:spcBef>
                <a:spcPts val="375"/>
              </a:spcBef>
              <a:spcAft>
                <a:spcPts val="0"/>
              </a:spcAft>
              <a:buClr>
                <a:schemeClr val="dk1"/>
              </a:buClr>
              <a:buSzPts val="1800"/>
              <a:buChar char="•"/>
              <a:defRPr/>
            </a:lvl3pPr>
            <a:lvl4pPr lvl="3" algn="l">
              <a:lnSpc>
                <a:spcPct val="90000"/>
              </a:lnSpc>
              <a:spcBef>
                <a:spcPts val="375"/>
              </a:spcBef>
              <a:spcAft>
                <a:spcPts val="0"/>
              </a:spcAft>
              <a:buClr>
                <a:schemeClr val="dk1"/>
              </a:buClr>
              <a:buSzPts val="1800"/>
              <a:buChar char="•"/>
              <a:defRPr/>
            </a:lvl4pPr>
            <a:lvl5pPr lvl="4" algn="l">
              <a:lnSpc>
                <a:spcPct val="90000"/>
              </a:lnSpc>
              <a:spcBef>
                <a:spcPts val="375"/>
              </a:spcBef>
              <a:spcAft>
                <a:spcPts val="0"/>
              </a:spcAft>
              <a:buClr>
                <a:schemeClr val="dk1"/>
              </a:buClr>
              <a:buSzPts val="1800"/>
              <a:buChar char="•"/>
              <a:defRPr/>
            </a:lvl5pPr>
            <a:lvl6pPr lvl="5" algn="l">
              <a:lnSpc>
                <a:spcPct val="90000"/>
              </a:lnSpc>
              <a:spcBef>
                <a:spcPts val="375"/>
              </a:spcBef>
              <a:spcAft>
                <a:spcPts val="0"/>
              </a:spcAft>
              <a:buClr>
                <a:schemeClr val="dk1"/>
              </a:buClr>
              <a:buSzPts val="1800"/>
              <a:buChar char="•"/>
              <a:defRPr/>
            </a:lvl6pPr>
            <a:lvl7pPr lvl="6" algn="l">
              <a:lnSpc>
                <a:spcPct val="90000"/>
              </a:lnSpc>
              <a:spcBef>
                <a:spcPts val="375"/>
              </a:spcBef>
              <a:spcAft>
                <a:spcPts val="0"/>
              </a:spcAft>
              <a:buClr>
                <a:schemeClr val="dk1"/>
              </a:buClr>
              <a:buSzPts val="1800"/>
              <a:buChar char="•"/>
              <a:defRPr/>
            </a:lvl7pPr>
            <a:lvl8pPr lvl="7" algn="l">
              <a:lnSpc>
                <a:spcPct val="90000"/>
              </a:lnSpc>
              <a:spcBef>
                <a:spcPts val="375"/>
              </a:spcBef>
              <a:spcAft>
                <a:spcPts val="0"/>
              </a:spcAft>
              <a:buClr>
                <a:schemeClr val="dk1"/>
              </a:buClr>
              <a:buSzPts val="1800"/>
              <a:buChar char="•"/>
              <a:defRPr/>
            </a:lvl8pPr>
            <a:lvl9pPr lvl="8" algn="l">
              <a:lnSpc>
                <a:spcPct val="90000"/>
              </a:lnSpc>
              <a:spcBef>
                <a:spcPts val="375"/>
              </a:spcBef>
              <a:spcAft>
                <a:spcPts val="0"/>
              </a:spcAft>
              <a:buClr>
                <a:schemeClr val="dk1"/>
              </a:buClr>
              <a:buSzPts val="1800"/>
              <a:buChar char="•"/>
              <a:defRPr/>
            </a:lvl9pPr>
          </a:lstStyle>
          <a:p/>
        </p:txBody>
      </p:sp>
      <p:sp>
        <p:nvSpPr>
          <p:cNvPr id="18" name="Google Shape;18;p25"/>
          <p:cNvSpPr txBox="1"/>
          <p:nvPr>
            <p:ph idx="11" type="ftr"/>
          </p:nvPr>
        </p:nvSpPr>
        <p:spPr>
          <a:xfrm>
            <a:off x="3028950" y="4767263"/>
            <a:ext cx="3086100" cy="273844"/>
          </a:xfrm>
          <a:prstGeom prst="rect">
            <a:avLst/>
          </a:prstGeom>
          <a:noFill/>
          <a:ln>
            <a:noFill/>
          </a:ln>
        </p:spPr>
        <p:txBody>
          <a:bodyPr anchorCtr="0" anchor="ctr" bIns="0" lIns="0" spcFirstLastPara="1" rIns="0" wrap="square" tIns="0">
            <a:no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5"/>
          <p:cNvSpPr txBox="1"/>
          <p:nvPr>
            <p:ph idx="10" type="dt"/>
          </p:nvPr>
        </p:nvSpPr>
        <p:spPr>
          <a:xfrm>
            <a:off x="628650" y="4767263"/>
            <a:ext cx="2057400" cy="273844"/>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5"/>
          <p:cNvSpPr txBox="1"/>
          <p:nvPr>
            <p:ph idx="12" type="sldNum"/>
          </p:nvPr>
        </p:nvSpPr>
        <p:spPr>
          <a:xfrm>
            <a:off x="6457950" y="4767263"/>
            <a:ext cx="2057400" cy="273844"/>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1" name="Shape 21"/>
        <p:cNvGrpSpPr/>
        <p:nvPr/>
      </p:nvGrpSpPr>
      <p:grpSpPr>
        <a:xfrm>
          <a:off x="0" y="0"/>
          <a:ext cx="0" cy="0"/>
          <a:chOff x="0" y="0"/>
          <a:chExt cx="0" cy="0"/>
        </a:xfrm>
      </p:grpSpPr>
      <p:sp>
        <p:nvSpPr>
          <p:cNvPr id="22" name="Google Shape;22;p26"/>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6"/>
          <p:cNvSpPr txBox="1"/>
          <p:nvPr>
            <p:ph idx="1" type="body"/>
          </p:nvPr>
        </p:nvSpPr>
        <p:spPr>
          <a:xfrm>
            <a:off x="628650" y="1369219"/>
            <a:ext cx="7886700" cy="326350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4" name="Google Shape;24;p26"/>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6"/>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6"/>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7" name="Shape 27"/>
        <p:cNvGrpSpPr/>
        <p:nvPr/>
      </p:nvGrpSpPr>
      <p:grpSpPr>
        <a:xfrm>
          <a:off x="0" y="0"/>
          <a:ext cx="0" cy="0"/>
          <a:chOff x="0" y="0"/>
          <a:chExt cx="0" cy="0"/>
        </a:xfrm>
      </p:grpSpPr>
      <p:sp>
        <p:nvSpPr>
          <p:cNvPr id="28" name="Google Shape;28;p27"/>
          <p:cNvSpPr txBox="1"/>
          <p:nvPr>
            <p:ph type="ctrTitle"/>
          </p:nvPr>
        </p:nvSpPr>
        <p:spPr>
          <a:xfrm>
            <a:off x="1143000" y="841772"/>
            <a:ext cx="6858000" cy="1790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7"/>
          <p:cNvSpPr txBox="1"/>
          <p:nvPr>
            <p:ph idx="1" type="subTitle"/>
          </p:nvPr>
        </p:nvSpPr>
        <p:spPr>
          <a:xfrm>
            <a:off x="1143000" y="2701528"/>
            <a:ext cx="6858000" cy="124182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30" name="Google Shape;30;p27"/>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7"/>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7"/>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28"/>
          <p:cNvSpPr txBox="1"/>
          <p:nvPr>
            <p:ph type="title"/>
          </p:nvPr>
        </p:nvSpPr>
        <p:spPr>
          <a:xfrm>
            <a:off x="623888" y="1282304"/>
            <a:ext cx="7886700" cy="213955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8"/>
          <p:cNvSpPr txBox="1"/>
          <p:nvPr>
            <p:ph idx="1" type="body"/>
          </p:nvPr>
        </p:nvSpPr>
        <p:spPr>
          <a:xfrm>
            <a:off x="623888" y="3442098"/>
            <a:ext cx="7886700" cy="112514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rgbClr val="888888"/>
              </a:buClr>
              <a:buSzPts val="1800"/>
              <a:buNone/>
              <a:defRPr sz="1800">
                <a:solidFill>
                  <a:srgbClr val="888888"/>
                </a:solidFill>
              </a:defRPr>
            </a:lvl1pPr>
            <a:lvl2pPr indent="-228600" lvl="1" marL="914400" algn="l">
              <a:lnSpc>
                <a:spcPct val="90000"/>
              </a:lnSpc>
              <a:spcBef>
                <a:spcPts val="375"/>
              </a:spcBef>
              <a:spcAft>
                <a:spcPts val="0"/>
              </a:spcAft>
              <a:buClr>
                <a:srgbClr val="888888"/>
              </a:buClr>
              <a:buSzPts val="1500"/>
              <a:buNone/>
              <a:defRPr sz="1500">
                <a:solidFill>
                  <a:srgbClr val="888888"/>
                </a:solidFill>
              </a:defRPr>
            </a:lvl2pPr>
            <a:lvl3pPr indent="-228600" lvl="2" marL="1371600" algn="l">
              <a:lnSpc>
                <a:spcPct val="90000"/>
              </a:lnSpc>
              <a:spcBef>
                <a:spcPts val="375"/>
              </a:spcBef>
              <a:spcAft>
                <a:spcPts val="0"/>
              </a:spcAft>
              <a:buClr>
                <a:srgbClr val="888888"/>
              </a:buClr>
              <a:buSzPts val="1350"/>
              <a:buNone/>
              <a:defRPr sz="1350">
                <a:solidFill>
                  <a:srgbClr val="888888"/>
                </a:solidFill>
              </a:defRPr>
            </a:lvl3pPr>
            <a:lvl4pPr indent="-228600" lvl="3" marL="1828800" algn="l">
              <a:lnSpc>
                <a:spcPct val="90000"/>
              </a:lnSpc>
              <a:spcBef>
                <a:spcPts val="375"/>
              </a:spcBef>
              <a:spcAft>
                <a:spcPts val="0"/>
              </a:spcAft>
              <a:buClr>
                <a:srgbClr val="888888"/>
              </a:buClr>
              <a:buSzPts val="1200"/>
              <a:buNone/>
              <a:defRPr sz="1200">
                <a:solidFill>
                  <a:srgbClr val="888888"/>
                </a:solidFill>
              </a:defRPr>
            </a:lvl4pPr>
            <a:lvl5pPr indent="-228600" lvl="4" marL="2286000" algn="l">
              <a:lnSpc>
                <a:spcPct val="90000"/>
              </a:lnSpc>
              <a:spcBef>
                <a:spcPts val="375"/>
              </a:spcBef>
              <a:spcAft>
                <a:spcPts val="0"/>
              </a:spcAft>
              <a:buClr>
                <a:srgbClr val="888888"/>
              </a:buClr>
              <a:buSzPts val="1200"/>
              <a:buNone/>
              <a:defRPr sz="1200">
                <a:solidFill>
                  <a:srgbClr val="888888"/>
                </a:solidFill>
              </a:defRPr>
            </a:lvl5pPr>
            <a:lvl6pPr indent="-228600" lvl="5" marL="2743200" algn="l">
              <a:lnSpc>
                <a:spcPct val="90000"/>
              </a:lnSpc>
              <a:spcBef>
                <a:spcPts val="375"/>
              </a:spcBef>
              <a:spcAft>
                <a:spcPts val="0"/>
              </a:spcAft>
              <a:buClr>
                <a:srgbClr val="888888"/>
              </a:buClr>
              <a:buSzPts val="1200"/>
              <a:buNone/>
              <a:defRPr sz="1200">
                <a:solidFill>
                  <a:srgbClr val="888888"/>
                </a:solidFill>
              </a:defRPr>
            </a:lvl6pPr>
            <a:lvl7pPr indent="-228600" lvl="6" marL="3200400" algn="l">
              <a:lnSpc>
                <a:spcPct val="90000"/>
              </a:lnSpc>
              <a:spcBef>
                <a:spcPts val="375"/>
              </a:spcBef>
              <a:spcAft>
                <a:spcPts val="0"/>
              </a:spcAft>
              <a:buClr>
                <a:srgbClr val="888888"/>
              </a:buClr>
              <a:buSzPts val="1200"/>
              <a:buNone/>
              <a:defRPr sz="1200">
                <a:solidFill>
                  <a:srgbClr val="888888"/>
                </a:solidFill>
              </a:defRPr>
            </a:lvl7pPr>
            <a:lvl8pPr indent="-228600" lvl="7" marL="3657600" algn="l">
              <a:lnSpc>
                <a:spcPct val="90000"/>
              </a:lnSpc>
              <a:spcBef>
                <a:spcPts val="375"/>
              </a:spcBef>
              <a:spcAft>
                <a:spcPts val="0"/>
              </a:spcAft>
              <a:buClr>
                <a:srgbClr val="888888"/>
              </a:buClr>
              <a:buSzPts val="1200"/>
              <a:buNone/>
              <a:defRPr sz="1200">
                <a:solidFill>
                  <a:srgbClr val="888888"/>
                </a:solidFill>
              </a:defRPr>
            </a:lvl8pPr>
            <a:lvl9pPr indent="-228600" lvl="8" marL="4114800" algn="l">
              <a:lnSpc>
                <a:spcPct val="90000"/>
              </a:lnSpc>
              <a:spcBef>
                <a:spcPts val="375"/>
              </a:spcBef>
              <a:spcAft>
                <a:spcPts val="0"/>
              </a:spcAft>
              <a:buClr>
                <a:srgbClr val="888888"/>
              </a:buClr>
              <a:buSzPts val="1200"/>
              <a:buNone/>
              <a:defRPr sz="1200">
                <a:solidFill>
                  <a:srgbClr val="888888"/>
                </a:solidFill>
              </a:defRPr>
            </a:lvl9pPr>
          </a:lstStyle>
          <a:p/>
        </p:txBody>
      </p:sp>
      <p:sp>
        <p:nvSpPr>
          <p:cNvPr id="36" name="Google Shape;36;p28"/>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8"/>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8"/>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29"/>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9"/>
          <p:cNvSpPr txBox="1"/>
          <p:nvPr>
            <p:ph idx="1" type="body"/>
          </p:nvPr>
        </p:nvSpPr>
        <p:spPr>
          <a:xfrm>
            <a:off x="628650" y="1369219"/>
            <a:ext cx="3886200" cy="326350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2" name="Google Shape;42;p29"/>
          <p:cNvSpPr txBox="1"/>
          <p:nvPr>
            <p:ph idx="2" type="body"/>
          </p:nvPr>
        </p:nvSpPr>
        <p:spPr>
          <a:xfrm>
            <a:off x="4629150" y="1369219"/>
            <a:ext cx="3886200" cy="326350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3" name="Google Shape;43;p29"/>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9"/>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9"/>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30"/>
          <p:cNvSpPr txBox="1"/>
          <p:nvPr>
            <p:ph type="title"/>
          </p:nvPr>
        </p:nvSpPr>
        <p:spPr>
          <a:xfrm>
            <a:off x="629841"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30"/>
          <p:cNvSpPr txBox="1"/>
          <p:nvPr>
            <p:ph idx="1" type="body"/>
          </p:nvPr>
        </p:nvSpPr>
        <p:spPr>
          <a:xfrm>
            <a:off x="629842" y="1260872"/>
            <a:ext cx="3868340" cy="617934"/>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49" name="Google Shape;49;p30"/>
          <p:cNvSpPr txBox="1"/>
          <p:nvPr>
            <p:ph idx="2" type="body"/>
          </p:nvPr>
        </p:nvSpPr>
        <p:spPr>
          <a:xfrm>
            <a:off x="629842" y="1878806"/>
            <a:ext cx="3868340" cy="276344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0" name="Google Shape;50;p30"/>
          <p:cNvSpPr txBox="1"/>
          <p:nvPr>
            <p:ph idx="3" type="body"/>
          </p:nvPr>
        </p:nvSpPr>
        <p:spPr>
          <a:xfrm>
            <a:off x="4629150" y="1260872"/>
            <a:ext cx="3887391" cy="617934"/>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51" name="Google Shape;51;p30"/>
          <p:cNvSpPr txBox="1"/>
          <p:nvPr>
            <p:ph idx="4" type="body"/>
          </p:nvPr>
        </p:nvSpPr>
        <p:spPr>
          <a:xfrm>
            <a:off x="4629150" y="1878806"/>
            <a:ext cx="3887391" cy="276344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2" name="Google Shape;52;p30"/>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30"/>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30"/>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31"/>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1"/>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31"/>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31"/>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32"/>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32"/>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2"/>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33"/>
          <p:cNvSpPr txBox="1"/>
          <p:nvPr>
            <p:ph type="title"/>
          </p:nvPr>
        </p:nvSpPr>
        <p:spPr>
          <a:xfrm>
            <a:off x="629841" y="342900"/>
            <a:ext cx="2949178" cy="120015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33"/>
          <p:cNvSpPr txBox="1"/>
          <p:nvPr>
            <p:ph idx="1" type="body"/>
          </p:nvPr>
        </p:nvSpPr>
        <p:spPr>
          <a:xfrm>
            <a:off x="3887391" y="740569"/>
            <a:ext cx="4629150" cy="3655219"/>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67" name="Google Shape;67;p33"/>
          <p:cNvSpPr txBox="1"/>
          <p:nvPr>
            <p:ph idx="2" type="body"/>
          </p:nvPr>
        </p:nvSpPr>
        <p:spPr>
          <a:xfrm>
            <a:off x="629841" y="1543050"/>
            <a:ext cx="2949178" cy="285869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8" name="Google Shape;68;p33"/>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33"/>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3"/>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34"/>
          <p:cNvSpPr txBox="1"/>
          <p:nvPr>
            <p:ph type="title"/>
          </p:nvPr>
        </p:nvSpPr>
        <p:spPr>
          <a:xfrm>
            <a:off x="629841" y="342900"/>
            <a:ext cx="2949178" cy="120015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34"/>
          <p:cNvSpPr/>
          <p:nvPr>
            <p:ph idx="2" type="pic"/>
          </p:nvPr>
        </p:nvSpPr>
        <p:spPr>
          <a:xfrm>
            <a:off x="3887391" y="740569"/>
            <a:ext cx="4629150" cy="3655219"/>
          </a:xfrm>
          <a:prstGeom prst="rect">
            <a:avLst/>
          </a:prstGeom>
          <a:noFill/>
          <a:ln>
            <a:noFill/>
          </a:ln>
        </p:spPr>
      </p:sp>
      <p:sp>
        <p:nvSpPr>
          <p:cNvPr id="74" name="Google Shape;74;p34"/>
          <p:cNvSpPr txBox="1"/>
          <p:nvPr>
            <p:ph idx="1" type="body"/>
          </p:nvPr>
        </p:nvSpPr>
        <p:spPr>
          <a:xfrm>
            <a:off x="629841" y="1543050"/>
            <a:ext cx="2949178" cy="285869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75" name="Google Shape;75;p34"/>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4"/>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4"/>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35"/>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5"/>
          <p:cNvSpPr txBox="1"/>
          <p:nvPr>
            <p:ph idx="1" type="body"/>
          </p:nvPr>
        </p:nvSpPr>
        <p:spPr>
          <a:xfrm rot="5400000">
            <a:off x="2940248" y="-942379"/>
            <a:ext cx="3263504"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1" name="Google Shape;81;p35"/>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5"/>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5"/>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36"/>
          <p:cNvSpPr txBox="1"/>
          <p:nvPr>
            <p:ph type="title"/>
          </p:nvPr>
        </p:nvSpPr>
        <p:spPr>
          <a:xfrm rot="5400000">
            <a:off x="5350073" y="1467446"/>
            <a:ext cx="4358879" cy="19716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36"/>
          <p:cNvSpPr txBox="1"/>
          <p:nvPr>
            <p:ph idx="1" type="body"/>
          </p:nvPr>
        </p:nvSpPr>
        <p:spPr>
          <a:xfrm rot="5400000">
            <a:off x="1349573" y="-447079"/>
            <a:ext cx="4358879"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7" name="Google Shape;87;p36"/>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36"/>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36"/>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spTree>
      <p:nvGrpSpPr>
        <p:cNvPr id="90" name="Shape 90"/>
        <p:cNvGrpSpPr/>
        <p:nvPr/>
      </p:nvGrpSpPr>
      <p:grpSpPr>
        <a:xfrm>
          <a:off x="0" y="0"/>
          <a:ext cx="0" cy="0"/>
          <a:chOff x="0" y="0"/>
          <a:chExt cx="0" cy="0"/>
        </a:xfrm>
      </p:grpSpPr>
      <p:sp>
        <p:nvSpPr>
          <p:cNvPr id="91" name="Google Shape;91;p37"/>
          <p:cNvSpPr txBox="1"/>
          <p:nvPr>
            <p:ph type="title"/>
          </p:nvPr>
        </p:nvSpPr>
        <p:spPr>
          <a:xfrm>
            <a:off x="628650" y="273844"/>
            <a:ext cx="7886700" cy="994172"/>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lt1"/>
              </a:buClr>
              <a:buSzPts val="2700"/>
              <a:buFont typeface="Trebuchet MS"/>
              <a:buNone/>
              <a:defRPr b="0" i="0" sz="2700">
                <a:solidFill>
                  <a:schemeClr val="lt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37"/>
          <p:cNvSpPr txBox="1"/>
          <p:nvPr>
            <p:ph idx="1" type="body"/>
          </p:nvPr>
        </p:nvSpPr>
        <p:spPr>
          <a:xfrm>
            <a:off x="457200" y="1183005"/>
            <a:ext cx="3977640" cy="3394710"/>
          </a:xfrm>
          <a:prstGeom prst="rect">
            <a:avLst/>
          </a:prstGeom>
          <a:noFill/>
          <a:ln>
            <a:noFill/>
          </a:ln>
        </p:spPr>
        <p:txBody>
          <a:bodyPr anchorCtr="0" anchor="t" bIns="0" lIns="0" spcFirstLastPara="1" rIns="0" wrap="square" tIns="0">
            <a:spAutoFit/>
          </a:bodyPr>
          <a:lstStyle>
            <a:lvl1pPr indent="-361950" lvl="0" marL="457200" algn="l">
              <a:lnSpc>
                <a:spcPct val="90000"/>
              </a:lnSpc>
              <a:spcBef>
                <a:spcPts val="750"/>
              </a:spcBef>
              <a:spcAft>
                <a:spcPts val="0"/>
              </a:spcAft>
              <a:buClr>
                <a:schemeClr val="dk1"/>
              </a:buClr>
              <a:buSzPts val="21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93" name="Google Shape;93;p37"/>
          <p:cNvSpPr txBox="1"/>
          <p:nvPr>
            <p:ph idx="2" type="body"/>
          </p:nvPr>
        </p:nvSpPr>
        <p:spPr>
          <a:xfrm>
            <a:off x="4709160" y="1183005"/>
            <a:ext cx="3977640" cy="3394710"/>
          </a:xfrm>
          <a:prstGeom prst="rect">
            <a:avLst/>
          </a:prstGeom>
          <a:noFill/>
          <a:ln>
            <a:noFill/>
          </a:ln>
        </p:spPr>
        <p:txBody>
          <a:bodyPr anchorCtr="0" anchor="t" bIns="0" lIns="0" spcFirstLastPara="1" rIns="0" wrap="square" tIns="0">
            <a:spAutoFit/>
          </a:bodyPr>
          <a:lstStyle>
            <a:lvl1pPr indent="-361950" lvl="0" marL="457200" algn="l">
              <a:lnSpc>
                <a:spcPct val="90000"/>
              </a:lnSpc>
              <a:spcBef>
                <a:spcPts val="750"/>
              </a:spcBef>
              <a:spcAft>
                <a:spcPts val="0"/>
              </a:spcAft>
              <a:buClr>
                <a:schemeClr val="dk1"/>
              </a:buClr>
              <a:buSzPts val="21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94" name="Google Shape;94;p37"/>
          <p:cNvSpPr txBox="1"/>
          <p:nvPr>
            <p:ph idx="11" type="ftr"/>
          </p:nvPr>
        </p:nvSpPr>
        <p:spPr>
          <a:xfrm>
            <a:off x="3028950" y="4767263"/>
            <a:ext cx="3086100" cy="273844"/>
          </a:xfrm>
          <a:prstGeom prst="rect">
            <a:avLst/>
          </a:prstGeom>
          <a:noFill/>
          <a:ln>
            <a:noFill/>
          </a:ln>
        </p:spPr>
        <p:txBody>
          <a:bodyPr anchorCtr="0" anchor="ctr" bIns="0" lIns="0" spcFirstLastPara="1" rIns="0" wrap="square" tIns="0">
            <a:no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37"/>
          <p:cNvSpPr txBox="1"/>
          <p:nvPr>
            <p:ph idx="10" type="dt"/>
          </p:nvPr>
        </p:nvSpPr>
        <p:spPr>
          <a:xfrm>
            <a:off x="628650" y="4767263"/>
            <a:ext cx="2057400" cy="273844"/>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37"/>
          <p:cNvSpPr txBox="1"/>
          <p:nvPr>
            <p:ph idx="12" type="sldNum"/>
          </p:nvPr>
        </p:nvSpPr>
        <p:spPr>
          <a:xfrm>
            <a:off x="6457950" y="4767263"/>
            <a:ext cx="2057400" cy="273844"/>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
          <p:cNvSpPr txBox="1"/>
          <p:nvPr>
            <p:ph type="title"/>
          </p:nvPr>
        </p:nvSpPr>
        <p:spPr>
          <a:xfrm>
            <a:off x="628650" y="273844"/>
            <a:ext cx="7886700" cy="99417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
          <p:cNvSpPr txBox="1"/>
          <p:nvPr>
            <p:ph idx="1" type="body"/>
          </p:nvPr>
        </p:nvSpPr>
        <p:spPr>
          <a:xfrm>
            <a:off x="628650" y="1369219"/>
            <a:ext cx="7886700" cy="3263504"/>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2" name="Google Shape;12;p24"/>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24"/>
          <p:cNvSpPr txBox="1"/>
          <p:nvPr>
            <p:ph idx="11" type="ftr"/>
          </p:nvPr>
        </p:nvSpPr>
        <p:spPr>
          <a:xfrm>
            <a:off x="3028950" y="4767263"/>
            <a:ext cx="30861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24"/>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www.youtube.com/channel/UCb5_lEbk2NgWBLe8sENAjmw"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hyperlink" Target="https://admissions.yale.edu/podcast"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1.png"/><Relationship Id="rId4"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6.png"/><Relationship Id="rId7" Type="http://schemas.openxmlformats.org/officeDocument/2006/relationships/image" Target="../media/image4.png"/><Relationship Id="rId8"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hyperlink" Target="https://www.youtube.com/channel/UCtlOAjz5Pn3-nBPDZdLPeLw" TargetMode="External"/><Relationship Id="rId4" Type="http://schemas.openxmlformats.org/officeDocument/2006/relationships/hyperlink" Target="https://www.youtube.com/user/InGeniusPrep" TargetMode="External"/><Relationship Id="rId5" Type="http://schemas.openxmlformats.org/officeDocument/2006/relationships/hyperlink" Target="https://www.youtube.com/channel/UC7XHzRS394_wUivW39kAuDg"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2.png"/><Relationship Id="rId4" Type="http://schemas.openxmlformats.org/officeDocument/2006/relationships/image" Target="../media/image8.png"/><Relationship Id="rId5" Type="http://schemas.openxmlformats.org/officeDocument/2006/relationships/image" Target="../media/image13.png"/><Relationship Id="rId6"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0.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0" name="Shape 100"/>
        <p:cNvGrpSpPr/>
        <p:nvPr/>
      </p:nvGrpSpPr>
      <p:grpSpPr>
        <a:xfrm>
          <a:off x="0" y="0"/>
          <a:ext cx="0" cy="0"/>
          <a:chOff x="0" y="0"/>
          <a:chExt cx="0" cy="0"/>
        </a:xfrm>
      </p:grpSpPr>
      <p:pic>
        <p:nvPicPr>
          <p:cNvPr descr="High angle view of a rolled paper, brown notebook, and black notepad on a wooden table" id="101" name="Google Shape;101;p1"/>
          <p:cNvPicPr preferRelativeResize="0"/>
          <p:nvPr/>
        </p:nvPicPr>
        <p:blipFill rotWithShape="1">
          <a:blip r:embed="rId3">
            <a:alphaModFix/>
          </a:blip>
          <a:srcRect b="0" l="0" r="26664" t="0"/>
          <a:stretch/>
        </p:blipFill>
        <p:spPr>
          <a:xfrm>
            <a:off x="20" y="10"/>
            <a:ext cx="5650972" cy="5143490"/>
          </a:xfrm>
          <a:prstGeom prst="rect">
            <a:avLst/>
          </a:prstGeom>
          <a:noFill/>
          <a:ln>
            <a:noFill/>
          </a:ln>
        </p:spPr>
      </p:pic>
      <p:sp>
        <p:nvSpPr>
          <p:cNvPr id="102" name="Google Shape;102;p1"/>
          <p:cNvSpPr/>
          <p:nvPr/>
        </p:nvSpPr>
        <p:spPr>
          <a:xfrm>
            <a:off x="5650992" y="0"/>
            <a:ext cx="3674993" cy="514350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3" name="Google Shape;103;p1"/>
          <p:cNvSpPr txBox="1"/>
          <p:nvPr/>
        </p:nvSpPr>
        <p:spPr>
          <a:xfrm>
            <a:off x="6131051" y="480060"/>
            <a:ext cx="2532887" cy="2781672"/>
          </a:xfrm>
          <a:prstGeom prst="rect">
            <a:avLst/>
          </a:prstGeom>
          <a:noFill/>
          <a:ln>
            <a:noFill/>
          </a:ln>
        </p:spPr>
        <p:txBody>
          <a:bodyPr anchorCtr="0" anchor="b" bIns="45700" lIns="91425" spcFirstLastPara="1" rIns="91425" wrap="square" tIns="45700">
            <a:normAutofit/>
          </a:bodyPr>
          <a:lstStyle/>
          <a:p>
            <a:pPr indent="0" lvl="0" marL="12700" marR="5080" rtl="0" algn="l">
              <a:lnSpc>
                <a:spcPct val="90000"/>
              </a:lnSpc>
              <a:spcBef>
                <a:spcPts val="0"/>
              </a:spcBef>
              <a:spcAft>
                <a:spcPts val="0"/>
              </a:spcAft>
              <a:buClr>
                <a:srgbClr val="000000"/>
              </a:buClr>
              <a:buSzPts val="4200"/>
              <a:buFont typeface="Arial"/>
              <a:buNone/>
            </a:pPr>
            <a:r>
              <a:rPr b="0" i="0" lang="en-US" sz="4200" u="none" cap="none" strike="noStrike">
                <a:solidFill>
                  <a:schemeClr val="lt1"/>
                </a:solidFill>
                <a:latin typeface="Calibri"/>
                <a:ea typeface="Calibri"/>
                <a:cs typeface="Calibri"/>
                <a:sym typeface="Calibri"/>
              </a:rPr>
              <a:t>Insights into US Universities and  Colleges.</a:t>
            </a:r>
            <a:endParaRPr b="0" i="0" sz="4200" u="none" cap="none" strike="noStrike">
              <a:solidFill>
                <a:schemeClr val="lt1"/>
              </a:solidFill>
              <a:latin typeface="Calibri"/>
              <a:ea typeface="Calibri"/>
              <a:cs typeface="Calibri"/>
              <a:sym typeface="Calibri"/>
            </a:endParaRPr>
          </a:p>
        </p:txBody>
      </p:sp>
      <p:sp>
        <p:nvSpPr>
          <p:cNvPr id="104" name="Google Shape;104;p1"/>
          <p:cNvSpPr txBox="1"/>
          <p:nvPr/>
        </p:nvSpPr>
        <p:spPr>
          <a:xfrm>
            <a:off x="6131051" y="3428999"/>
            <a:ext cx="2532888" cy="1234441"/>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00"/>
              </a:buClr>
              <a:buSzPts val="2400"/>
              <a:buFont typeface="Arial"/>
              <a:buNone/>
            </a:pPr>
            <a:r>
              <a:rPr b="0" i="0" lang="en-US" sz="2400" u="none" cap="none" strike="noStrike">
                <a:solidFill>
                  <a:srgbClr val="D8E2F3"/>
                </a:solidFill>
                <a:latin typeface="Calibri"/>
                <a:ea typeface="Calibri"/>
                <a:cs typeface="Calibri"/>
                <a:sym typeface="Calibri"/>
              </a:rPr>
              <a:t>Branding, Strategy and Choice.</a:t>
            </a:r>
            <a:endParaRPr b="0" i="0" sz="2400" u="none" cap="none" strike="noStrike">
              <a:solidFill>
                <a:srgbClr val="D8E2F3"/>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
          <p:cNvSpPr txBox="1"/>
          <p:nvPr>
            <p:ph type="title"/>
          </p:nvPr>
        </p:nvSpPr>
        <p:spPr>
          <a:xfrm>
            <a:off x="384725" y="504333"/>
            <a:ext cx="8374549" cy="415498"/>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2E75B5"/>
              </a:buClr>
              <a:buSzPct val="100000"/>
              <a:buFont typeface="Calibri"/>
              <a:buNone/>
            </a:pPr>
            <a:r>
              <a:rPr lang="en-US">
                <a:solidFill>
                  <a:srgbClr val="2E75B5"/>
                </a:solidFill>
              </a:rPr>
              <a:t>Need Aware and Need Blind Admissions Policy</a:t>
            </a:r>
            <a:endParaRPr/>
          </a:p>
        </p:txBody>
      </p:sp>
      <p:sp>
        <p:nvSpPr>
          <p:cNvPr id="110" name="Google Shape;110;p2"/>
          <p:cNvSpPr txBox="1"/>
          <p:nvPr>
            <p:ph idx="1" type="body"/>
          </p:nvPr>
        </p:nvSpPr>
        <p:spPr>
          <a:xfrm>
            <a:off x="1371600" y="1352549"/>
            <a:ext cx="7325274" cy="3073091"/>
          </a:xfrm>
          <a:prstGeom prst="rect">
            <a:avLst/>
          </a:prstGeom>
          <a:noFill/>
          <a:ln>
            <a:noFill/>
          </a:ln>
        </p:spPr>
        <p:txBody>
          <a:bodyPr anchorCtr="0" anchor="t" bIns="45700" lIns="91425" spcFirstLastPara="1" rIns="91425" wrap="square" tIns="45700">
            <a:normAutofit fontScale="92500" lnSpcReduction="10000"/>
          </a:bodyPr>
          <a:lstStyle/>
          <a:p>
            <a:pPr indent="-171450" lvl="0" marL="171450" rtl="0" algn="l">
              <a:lnSpc>
                <a:spcPct val="90000"/>
              </a:lnSpc>
              <a:spcBef>
                <a:spcPts val="0"/>
              </a:spcBef>
              <a:spcAft>
                <a:spcPts val="0"/>
              </a:spcAft>
              <a:buClr>
                <a:schemeClr val="dk1"/>
              </a:buClr>
              <a:buSzPct val="100000"/>
              <a:buChar char="•"/>
            </a:pPr>
            <a:r>
              <a:rPr lang="en-US" sz="2000"/>
              <a:t>When reviewing college applications, a </a:t>
            </a:r>
            <a:r>
              <a:rPr b="1" lang="en-US" sz="2000"/>
              <a:t>need blind</a:t>
            </a:r>
            <a:r>
              <a:rPr lang="en-US" sz="2000"/>
              <a:t> university  does not consider the applicant’s financial situation when making their admissions decision. </a:t>
            </a:r>
            <a:endParaRPr/>
          </a:p>
          <a:p>
            <a:pPr indent="-53975" lvl="0" marL="171450" rtl="0" algn="l">
              <a:lnSpc>
                <a:spcPct val="90000"/>
              </a:lnSpc>
              <a:spcBef>
                <a:spcPts val="750"/>
              </a:spcBef>
              <a:spcAft>
                <a:spcPts val="0"/>
              </a:spcAft>
              <a:buClr>
                <a:schemeClr val="dk1"/>
              </a:buClr>
              <a:buSzPct val="100000"/>
              <a:buNone/>
            </a:pPr>
            <a:r>
              <a:t/>
            </a:r>
            <a:endParaRPr sz="2000"/>
          </a:p>
          <a:p>
            <a:pPr indent="-171450" lvl="0" marL="171450" rtl="0" algn="l">
              <a:lnSpc>
                <a:spcPct val="90000"/>
              </a:lnSpc>
              <a:spcBef>
                <a:spcPts val="750"/>
              </a:spcBef>
              <a:spcAft>
                <a:spcPts val="0"/>
              </a:spcAft>
              <a:buClr>
                <a:schemeClr val="dk1"/>
              </a:buClr>
              <a:buSzPct val="100000"/>
              <a:buChar char="•"/>
            </a:pPr>
            <a:r>
              <a:rPr lang="en-US" sz="2000"/>
              <a:t>Only five schools in the US are need-blind for international students. These include Harvard, Yale, Princeton, Amherst and MIT.</a:t>
            </a:r>
            <a:endParaRPr/>
          </a:p>
          <a:p>
            <a:pPr indent="-53975" lvl="0" marL="171450" rtl="0" algn="l">
              <a:lnSpc>
                <a:spcPct val="90000"/>
              </a:lnSpc>
              <a:spcBef>
                <a:spcPts val="750"/>
              </a:spcBef>
              <a:spcAft>
                <a:spcPts val="0"/>
              </a:spcAft>
              <a:buClr>
                <a:schemeClr val="dk1"/>
              </a:buClr>
              <a:buSzPct val="100000"/>
              <a:buNone/>
            </a:pPr>
            <a:r>
              <a:t/>
            </a:r>
            <a:endParaRPr sz="2000"/>
          </a:p>
          <a:p>
            <a:pPr indent="-171450" lvl="0" marL="171450" rtl="0" algn="l">
              <a:lnSpc>
                <a:spcPct val="90000"/>
              </a:lnSpc>
              <a:spcBef>
                <a:spcPts val="750"/>
              </a:spcBef>
              <a:spcAft>
                <a:spcPts val="0"/>
              </a:spcAft>
              <a:buClr>
                <a:schemeClr val="dk1"/>
              </a:buClr>
              <a:buSzPct val="100000"/>
              <a:buChar char="•"/>
            </a:pPr>
            <a:r>
              <a:rPr lang="en-US" sz="2000"/>
              <a:t>A </a:t>
            </a:r>
            <a:r>
              <a:rPr b="1" lang="en-US" sz="2000"/>
              <a:t>need-aware</a:t>
            </a:r>
            <a:r>
              <a:rPr lang="en-US" sz="2000"/>
              <a:t>(need-sensitive) university makes most of its decisions without considering an applicant’s financial need. Still, it reserves a few spots for students who can pay the total cost of the college’s tuition without needing loans, grants or scholarships.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3"/>
          <p:cNvSpPr txBox="1"/>
          <p:nvPr>
            <p:ph type="title"/>
          </p:nvPr>
        </p:nvSpPr>
        <p:spPr>
          <a:xfrm>
            <a:off x="384725" y="504333"/>
            <a:ext cx="8374549" cy="415498"/>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CC0000"/>
              </a:buClr>
              <a:buSzPct val="100000"/>
              <a:buFont typeface="Calibri"/>
              <a:buNone/>
            </a:pPr>
            <a:r>
              <a:rPr lang="en-US">
                <a:solidFill>
                  <a:srgbClr val="CC0000"/>
                </a:solidFill>
              </a:rPr>
              <a:t>ESP COLLEGES</a:t>
            </a:r>
            <a:endParaRPr/>
          </a:p>
        </p:txBody>
      </p:sp>
      <p:sp>
        <p:nvSpPr>
          <p:cNvPr id="116" name="Google Shape;116;p3"/>
          <p:cNvSpPr txBox="1"/>
          <p:nvPr>
            <p:ph idx="1" type="body"/>
          </p:nvPr>
        </p:nvSpPr>
        <p:spPr>
          <a:xfrm>
            <a:off x="1143000" y="3181350"/>
            <a:ext cx="7858674" cy="1538883"/>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000"/>
              <a:buFont typeface="Noto Sans Symbols"/>
              <a:buChar char="✔"/>
            </a:pPr>
            <a:r>
              <a:rPr lang="en-US" sz="2000"/>
              <a:t>The Ivy League(Cornell, Princeton, Dartmouth, Yale, Columbia, UPenn)</a:t>
            </a:r>
            <a:endParaRPr/>
          </a:p>
          <a:p>
            <a:pPr indent="-171450" lvl="0" marL="171450" rtl="0" algn="l">
              <a:lnSpc>
                <a:spcPct val="90000"/>
              </a:lnSpc>
              <a:spcBef>
                <a:spcPts val="750"/>
              </a:spcBef>
              <a:spcAft>
                <a:spcPts val="0"/>
              </a:spcAft>
              <a:buClr>
                <a:schemeClr val="dk1"/>
              </a:buClr>
              <a:buSzPts val="2000"/>
              <a:buFont typeface="Noto Sans Symbols"/>
              <a:buChar char="✔"/>
            </a:pPr>
            <a:r>
              <a:rPr lang="en-US" sz="2000"/>
              <a:t>Select Liberal Arts Colleges( Swarthmore, Bryn Mawr, Smith, St. Lawrence University)</a:t>
            </a:r>
            <a:endParaRPr/>
          </a:p>
          <a:p>
            <a:pPr indent="-171450" lvl="0" marL="171450" rtl="0" algn="l">
              <a:lnSpc>
                <a:spcPct val="90000"/>
              </a:lnSpc>
              <a:spcBef>
                <a:spcPts val="750"/>
              </a:spcBef>
              <a:spcAft>
                <a:spcPts val="0"/>
              </a:spcAft>
              <a:buClr>
                <a:schemeClr val="dk1"/>
              </a:buClr>
              <a:buSzPts val="2000"/>
              <a:buFont typeface="Noto Sans Symbols"/>
              <a:buChar char="✔"/>
            </a:pPr>
            <a:r>
              <a:rPr lang="en-US" sz="2000"/>
              <a:t>Private Research Universities(Northwestern, MIT)</a:t>
            </a:r>
            <a:endParaRPr/>
          </a:p>
        </p:txBody>
      </p:sp>
      <p:sp>
        <p:nvSpPr>
          <p:cNvPr id="117" name="Google Shape;117;p3"/>
          <p:cNvSpPr txBox="1"/>
          <p:nvPr/>
        </p:nvSpPr>
        <p:spPr>
          <a:xfrm>
            <a:off x="1905000" y="1504950"/>
            <a:ext cx="609600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rebuchet MS"/>
                <a:ea typeface="Trebuchet MS"/>
                <a:cs typeface="Trebuchet MS"/>
                <a:sym typeface="Trebuchet MS"/>
              </a:rPr>
              <a:t>We say ESP colleges because we apply to schools that meet 100% of demonstrated financial need.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4"/>
          <p:cNvSpPr txBox="1"/>
          <p:nvPr>
            <p:ph type="title"/>
          </p:nvPr>
        </p:nvSpPr>
        <p:spPr>
          <a:xfrm>
            <a:off x="384725" y="504333"/>
            <a:ext cx="8374549" cy="415498"/>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C55A11"/>
              </a:buClr>
              <a:buSzPct val="100000"/>
              <a:buFont typeface="Calibri"/>
              <a:buNone/>
            </a:pPr>
            <a:r>
              <a:rPr lang="en-US">
                <a:solidFill>
                  <a:srgbClr val="C55A11"/>
                </a:solidFill>
              </a:rPr>
              <a:t>Demonstrated Interest</a:t>
            </a:r>
            <a:endParaRPr/>
          </a:p>
        </p:txBody>
      </p:sp>
      <p:sp>
        <p:nvSpPr>
          <p:cNvPr id="123" name="Google Shape;123;p4"/>
          <p:cNvSpPr txBox="1"/>
          <p:nvPr>
            <p:ph idx="1" type="body"/>
          </p:nvPr>
        </p:nvSpPr>
        <p:spPr>
          <a:xfrm>
            <a:off x="447124" y="1040099"/>
            <a:ext cx="8249750" cy="3077766"/>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chemeClr val="dk1"/>
              </a:buClr>
              <a:buSzPts val="2000"/>
              <a:buNone/>
            </a:pPr>
            <a:r>
              <a:rPr lang="en-US" sz="2000"/>
              <a:t>This is exactly what it sounds like and is defined as- doing something that explicitly shows interest in the college outside the application.</a:t>
            </a:r>
            <a:endParaRPr/>
          </a:p>
          <a:p>
            <a:pPr indent="-44450" lvl="0" marL="171450" rtl="0" algn="l">
              <a:lnSpc>
                <a:spcPct val="90000"/>
              </a:lnSpc>
              <a:spcBef>
                <a:spcPts val="750"/>
              </a:spcBef>
              <a:spcAft>
                <a:spcPts val="0"/>
              </a:spcAft>
              <a:buClr>
                <a:schemeClr val="dk1"/>
              </a:buClr>
              <a:buSzPts val="2000"/>
              <a:buNone/>
            </a:pPr>
            <a:r>
              <a:t/>
            </a:r>
            <a:endParaRPr sz="2000"/>
          </a:p>
          <a:p>
            <a:pPr indent="0" lvl="0" marL="0" rtl="0" algn="l">
              <a:lnSpc>
                <a:spcPct val="90000"/>
              </a:lnSpc>
              <a:spcBef>
                <a:spcPts val="750"/>
              </a:spcBef>
              <a:spcAft>
                <a:spcPts val="0"/>
              </a:spcAft>
              <a:buClr>
                <a:schemeClr val="dk1"/>
              </a:buClr>
              <a:buSzPts val="2000"/>
              <a:buNone/>
            </a:pPr>
            <a:r>
              <a:rPr lang="en-US" sz="2000"/>
              <a:t>You’re demonstrating interest when you:</a:t>
            </a:r>
            <a:endParaRPr/>
          </a:p>
          <a:p>
            <a:pPr indent="-285750" lvl="3" marL="1314450" rtl="0" algn="l">
              <a:lnSpc>
                <a:spcPct val="90000"/>
              </a:lnSpc>
              <a:spcBef>
                <a:spcPts val="375"/>
              </a:spcBef>
              <a:spcAft>
                <a:spcPts val="0"/>
              </a:spcAft>
              <a:buClr>
                <a:schemeClr val="dk1"/>
              </a:buClr>
              <a:buSzPts val="2000"/>
              <a:buChar char="•"/>
            </a:pPr>
            <a:r>
              <a:rPr lang="en-US" sz="2000"/>
              <a:t>Open and read emails</a:t>
            </a:r>
            <a:endParaRPr/>
          </a:p>
          <a:p>
            <a:pPr indent="-285750" lvl="3" marL="1314450" rtl="0" algn="l">
              <a:lnSpc>
                <a:spcPct val="90000"/>
              </a:lnSpc>
              <a:spcBef>
                <a:spcPts val="375"/>
              </a:spcBef>
              <a:spcAft>
                <a:spcPts val="0"/>
              </a:spcAft>
              <a:buClr>
                <a:schemeClr val="dk1"/>
              </a:buClr>
              <a:buSzPts val="2000"/>
              <a:buChar char="•"/>
            </a:pPr>
            <a:r>
              <a:rPr lang="en-US" sz="2000"/>
              <a:t>Attend informational sessions and webinars</a:t>
            </a:r>
            <a:endParaRPr/>
          </a:p>
          <a:p>
            <a:pPr indent="-285750" lvl="3" marL="1314450" rtl="0" algn="l">
              <a:lnSpc>
                <a:spcPct val="90000"/>
              </a:lnSpc>
              <a:spcBef>
                <a:spcPts val="375"/>
              </a:spcBef>
              <a:spcAft>
                <a:spcPts val="0"/>
              </a:spcAft>
              <a:buClr>
                <a:schemeClr val="dk1"/>
              </a:buClr>
              <a:buSzPts val="2000"/>
              <a:buChar char="•"/>
            </a:pPr>
            <a:r>
              <a:rPr lang="en-US" sz="2000"/>
              <a:t>Use your essays</a:t>
            </a:r>
            <a:endParaRPr/>
          </a:p>
          <a:p>
            <a:pPr indent="-285750" lvl="3" marL="1314450" rtl="0" algn="l">
              <a:lnSpc>
                <a:spcPct val="90000"/>
              </a:lnSpc>
              <a:spcBef>
                <a:spcPts val="375"/>
              </a:spcBef>
              <a:spcAft>
                <a:spcPts val="0"/>
              </a:spcAft>
              <a:buClr>
                <a:schemeClr val="dk1"/>
              </a:buClr>
              <a:buSzPts val="2000"/>
              <a:buChar char="•"/>
            </a:pPr>
            <a:r>
              <a:rPr lang="en-US" sz="2000"/>
              <a:t>Apply Early Decision</a:t>
            </a:r>
            <a:endParaRPr/>
          </a:p>
          <a:p>
            <a:pPr indent="-285750" lvl="3" marL="1314450" rtl="0" algn="l">
              <a:lnSpc>
                <a:spcPct val="90000"/>
              </a:lnSpc>
              <a:spcBef>
                <a:spcPts val="375"/>
              </a:spcBef>
              <a:spcAft>
                <a:spcPts val="0"/>
              </a:spcAft>
              <a:buClr>
                <a:schemeClr val="dk1"/>
              </a:buClr>
              <a:buSzPts val="2000"/>
              <a:buChar char="•"/>
            </a:pPr>
            <a:r>
              <a:rPr lang="en-US" sz="2000"/>
              <a:t>Email an admissions officer</a:t>
            </a:r>
            <a:endParaRPr/>
          </a:p>
          <a:p>
            <a:pPr indent="-285750" lvl="3" marL="1314450" rtl="0" algn="l">
              <a:lnSpc>
                <a:spcPct val="90000"/>
              </a:lnSpc>
              <a:spcBef>
                <a:spcPts val="375"/>
              </a:spcBef>
              <a:spcAft>
                <a:spcPts val="0"/>
              </a:spcAft>
              <a:buClr>
                <a:schemeClr val="dk1"/>
              </a:buClr>
              <a:buSzPts val="2000"/>
              <a:buChar char="•"/>
            </a:pPr>
            <a:r>
              <a:rPr lang="en-US" sz="2000"/>
              <a:t>Register for interviews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5"/>
          <p:cNvSpPr txBox="1"/>
          <p:nvPr>
            <p:ph idx="1" type="body"/>
          </p:nvPr>
        </p:nvSpPr>
        <p:spPr>
          <a:xfrm>
            <a:off x="1524000" y="2266950"/>
            <a:ext cx="7172874" cy="2356722"/>
          </a:xfrm>
          <a:prstGeom prst="rect">
            <a:avLst/>
          </a:prstGeom>
          <a:noFill/>
          <a:ln>
            <a:noFill/>
          </a:ln>
        </p:spPr>
        <p:txBody>
          <a:bodyPr anchorCtr="0" anchor="t" bIns="45700" lIns="91425" spcFirstLastPara="1" rIns="91425" wrap="square" tIns="45700">
            <a:normAutofit fontScale="92500"/>
          </a:bodyPr>
          <a:lstStyle/>
          <a:p>
            <a:pPr indent="-342900" lvl="0" marL="342900" rtl="0" algn="l">
              <a:lnSpc>
                <a:spcPct val="90000"/>
              </a:lnSpc>
              <a:spcBef>
                <a:spcPts val="0"/>
              </a:spcBef>
              <a:spcAft>
                <a:spcPts val="0"/>
              </a:spcAft>
              <a:buClr>
                <a:schemeClr val="dk1"/>
              </a:buClr>
              <a:buSzPct val="100000"/>
              <a:buFont typeface="Calibri"/>
              <a:buAutoNum type="arabicPeriod"/>
            </a:pPr>
            <a:r>
              <a:rPr lang="en-US" sz="2400"/>
              <a:t>Basic information about your school eg: Location, popular majors, colors, traditions and culture( School Spirit)</a:t>
            </a:r>
            <a:endParaRPr/>
          </a:p>
          <a:p>
            <a:pPr indent="-342900" lvl="0" marL="342900" rtl="0" algn="l">
              <a:lnSpc>
                <a:spcPct val="90000"/>
              </a:lnSpc>
              <a:spcBef>
                <a:spcPts val="750"/>
              </a:spcBef>
              <a:spcAft>
                <a:spcPts val="0"/>
              </a:spcAft>
              <a:buClr>
                <a:schemeClr val="dk1"/>
              </a:buClr>
              <a:buSzPct val="100000"/>
              <a:buFont typeface="Calibri"/>
              <a:buAutoNum type="arabicPeriod"/>
            </a:pPr>
            <a:r>
              <a:rPr lang="en-US" sz="2400"/>
              <a:t>What makes the school unique?</a:t>
            </a:r>
            <a:endParaRPr/>
          </a:p>
          <a:p>
            <a:pPr indent="-342900" lvl="0" marL="342900" rtl="0" algn="l">
              <a:lnSpc>
                <a:spcPct val="90000"/>
              </a:lnSpc>
              <a:spcBef>
                <a:spcPts val="750"/>
              </a:spcBef>
              <a:spcAft>
                <a:spcPts val="0"/>
              </a:spcAft>
              <a:buClr>
                <a:schemeClr val="dk1"/>
              </a:buClr>
              <a:buSzPct val="100000"/>
              <a:buFont typeface="Calibri"/>
              <a:buAutoNum type="arabicPeriod"/>
            </a:pPr>
            <a:r>
              <a:rPr lang="en-US" sz="2400"/>
              <a:t>School specific programs and research opportunities that align with your potential major</a:t>
            </a:r>
            <a:endParaRPr/>
          </a:p>
          <a:p>
            <a:pPr indent="-342900" lvl="0" marL="342900" rtl="0" algn="l">
              <a:lnSpc>
                <a:spcPct val="90000"/>
              </a:lnSpc>
              <a:spcBef>
                <a:spcPts val="750"/>
              </a:spcBef>
              <a:spcAft>
                <a:spcPts val="0"/>
              </a:spcAft>
              <a:buClr>
                <a:schemeClr val="dk1"/>
              </a:buClr>
              <a:buSzPct val="100000"/>
              <a:buFont typeface="Calibri"/>
              <a:buAutoNum type="arabicPeriod"/>
            </a:pPr>
            <a:r>
              <a:rPr lang="en-US" sz="2400"/>
              <a:t>School Values.</a:t>
            </a:r>
            <a:endParaRPr sz="2400"/>
          </a:p>
        </p:txBody>
      </p:sp>
      <p:pic>
        <p:nvPicPr>
          <p:cNvPr id="130" name="Google Shape;130;p5"/>
          <p:cNvPicPr preferRelativeResize="0"/>
          <p:nvPr/>
        </p:nvPicPr>
        <p:blipFill rotWithShape="1">
          <a:blip r:embed="rId3">
            <a:alphaModFix/>
          </a:blip>
          <a:srcRect b="0" l="0" r="0" t="0"/>
          <a:stretch/>
        </p:blipFill>
        <p:spPr>
          <a:xfrm>
            <a:off x="31199" y="8201"/>
            <a:ext cx="5003038" cy="208225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6"/>
          <p:cNvSpPr txBox="1"/>
          <p:nvPr>
            <p:ph idx="1" type="body"/>
          </p:nvPr>
        </p:nvSpPr>
        <p:spPr>
          <a:xfrm>
            <a:off x="447124" y="1040098"/>
            <a:ext cx="8011076" cy="3693319"/>
          </a:xfrm>
          <a:prstGeom prst="rect">
            <a:avLst/>
          </a:prstGeom>
          <a:noFill/>
          <a:ln>
            <a:noFill/>
          </a:ln>
        </p:spPr>
        <p:txBody>
          <a:bodyPr anchorCtr="0" anchor="t" bIns="45700" lIns="91425" spcFirstLastPara="1" rIns="91425" wrap="square" tIns="45700">
            <a:normAutofit lnSpcReduction="10000"/>
          </a:bodyPr>
          <a:lstStyle/>
          <a:p>
            <a:pPr indent="-342900" lvl="0" marL="342900" rtl="0" algn="l">
              <a:lnSpc>
                <a:spcPct val="90000"/>
              </a:lnSpc>
              <a:spcBef>
                <a:spcPts val="0"/>
              </a:spcBef>
              <a:spcAft>
                <a:spcPts val="0"/>
              </a:spcAft>
              <a:buClr>
                <a:schemeClr val="dk1"/>
              </a:buClr>
              <a:buSzPts val="2400"/>
              <a:buAutoNum type="arabicPeriod"/>
            </a:pPr>
            <a:r>
              <a:rPr lang="en-US" sz="2400"/>
              <a:t>School Websites</a:t>
            </a:r>
            <a:endParaRPr/>
          </a:p>
          <a:p>
            <a:pPr indent="-342900" lvl="0" marL="342900" rtl="0" algn="l">
              <a:lnSpc>
                <a:spcPct val="90000"/>
              </a:lnSpc>
              <a:spcBef>
                <a:spcPts val="750"/>
              </a:spcBef>
              <a:spcAft>
                <a:spcPts val="0"/>
              </a:spcAft>
              <a:buClr>
                <a:schemeClr val="dk1"/>
              </a:buClr>
              <a:buSzPts val="2400"/>
              <a:buAutoNum type="arabicPeriod"/>
            </a:pPr>
            <a:r>
              <a:rPr lang="en-US" sz="2400"/>
              <a:t>Social Media Pages(Facebook, Instagram, Twitter, Reddit, Quora, College Confidential)</a:t>
            </a:r>
            <a:endParaRPr/>
          </a:p>
          <a:p>
            <a:pPr indent="-342900" lvl="0" marL="342900" rtl="0" algn="l">
              <a:lnSpc>
                <a:spcPct val="90000"/>
              </a:lnSpc>
              <a:spcBef>
                <a:spcPts val="750"/>
              </a:spcBef>
              <a:spcAft>
                <a:spcPts val="0"/>
              </a:spcAft>
              <a:buClr>
                <a:schemeClr val="dk1"/>
              </a:buClr>
              <a:buSzPts val="2400"/>
              <a:buAutoNum type="arabicPeriod"/>
            </a:pPr>
            <a:r>
              <a:rPr lang="en-US" sz="2400"/>
              <a:t>Third Party Resources( Princeton Review, College Vine)</a:t>
            </a:r>
            <a:endParaRPr/>
          </a:p>
          <a:p>
            <a:pPr indent="-342900" lvl="0" marL="342900" rtl="0" algn="l">
              <a:lnSpc>
                <a:spcPct val="90000"/>
              </a:lnSpc>
              <a:spcBef>
                <a:spcPts val="750"/>
              </a:spcBef>
              <a:spcAft>
                <a:spcPts val="0"/>
              </a:spcAft>
              <a:buClr>
                <a:schemeClr val="dk1"/>
              </a:buClr>
              <a:buSzPts val="2400"/>
              <a:buAutoNum type="arabicPeriod"/>
            </a:pPr>
            <a:r>
              <a:rPr lang="en-US" sz="2400"/>
              <a:t>Mailing Lists</a:t>
            </a:r>
            <a:endParaRPr/>
          </a:p>
          <a:p>
            <a:pPr indent="-342900" lvl="0" marL="342900" rtl="0" algn="l">
              <a:lnSpc>
                <a:spcPct val="90000"/>
              </a:lnSpc>
              <a:spcBef>
                <a:spcPts val="750"/>
              </a:spcBef>
              <a:spcAft>
                <a:spcPts val="0"/>
              </a:spcAft>
              <a:buClr>
                <a:schemeClr val="dk1"/>
              </a:buClr>
              <a:buSzPts val="2400"/>
              <a:buAutoNum type="arabicPeriod"/>
            </a:pPr>
            <a:r>
              <a:rPr lang="en-US" sz="2400"/>
              <a:t>Brochures, Magazines, and other literary materials(both online and physical)</a:t>
            </a:r>
            <a:endParaRPr/>
          </a:p>
          <a:p>
            <a:pPr indent="-342900" lvl="0" marL="342900" rtl="0" algn="l">
              <a:lnSpc>
                <a:spcPct val="90000"/>
              </a:lnSpc>
              <a:spcBef>
                <a:spcPts val="750"/>
              </a:spcBef>
              <a:spcAft>
                <a:spcPts val="0"/>
              </a:spcAft>
              <a:buClr>
                <a:schemeClr val="dk1"/>
              </a:buClr>
              <a:buSzPts val="2400"/>
              <a:buAutoNum type="arabicPeriod"/>
            </a:pPr>
            <a:r>
              <a:rPr lang="en-US" sz="2400"/>
              <a:t>People( People who are attending the schools you are looking into</a:t>
            </a:r>
            <a:endParaRPr/>
          </a:p>
          <a:p>
            <a:pPr indent="-342900" lvl="0" marL="342900" rtl="0" algn="l">
              <a:lnSpc>
                <a:spcPct val="90000"/>
              </a:lnSpc>
              <a:spcBef>
                <a:spcPts val="750"/>
              </a:spcBef>
              <a:spcAft>
                <a:spcPts val="0"/>
              </a:spcAft>
              <a:buClr>
                <a:schemeClr val="dk1"/>
              </a:buClr>
              <a:buSzPts val="2400"/>
              <a:buAutoNum type="arabicPeriod"/>
            </a:pPr>
            <a:r>
              <a:rPr lang="en-US" sz="2400"/>
              <a:t>Google</a:t>
            </a:r>
            <a:endParaRPr/>
          </a:p>
        </p:txBody>
      </p:sp>
      <p:sp>
        <p:nvSpPr>
          <p:cNvPr id="136" name="Google Shape;136;p6"/>
          <p:cNvSpPr/>
          <p:nvPr/>
        </p:nvSpPr>
        <p:spPr>
          <a:xfrm>
            <a:off x="2743200" y="116768"/>
            <a:ext cx="3034933" cy="92333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chemeClr val="dk1"/>
                </a:solidFill>
                <a:latin typeface="Calibri"/>
                <a:ea typeface="Calibri"/>
                <a:cs typeface="Calibri"/>
                <a:sym typeface="Calibri"/>
              </a:rPr>
              <a:t>Resources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0" name="Shape 140"/>
        <p:cNvGrpSpPr/>
        <p:nvPr/>
      </p:nvGrpSpPr>
      <p:grpSpPr>
        <a:xfrm>
          <a:off x="0" y="0"/>
          <a:ext cx="0" cy="0"/>
          <a:chOff x="0" y="0"/>
          <a:chExt cx="0" cy="0"/>
        </a:xfrm>
      </p:grpSpPr>
      <p:sp>
        <p:nvSpPr>
          <p:cNvPr id="141" name="Google Shape;141;p7"/>
          <p:cNvSpPr/>
          <p:nvPr/>
        </p:nvSpPr>
        <p:spPr>
          <a:xfrm>
            <a:off x="0" y="0"/>
            <a:ext cx="9141714" cy="5143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2" name="Google Shape;142;p7"/>
          <p:cNvSpPr txBox="1"/>
          <p:nvPr>
            <p:ph type="title"/>
          </p:nvPr>
        </p:nvSpPr>
        <p:spPr>
          <a:xfrm>
            <a:off x="429369" y="178904"/>
            <a:ext cx="8263890" cy="1075811"/>
          </a:xfrm>
          <a:prstGeom prst="rect">
            <a:avLst/>
          </a:prstGeom>
          <a:noFill/>
          <a:ln>
            <a:noFill/>
          </a:ln>
        </p:spPr>
        <p:txBody>
          <a:bodyPr anchorCtr="0" anchor="b" bIns="0" lIns="0" spcFirstLastPara="1" rIns="0" wrap="square" tIns="0">
            <a:normAutofit/>
          </a:bodyPr>
          <a:lstStyle/>
          <a:p>
            <a:pPr indent="0" lvl="0" marL="12700" rtl="0" algn="l">
              <a:lnSpc>
                <a:spcPct val="90000"/>
              </a:lnSpc>
              <a:spcBef>
                <a:spcPts val="0"/>
              </a:spcBef>
              <a:spcAft>
                <a:spcPts val="0"/>
              </a:spcAft>
              <a:buClr>
                <a:schemeClr val="dk1"/>
              </a:buClr>
              <a:buSzPts val="4100"/>
              <a:buFont typeface="Trebuchet MS"/>
              <a:buNone/>
            </a:pPr>
            <a:r>
              <a:rPr b="0" i="0" lang="en-US" sz="4100">
                <a:latin typeface="Trebuchet MS"/>
                <a:ea typeface="Trebuchet MS"/>
                <a:cs typeface="Trebuchet MS"/>
                <a:sym typeface="Trebuchet MS"/>
              </a:rPr>
              <a:t>Ways to brand yourself;</a:t>
            </a:r>
            <a:endParaRPr/>
          </a:p>
        </p:txBody>
      </p:sp>
      <p:sp>
        <p:nvSpPr>
          <p:cNvPr id="143" name="Google Shape;143;p7"/>
          <p:cNvSpPr/>
          <p:nvPr/>
        </p:nvSpPr>
        <p:spPr>
          <a:xfrm>
            <a:off x="429369" y="1261158"/>
            <a:ext cx="8229600" cy="13716"/>
          </a:xfrm>
          <a:custGeom>
            <a:rect b="b" l="l" r="r" t="t"/>
            <a:pathLst>
              <a:path extrusionOk="0" fill="none" h="13716" w="8229600">
                <a:moveTo>
                  <a:pt x="0" y="0"/>
                </a:moveTo>
                <a:cubicBezTo>
                  <a:pt x="215278" y="6969"/>
                  <a:pt x="340572" y="21894"/>
                  <a:pt x="521208" y="0"/>
                </a:cubicBezTo>
                <a:cubicBezTo>
                  <a:pt x="745939" y="29643"/>
                  <a:pt x="1127486" y="-40512"/>
                  <a:pt x="1371600" y="0"/>
                </a:cubicBezTo>
                <a:cubicBezTo>
                  <a:pt x="1567490" y="28416"/>
                  <a:pt x="1945702" y="13075"/>
                  <a:pt x="2221992" y="0"/>
                </a:cubicBezTo>
                <a:cubicBezTo>
                  <a:pt x="2446218" y="-17340"/>
                  <a:pt x="2853686" y="-7924"/>
                  <a:pt x="3072384" y="0"/>
                </a:cubicBezTo>
                <a:cubicBezTo>
                  <a:pt x="3286960" y="20656"/>
                  <a:pt x="3324417" y="20174"/>
                  <a:pt x="3511296" y="0"/>
                </a:cubicBezTo>
                <a:cubicBezTo>
                  <a:pt x="3710690" y="-39182"/>
                  <a:pt x="3945457" y="-64074"/>
                  <a:pt x="4114800" y="0"/>
                </a:cubicBezTo>
                <a:cubicBezTo>
                  <a:pt x="4336079" y="28138"/>
                  <a:pt x="4420759" y="12117"/>
                  <a:pt x="4553712" y="0"/>
                </a:cubicBezTo>
                <a:cubicBezTo>
                  <a:pt x="4688252" y="-2224"/>
                  <a:pt x="5047430" y="19664"/>
                  <a:pt x="5239512" y="0"/>
                </a:cubicBezTo>
                <a:cubicBezTo>
                  <a:pt x="5424392" y="-49610"/>
                  <a:pt x="5708717" y="13540"/>
                  <a:pt x="5843016" y="0"/>
                </a:cubicBezTo>
                <a:cubicBezTo>
                  <a:pt x="6005788" y="32949"/>
                  <a:pt x="6198255" y="37080"/>
                  <a:pt x="6611112" y="0"/>
                </a:cubicBezTo>
                <a:cubicBezTo>
                  <a:pt x="6954152" y="635"/>
                  <a:pt x="7244390" y="18057"/>
                  <a:pt x="7461504" y="0"/>
                </a:cubicBezTo>
                <a:cubicBezTo>
                  <a:pt x="7693790" y="9882"/>
                  <a:pt x="7984486" y="17646"/>
                  <a:pt x="8229600" y="0"/>
                </a:cubicBezTo>
                <a:cubicBezTo>
                  <a:pt x="8228997" y="6635"/>
                  <a:pt x="8229550" y="9822"/>
                  <a:pt x="8229600" y="13716"/>
                </a:cubicBezTo>
                <a:cubicBezTo>
                  <a:pt x="7945777" y="15373"/>
                  <a:pt x="7812308" y="-13083"/>
                  <a:pt x="7461504" y="13716"/>
                </a:cubicBezTo>
                <a:cubicBezTo>
                  <a:pt x="7129391" y="48613"/>
                  <a:pt x="7087333" y="37334"/>
                  <a:pt x="6940296" y="13716"/>
                </a:cubicBezTo>
                <a:cubicBezTo>
                  <a:pt x="6810862" y="-27592"/>
                  <a:pt x="6701312" y="14789"/>
                  <a:pt x="6419088" y="13716"/>
                </a:cubicBezTo>
                <a:cubicBezTo>
                  <a:pt x="6152777" y="14283"/>
                  <a:pt x="5868611" y="44230"/>
                  <a:pt x="5650992" y="13716"/>
                </a:cubicBezTo>
                <a:cubicBezTo>
                  <a:pt x="5439747" y="10678"/>
                  <a:pt x="5334901" y="-5616"/>
                  <a:pt x="5129784" y="13716"/>
                </a:cubicBezTo>
                <a:cubicBezTo>
                  <a:pt x="4955906" y="35886"/>
                  <a:pt x="4793216" y="29316"/>
                  <a:pt x="4690872" y="13716"/>
                </a:cubicBezTo>
                <a:cubicBezTo>
                  <a:pt x="4552374" y="26515"/>
                  <a:pt x="4318742" y="1676"/>
                  <a:pt x="4087368" y="13716"/>
                </a:cubicBezTo>
                <a:cubicBezTo>
                  <a:pt x="3849418" y="28053"/>
                  <a:pt x="3751577" y="25116"/>
                  <a:pt x="3401568" y="13716"/>
                </a:cubicBezTo>
                <a:cubicBezTo>
                  <a:pt x="3067953" y="15837"/>
                  <a:pt x="3012425" y="22307"/>
                  <a:pt x="2798064" y="13716"/>
                </a:cubicBezTo>
                <a:cubicBezTo>
                  <a:pt x="2565154" y="11948"/>
                  <a:pt x="2426719" y="-36366"/>
                  <a:pt x="2276856" y="13716"/>
                </a:cubicBezTo>
                <a:cubicBezTo>
                  <a:pt x="2090980" y="-190"/>
                  <a:pt x="1702030" y="-12752"/>
                  <a:pt x="1426464" y="13716"/>
                </a:cubicBezTo>
                <a:cubicBezTo>
                  <a:pt x="1104481" y="65071"/>
                  <a:pt x="985013" y="-12262"/>
                  <a:pt x="740664" y="13716"/>
                </a:cubicBezTo>
                <a:cubicBezTo>
                  <a:pt x="507391" y="37071"/>
                  <a:pt x="191740" y="-16226"/>
                  <a:pt x="0" y="13716"/>
                </a:cubicBezTo>
                <a:cubicBezTo>
                  <a:pt x="503" y="9208"/>
                  <a:pt x="165" y="5575"/>
                  <a:pt x="0" y="0"/>
                </a:cubicBezTo>
                <a:close/>
              </a:path>
              <a:path extrusionOk="0" h="13716" w="8229600">
                <a:moveTo>
                  <a:pt x="0" y="0"/>
                </a:moveTo>
                <a:cubicBezTo>
                  <a:pt x="270709" y="-27213"/>
                  <a:pt x="397128" y="23656"/>
                  <a:pt x="521208" y="0"/>
                </a:cubicBezTo>
                <a:cubicBezTo>
                  <a:pt x="631319" y="-5947"/>
                  <a:pt x="842157" y="28261"/>
                  <a:pt x="960120" y="0"/>
                </a:cubicBezTo>
                <a:cubicBezTo>
                  <a:pt x="1077930" y="6549"/>
                  <a:pt x="1318669" y="-15893"/>
                  <a:pt x="1481328" y="0"/>
                </a:cubicBezTo>
                <a:cubicBezTo>
                  <a:pt x="1659104" y="-21090"/>
                  <a:pt x="1870243" y="69945"/>
                  <a:pt x="2167128" y="0"/>
                </a:cubicBezTo>
                <a:cubicBezTo>
                  <a:pt x="2460684" y="-5519"/>
                  <a:pt x="2753885" y="-62993"/>
                  <a:pt x="2935224" y="0"/>
                </a:cubicBezTo>
                <a:cubicBezTo>
                  <a:pt x="3115119" y="56580"/>
                  <a:pt x="3535280" y="40687"/>
                  <a:pt x="3785616" y="0"/>
                </a:cubicBezTo>
                <a:cubicBezTo>
                  <a:pt x="4057881" y="25645"/>
                  <a:pt x="4308335" y="-2666"/>
                  <a:pt x="4636008" y="0"/>
                </a:cubicBezTo>
                <a:cubicBezTo>
                  <a:pt x="4987152" y="19805"/>
                  <a:pt x="5025979" y="14149"/>
                  <a:pt x="5239512" y="0"/>
                </a:cubicBezTo>
                <a:cubicBezTo>
                  <a:pt x="5437586" y="211"/>
                  <a:pt x="5752721" y="5618"/>
                  <a:pt x="6007608" y="0"/>
                </a:cubicBezTo>
                <a:cubicBezTo>
                  <a:pt x="6280137" y="-5132"/>
                  <a:pt x="6386079" y="-21510"/>
                  <a:pt x="6693408" y="0"/>
                </a:cubicBezTo>
                <a:cubicBezTo>
                  <a:pt x="6986580" y="4991"/>
                  <a:pt x="7015252" y="-18088"/>
                  <a:pt x="7296912" y="0"/>
                </a:cubicBezTo>
                <a:cubicBezTo>
                  <a:pt x="7569796" y="10390"/>
                  <a:pt x="7895472" y="71473"/>
                  <a:pt x="8229600" y="0"/>
                </a:cubicBezTo>
                <a:cubicBezTo>
                  <a:pt x="8229236" y="7266"/>
                  <a:pt x="8229919" y="9308"/>
                  <a:pt x="8229600" y="13716"/>
                </a:cubicBezTo>
                <a:cubicBezTo>
                  <a:pt x="8094333" y="-9824"/>
                  <a:pt x="7850928" y="32876"/>
                  <a:pt x="7626096" y="13716"/>
                </a:cubicBezTo>
                <a:cubicBezTo>
                  <a:pt x="7448378" y="-5141"/>
                  <a:pt x="7315174" y="-6416"/>
                  <a:pt x="7022592" y="13716"/>
                </a:cubicBezTo>
                <a:cubicBezTo>
                  <a:pt x="6686163" y="45927"/>
                  <a:pt x="6352629" y="18938"/>
                  <a:pt x="6172200" y="13716"/>
                </a:cubicBezTo>
                <a:cubicBezTo>
                  <a:pt x="6015590" y="37773"/>
                  <a:pt x="5770309" y="16706"/>
                  <a:pt x="5650992" y="13716"/>
                </a:cubicBezTo>
                <a:cubicBezTo>
                  <a:pt x="5483975" y="7520"/>
                  <a:pt x="5165324" y="64376"/>
                  <a:pt x="4882896" y="13716"/>
                </a:cubicBezTo>
                <a:cubicBezTo>
                  <a:pt x="4568934" y="2481"/>
                  <a:pt x="4556334" y="23104"/>
                  <a:pt x="4443984" y="13716"/>
                </a:cubicBezTo>
                <a:cubicBezTo>
                  <a:pt x="4320775" y="6004"/>
                  <a:pt x="4034988" y="-8062"/>
                  <a:pt x="3758184" y="13716"/>
                </a:cubicBezTo>
                <a:cubicBezTo>
                  <a:pt x="3445155" y="-5570"/>
                  <a:pt x="3367892" y="9252"/>
                  <a:pt x="3236976" y="13716"/>
                </a:cubicBezTo>
                <a:cubicBezTo>
                  <a:pt x="3093796" y="21836"/>
                  <a:pt x="2635824" y="19560"/>
                  <a:pt x="2386584" y="13716"/>
                </a:cubicBezTo>
                <a:cubicBezTo>
                  <a:pt x="2139815" y="-7869"/>
                  <a:pt x="2105958" y="21373"/>
                  <a:pt x="1947672" y="13716"/>
                </a:cubicBezTo>
                <a:cubicBezTo>
                  <a:pt x="1801011" y="-24483"/>
                  <a:pt x="1533636" y="10074"/>
                  <a:pt x="1261872" y="13716"/>
                </a:cubicBezTo>
                <a:cubicBezTo>
                  <a:pt x="989528" y="27655"/>
                  <a:pt x="1025848" y="10113"/>
                  <a:pt x="822960" y="13716"/>
                </a:cubicBezTo>
                <a:cubicBezTo>
                  <a:pt x="653456" y="16384"/>
                  <a:pt x="304027" y="3429"/>
                  <a:pt x="0" y="13716"/>
                </a:cubicBezTo>
                <a:cubicBezTo>
                  <a:pt x="326" y="10292"/>
                  <a:pt x="-17" y="5199"/>
                  <a:pt x="0" y="0"/>
                </a:cubicBezTo>
                <a:close/>
              </a:path>
              <a:path extrusionOk="0" fill="none" h="13716" w="8229600">
                <a:moveTo>
                  <a:pt x="0" y="0"/>
                </a:moveTo>
                <a:cubicBezTo>
                  <a:pt x="205130" y="6064"/>
                  <a:pt x="324007" y="6684"/>
                  <a:pt x="521208" y="0"/>
                </a:cubicBezTo>
                <a:cubicBezTo>
                  <a:pt x="695888" y="-14632"/>
                  <a:pt x="1101879" y="6017"/>
                  <a:pt x="1371600" y="0"/>
                </a:cubicBezTo>
                <a:cubicBezTo>
                  <a:pt x="1622968" y="4691"/>
                  <a:pt x="1936552" y="-7433"/>
                  <a:pt x="2221992" y="0"/>
                </a:cubicBezTo>
                <a:cubicBezTo>
                  <a:pt x="2498663" y="51226"/>
                  <a:pt x="2885875" y="-8757"/>
                  <a:pt x="3072384" y="0"/>
                </a:cubicBezTo>
                <a:cubicBezTo>
                  <a:pt x="3288944" y="24235"/>
                  <a:pt x="3331110" y="5443"/>
                  <a:pt x="3511296" y="0"/>
                </a:cubicBezTo>
                <a:cubicBezTo>
                  <a:pt x="3687973" y="-19690"/>
                  <a:pt x="3901025" y="-20092"/>
                  <a:pt x="4114800" y="0"/>
                </a:cubicBezTo>
                <a:cubicBezTo>
                  <a:pt x="4336102" y="32988"/>
                  <a:pt x="4416982" y="-5831"/>
                  <a:pt x="4553712" y="0"/>
                </a:cubicBezTo>
                <a:cubicBezTo>
                  <a:pt x="4674310" y="-5056"/>
                  <a:pt x="5080160" y="-12181"/>
                  <a:pt x="5239512" y="0"/>
                </a:cubicBezTo>
                <a:cubicBezTo>
                  <a:pt x="5419031" y="-38513"/>
                  <a:pt x="5691629" y="2226"/>
                  <a:pt x="5843016" y="0"/>
                </a:cubicBezTo>
                <a:cubicBezTo>
                  <a:pt x="5978317" y="-40553"/>
                  <a:pt x="6314754" y="9782"/>
                  <a:pt x="6611112" y="0"/>
                </a:cubicBezTo>
                <a:cubicBezTo>
                  <a:pt x="6973004" y="-17646"/>
                  <a:pt x="7175490" y="18489"/>
                  <a:pt x="7461504" y="0"/>
                </a:cubicBezTo>
                <a:cubicBezTo>
                  <a:pt x="7746737" y="-34159"/>
                  <a:pt x="7962178" y="39853"/>
                  <a:pt x="8229600" y="0"/>
                </a:cubicBezTo>
                <a:cubicBezTo>
                  <a:pt x="8228815" y="6665"/>
                  <a:pt x="8229309" y="10133"/>
                  <a:pt x="8229600" y="13716"/>
                </a:cubicBezTo>
                <a:cubicBezTo>
                  <a:pt x="7944174" y="-33676"/>
                  <a:pt x="7795646" y="-38977"/>
                  <a:pt x="7461504" y="13716"/>
                </a:cubicBezTo>
                <a:cubicBezTo>
                  <a:pt x="7129776" y="46515"/>
                  <a:pt x="7082769" y="26874"/>
                  <a:pt x="6940296" y="13716"/>
                </a:cubicBezTo>
                <a:cubicBezTo>
                  <a:pt x="6799665" y="-20447"/>
                  <a:pt x="6652769" y="27211"/>
                  <a:pt x="6419088" y="13716"/>
                </a:cubicBezTo>
                <a:cubicBezTo>
                  <a:pt x="6143970" y="47703"/>
                  <a:pt x="5863165" y="-21103"/>
                  <a:pt x="5650992" y="13716"/>
                </a:cubicBezTo>
                <a:cubicBezTo>
                  <a:pt x="5419172" y="36034"/>
                  <a:pt x="5309448" y="-4977"/>
                  <a:pt x="5129784" y="13716"/>
                </a:cubicBezTo>
                <a:cubicBezTo>
                  <a:pt x="4947928" y="21451"/>
                  <a:pt x="4795021" y="1288"/>
                  <a:pt x="4690872" y="13716"/>
                </a:cubicBezTo>
                <a:cubicBezTo>
                  <a:pt x="4564358" y="-14151"/>
                  <a:pt x="4295485" y="-29852"/>
                  <a:pt x="4087368" y="13716"/>
                </a:cubicBezTo>
                <a:cubicBezTo>
                  <a:pt x="3871704" y="35834"/>
                  <a:pt x="3732927" y="-15470"/>
                  <a:pt x="3401568" y="13716"/>
                </a:cubicBezTo>
                <a:cubicBezTo>
                  <a:pt x="3075889" y="15088"/>
                  <a:pt x="3025898" y="39828"/>
                  <a:pt x="2798064" y="13716"/>
                </a:cubicBezTo>
                <a:cubicBezTo>
                  <a:pt x="2581856" y="-25441"/>
                  <a:pt x="2428311" y="-9472"/>
                  <a:pt x="2276856" y="13716"/>
                </a:cubicBezTo>
                <a:cubicBezTo>
                  <a:pt x="2098246" y="48711"/>
                  <a:pt x="1737531" y="51387"/>
                  <a:pt x="1426464" y="13716"/>
                </a:cubicBezTo>
                <a:cubicBezTo>
                  <a:pt x="1104708" y="21917"/>
                  <a:pt x="1006595" y="11356"/>
                  <a:pt x="740664" y="13716"/>
                </a:cubicBezTo>
                <a:cubicBezTo>
                  <a:pt x="480378" y="28512"/>
                  <a:pt x="202592" y="-16929"/>
                  <a:pt x="0" y="13716"/>
                </a:cubicBezTo>
                <a:cubicBezTo>
                  <a:pt x="244" y="8978"/>
                  <a:pt x="436" y="6414"/>
                  <a:pt x="0" y="0"/>
                </a:cubicBezTo>
                <a:close/>
              </a:path>
            </a:pathLst>
          </a:custGeom>
          <a:solidFill>
            <a:schemeClr val="accent2">
              <a:alpha val="74509"/>
            </a:schemeClr>
          </a:solidFill>
          <a:ln cap="rnd" cmpd="sng" w="44450">
            <a:solidFill>
              <a:schemeClr val="accent2">
                <a:alpha val="74509"/>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4" name="Google Shape;144;p7"/>
          <p:cNvSpPr txBox="1"/>
          <p:nvPr>
            <p:ph idx="1" type="body"/>
          </p:nvPr>
        </p:nvSpPr>
        <p:spPr>
          <a:xfrm>
            <a:off x="628650" y="1369219"/>
            <a:ext cx="7886700" cy="3263504"/>
          </a:xfrm>
          <a:prstGeom prst="rect">
            <a:avLst/>
          </a:prstGeom>
          <a:noFill/>
          <a:ln>
            <a:noFill/>
          </a:ln>
        </p:spPr>
        <p:txBody>
          <a:bodyPr anchorCtr="0" anchor="t" bIns="45700" lIns="91425" spcFirstLastPara="1" rIns="91425" wrap="square" tIns="45700">
            <a:normAutofit/>
          </a:bodyPr>
          <a:lstStyle/>
          <a:p>
            <a:pPr indent="-38100" lvl="0" marL="171450" rtl="0" algn="l">
              <a:lnSpc>
                <a:spcPct val="90000"/>
              </a:lnSpc>
              <a:spcBef>
                <a:spcPts val="0"/>
              </a:spcBef>
              <a:spcAft>
                <a:spcPts val="0"/>
              </a:spcAft>
              <a:buClr>
                <a:schemeClr val="dk1"/>
              </a:buClr>
              <a:buSzPts val="2100"/>
              <a:buNone/>
            </a:pPr>
            <a:r>
              <a:t/>
            </a:r>
            <a:endParaRPr/>
          </a:p>
        </p:txBody>
      </p:sp>
      <p:grpSp>
        <p:nvGrpSpPr>
          <p:cNvPr id="145" name="Google Shape;145;p7"/>
          <p:cNvGrpSpPr/>
          <p:nvPr/>
        </p:nvGrpSpPr>
        <p:grpSpPr>
          <a:xfrm>
            <a:off x="533400" y="1467196"/>
            <a:ext cx="7886700" cy="3362332"/>
            <a:chOff x="0" y="104420"/>
            <a:chExt cx="7886700" cy="3362332"/>
          </a:xfrm>
        </p:grpSpPr>
        <p:sp>
          <p:nvSpPr>
            <p:cNvPr id="146" name="Google Shape;146;p7"/>
            <p:cNvSpPr/>
            <p:nvPr/>
          </p:nvSpPr>
          <p:spPr>
            <a:xfrm>
              <a:off x="0" y="104420"/>
              <a:ext cx="7886700" cy="635602"/>
            </a:xfrm>
            <a:prstGeom prst="roundRect">
              <a:avLst>
                <a:gd fmla="val 16667" name="adj"/>
              </a:avLst>
            </a:prstGeom>
            <a:solidFill>
              <a:srgbClr val="599BD5"/>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7"/>
            <p:cNvSpPr txBox="1"/>
            <p:nvPr/>
          </p:nvSpPr>
          <p:spPr>
            <a:xfrm>
              <a:off x="31028" y="135448"/>
              <a:ext cx="7824644" cy="573546"/>
            </a:xfrm>
            <a:prstGeom prst="rect">
              <a:avLst/>
            </a:prstGeom>
            <a:noFill/>
            <a:ln>
              <a:noFill/>
            </a:ln>
          </p:spPr>
          <p:txBody>
            <a:bodyPr anchorCtr="0" anchor="ctr" bIns="60950" lIns="60950" spcFirstLastPara="1" rIns="60950" wrap="square" tIns="60950">
              <a:noAutofit/>
            </a:bodyPr>
            <a:lstStyle/>
            <a:p>
              <a:pPr indent="0" lvl="0" marL="0" marR="0" rtl="0" algn="l">
                <a:lnSpc>
                  <a:spcPct val="90000"/>
                </a:lnSpc>
                <a:spcBef>
                  <a:spcPts val="0"/>
                </a:spcBef>
                <a:spcAft>
                  <a:spcPts val="0"/>
                </a:spcAft>
                <a:buClr>
                  <a:schemeClr val="lt1"/>
                </a:buClr>
                <a:buSzPts val="1600"/>
                <a:buFont typeface="Calibri"/>
                <a:buNone/>
              </a:pPr>
              <a:r>
                <a:rPr b="0" i="0" lang="en-US" sz="1600" u="none" cap="none" strike="noStrike">
                  <a:solidFill>
                    <a:schemeClr val="lt1"/>
                  </a:solidFill>
                  <a:latin typeface="Calibri"/>
                  <a:ea typeface="Calibri"/>
                  <a:cs typeface="Calibri"/>
                  <a:sym typeface="Calibri"/>
                </a:rPr>
                <a:t>Through a why major X + Personal Experience- Ivy Mayende</a:t>
              </a:r>
              <a:endParaRPr b="0" i="0" sz="1600" u="none" cap="none" strike="noStrike">
                <a:solidFill>
                  <a:schemeClr val="lt1"/>
                </a:solidFill>
                <a:latin typeface="Calibri"/>
                <a:ea typeface="Calibri"/>
                <a:cs typeface="Calibri"/>
                <a:sym typeface="Calibri"/>
              </a:endParaRPr>
            </a:p>
          </p:txBody>
        </p:sp>
        <p:sp>
          <p:nvSpPr>
            <p:cNvPr id="148" name="Google Shape;148;p7"/>
            <p:cNvSpPr/>
            <p:nvPr/>
          </p:nvSpPr>
          <p:spPr>
            <a:xfrm>
              <a:off x="0" y="786103"/>
              <a:ext cx="7886700" cy="635602"/>
            </a:xfrm>
            <a:prstGeom prst="roundRect">
              <a:avLst>
                <a:gd fmla="val 16667" name="adj"/>
              </a:avLst>
            </a:prstGeom>
            <a:solidFill>
              <a:srgbClr val="599BD5"/>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7"/>
            <p:cNvSpPr txBox="1"/>
            <p:nvPr/>
          </p:nvSpPr>
          <p:spPr>
            <a:xfrm>
              <a:off x="31028" y="817131"/>
              <a:ext cx="7824644" cy="573546"/>
            </a:xfrm>
            <a:prstGeom prst="rect">
              <a:avLst/>
            </a:prstGeom>
            <a:noFill/>
            <a:ln>
              <a:noFill/>
            </a:ln>
          </p:spPr>
          <p:txBody>
            <a:bodyPr anchorCtr="0" anchor="ctr" bIns="60950" lIns="60950" spcFirstLastPara="1" rIns="60950" wrap="square" tIns="60950">
              <a:noAutofit/>
            </a:bodyPr>
            <a:lstStyle/>
            <a:p>
              <a:pPr indent="0" lvl="0" marL="0" marR="0" rtl="0" algn="l">
                <a:lnSpc>
                  <a:spcPct val="90000"/>
                </a:lnSpc>
                <a:spcBef>
                  <a:spcPts val="0"/>
                </a:spcBef>
                <a:spcAft>
                  <a:spcPts val="0"/>
                </a:spcAft>
                <a:buClr>
                  <a:schemeClr val="lt1"/>
                </a:buClr>
                <a:buSzPts val="1600"/>
                <a:buFont typeface="Calibri"/>
                <a:buNone/>
              </a:pPr>
              <a:r>
                <a:rPr b="0" i="0" lang="en-US" sz="1600" u="none" cap="none" strike="noStrike">
                  <a:solidFill>
                    <a:schemeClr val="lt1"/>
                  </a:solidFill>
                  <a:latin typeface="Calibri"/>
                  <a:ea typeface="Calibri"/>
                  <a:cs typeface="Calibri"/>
                  <a:sym typeface="Calibri"/>
                </a:rPr>
                <a:t>STEM related activities{pure nerd,stellar activities}- Mark Lekina,Yatich  LGBTQA Identity card- Kelvin Kahiu,Robertson Waweru</a:t>
              </a:r>
              <a:endParaRPr b="0" i="0" sz="1400" u="none" cap="none" strike="noStrike">
                <a:solidFill>
                  <a:srgbClr val="000000"/>
                </a:solidFill>
                <a:latin typeface="Arial"/>
                <a:ea typeface="Arial"/>
                <a:cs typeface="Arial"/>
                <a:sym typeface="Arial"/>
              </a:endParaRPr>
            </a:p>
          </p:txBody>
        </p:sp>
        <p:sp>
          <p:nvSpPr>
            <p:cNvPr id="150" name="Google Shape;150;p7"/>
            <p:cNvSpPr/>
            <p:nvPr/>
          </p:nvSpPr>
          <p:spPr>
            <a:xfrm>
              <a:off x="0" y="1467785"/>
              <a:ext cx="7886700" cy="635602"/>
            </a:xfrm>
            <a:prstGeom prst="roundRect">
              <a:avLst>
                <a:gd fmla="val 16667" name="adj"/>
              </a:avLst>
            </a:prstGeom>
            <a:solidFill>
              <a:srgbClr val="599BD5"/>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7"/>
            <p:cNvSpPr txBox="1"/>
            <p:nvPr/>
          </p:nvSpPr>
          <p:spPr>
            <a:xfrm>
              <a:off x="31028" y="1498813"/>
              <a:ext cx="7824644" cy="573546"/>
            </a:xfrm>
            <a:prstGeom prst="rect">
              <a:avLst/>
            </a:prstGeom>
            <a:noFill/>
            <a:ln>
              <a:noFill/>
            </a:ln>
          </p:spPr>
          <p:txBody>
            <a:bodyPr anchorCtr="0" anchor="ctr" bIns="60950" lIns="60950" spcFirstLastPara="1" rIns="60950" wrap="square" tIns="60950">
              <a:noAutofit/>
            </a:bodyPr>
            <a:lstStyle/>
            <a:p>
              <a:pPr indent="0" lvl="0" marL="0" marR="0" rtl="0" algn="l">
                <a:lnSpc>
                  <a:spcPct val="90000"/>
                </a:lnSpc>
                <a:spcBef>
                  <a:spcPts val="0"/>
                </a:spcBef>
                <a:spcAft>
                  <a:spcPts val="0"/>
                </a:spcAft>
                <a:buClr>
                  <a:schemeClr val="lt1"/>
                </a:buClr>
                <a:buSzPts val="1600"/>
                <a:buFont typeface="Calibri"/>
                <a:buNone/>
              </a:pPr>
              <a:r>
                <a:rPr b="0" i="0" lang="en-US" sz="1600" u="none" cap="none" strike="noStrike">
                  <a:solidFill>
                    <a:schemeClr val="lt1"/>
                  </a:solidFill>
                  <a:latin typeface="Calibri"/>
                  <a:ea typeface="Calibri"/>
                  <a:cs typeface="Calibri"/>
                  <a:sym typeface="Calibri"/>
                </a:rPr>
                <a:t>Cultural Background-Norah Borus,Jackson Parit,  Immigrant story/status- Anicet Dushime,Abdibaset Bare  Through Art/Music/-Jesse Kimotho,</a:t>
              </a:r>
              <a:endParaRPr b="0" i="0" sz="1400" u="none" cap="none" strike="noStrike">
                <a:solidFill>
                  <a:srgbClr val="000000"/>
                </a:solidFill>
                <a:latin typeface="Arial"/>
                <a:ea typeface="Arial"/>
                <a:cs typeface="Arial"/>
                <a:sym typeface="Arial"/>
              </a:endParaRPr>
            </a:p>
          </p:txBody>
        </p:sp>
        <p:sp>
          <p:nvSpPr>
            <p:cNvPr id="152" name="Google Shape;152;p7"/>
            <p:cNvSpPr/>
            <p:nvPr/>
          </p:nvSpPr>
          <p:spPr>
            <a:xfrm>
              <a:off x="0" y="2149468"/>
              <a:ext cx="7886700" cy="635602"/>
            </a:xfrm>
            <a:prstGeom prst="roundRect">
              <a:avLst>
                <a:gd fmla="val 16667" name="adj"/>
              </a:avLst>
            </a:prstGeom>
            <a:solidFill>
              <a:srgbClr val="599BD5"/>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7"/>
            <p:cNvSpPr txBox="1"/>
            <p:nvPr/>
          </p:nvSpPr>
          <p:spPr>
            <a:xfrm>
              <a:off x="31028" y="2180496"/>
              <a:ext cx="7824644" cy="573546"/>
            </a:xfrm>
            <a:prstGeom prst="rect">
              <a:avLst/>
            </a:prstGeom>
            <a:noFill/>
            <a:ln>
              <a:noFill/>
            </a:ln>
          </p:spPr>
          <p:txBody>
            <a:bodyPr anchorCtr="0" anchor="ctr" bIns="60950" lIns="60950" spcFirstLastPara="1" rIns="60950" wrap="square" tIns="60950">
              <a:noAutofit/>
            </a:bodyPr>
            <a:lstStyle/>
            <a:p>
              <a:pPr indent="0" lvl="0" marL="0" marR="0" rtl="0" algn="l">
                <a:lnSpc>
                  <a:spcPct val="90000"/>
                </a:lnSpc>
                <a:spcBef>
                  <a:spcPts val="0"/>
                </a:spcBef>
                <a:spcAft>
                  <a:spcPts val="0"/>
                </a:spcAft>
                <a:buClr>
                  <a:schemeClr val="lt1"/>
                </a:buClr>
                <a:buSzPts val="1600"/>
                <a:buFont typeface="Calibri"/>
                <a:buNone/>
              </a:pPr>
              <a:r>
                <a:rPr b="0" i="0" lang="en-US" sz="1600" u="none" cap="none" strike="noStrike">
                  <a:solidFill>
                    <a:schemeClr val="lt1"/>
                  </a:solidFill>
                  <a:latin typeface="Calibri"/>
                  <a:ea typeface="Calibri"/>
                  <a:cs typeface="Calibri"/>
                  <a:sym typeface="Calibri"/>
                </a:rPr>
                <a:t>Ideologies- Joan Nekoye</a:t>
              </a:r>
              <a:endParaRPr b="0" i="0" sz="1400" u="none" cap="none" strike="noStrike">
                <a:solidFill>
                  <a:srgbClr val="000000"/>
                </a:solidFill>
                <a:latin typeface="Arial"/>
                <a:ea typeface="Arial"/>
                <a:cs typeface="Arial"/>
                <a:sym typeface="Arial"/>
              </a:endParaRPr>
            </a:p>
          </p:txBody>
        </p:sp>
        <p:sp>
          <p:nvSpPr>
            <p:cNvPr id="154" name="Google Shape;154;p7"/>
            <p:cNvSpPr/>
            <p:nvPr/>
          </p:nvSpPr>
          <p:spPr>
            <a:xfrm>
              <a:off x="0" y="2831150"/>
              <a:ext cx="7886700" cy="635602"/>
            </a:xfrm>
            <a:prstGeom prst="roundRect">
              <a:avLst>
                <a:gd fmla="val 16667" name="adj"/>
              </a:avLst>
            </a:prstGeom>
            <a:solidFill>
              <a:srgbClr val="599BD5"/>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7"/>
            <p:cNvSpPr txBox="1"/>
            <p:nvPr/>
          </p:nvSpPr>
          <p:spPr>
            <a:xfrm>
              <a:off x="31028" y="2862178"/>
              <a:ext cx="7824644" cy="573546"/>
            </a:xfrm>
            <a:prstGeom prst="rect">
              <a:avLst/>
            </a:prstGeom>
            <a:noFill/>
            <a:ln>
              <a:noFill/>
            </a:ln>
          </p:spPr>
          <p:txBody>
            <a:bodyPr anchorCtr="0" anchor="ctr" bIns="60950" lIns="60950" spcFirstLastPara="1" rIns="60950" wrap="square" tIns="60950">
              <a:noAutofit/>
            </a:bodyPr>
            <a:lstStyle/>
            <a:p>
              <a:pPr indent="0" lvl="0" marL="0" marR="0" rtl="0" algn="l">
                <a:lnSpc>
                  <a:spcPct val="90000"/>
                </a:lnSpc>
                <a:spcBef>
                  <a:spcPts val="0"/>
                </a:spcBef>
                <a:spcAft>
                  <a:spcPts val="0"/>
                </a:spcAft>
                <a:buClr>
                  <a:schemeClr val="lt1"/>
                </a:buClr>
                <a:buSzPts val="1600"/>
                <a:buFont typeface="Calibri"/>
                <a:buNone/>
              </a:pPr>
              <a:r>
                <a:rPr b="0" i="0" lang="en-US" sz="1600" u="none" cap="none" strike="noStrike">
                  <a:solidFill>
                    <a:schemeClr val="lt1"/>
                  </a:solidFill>
                  <a:latin typeface="Calibri"/>
                  <a:ea typeface="Calibri"/>
                  <a:cs typeface="Calibri"/>
                  <a:sym typeface="Calibri"/>
                </a:rPr>
                <a:t>Constant Brand ; FGLI- First Generation Low Income Student with a Dream.</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9" name="Shape 159"/>
        <p:cNvGrpSpPr/>
        <p:nvPr/>
      </p:nvGrpSpPr>
      <p:grpSpPr>
        <a:xfrm>
          <a:off x="0" y="0"/>
          <a:ext cx="0" cy="0"/>
          <a:chOff x="0" y="0"/>
          <a:chExt cx="0" cy="0"/>
        </a:xfrm>
      </p:grpSpPr>
      <p:sp>
        <p:nvSpPr>
          <p:cNvPr id="160" name="Google Shape;160;p8"/>
          <p:cNvSpPr/>
          <p:nvPr/>
        </p:nvSpPr>
        <p:spPr>
          <a:xfrm>
            <a:off x="2286" y="0"/>
            <a:ext cx="9141714" cy="5143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1" name="Google Shape;161;p8"/>
          <p:cNvSpPr/>
          <p:nvPr/>
        </p:nvSpPr>
        <p:spPr>
          <a:xfrm>
            <a:off x="0" y="0"/>
            <a:ext cx="3125454" cy="5143500"/>
          </a:xfrm>
          <a:custGeom>
            <a:rect b="b" l="l" r="r" t="t"/>
            <a:pathLst>
              <a:path extrusionOk="0" h="6858000" w="4167271">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2" name="Google Shape;162;p8"/>
          <p:cNvSpPr txBox="1"/>
          <p:nvPr>
            <p:ph type="title"/>
          </p:nvPr>
        </p:nvSpPr>
        <p:spPr>
          <a:xfrm>
            <a:off x="515125" y="865179"/>
            <a:ext cx="2400300" cy="3345872"/>
          </a:xfrm>
          <a:prstGeom prst="rect">
            <a:avLst/>
          </a:prstGeom>
          <a:noFill/>
          <a:ln>
            <a:noFill/>
          </a:ln>
        </p:spPr>
        <p:txBody>
          <a:bodyPr anchorCtr="0" anchor="ctr" bIns="45700" lIns="91425" spcFirstLastPara="1" rIns="91425" wrap="square" tIns="45700">
            <a:normAutofit/>
          </a:bodyPr>
          <a:lstStyle/>
          <a:p>
            <a:pPr indent="0" lvl="0" marL="12700" rtl="0" algn="l">
              <a:lnSpc>
                <a:spcPct val="90000"/>
              </a:lnSpc>
              <a:spcBef>
                <a:spcPts val="0"/>
              </a:spcBef>
              <a:spcAft>
                <a:spcPts val="0"/>
              </a:spcAft>
              <a:buClr>
                <a:srgbClr val="FFFFFF"/>
              </a:buClr>
              <a:buSzPts val="4400"/>
              <a:buFont typeface="Calibri"/>
              <a:buNone/>
            </a:pPr>
            <a:r>
              <a:rPr lang="en-US" sz="4400">
                <a:solidFill>
                  <a:srgbClr val="FFFFFF"/>
                </a:solidFill>
                <a:latin typeface="Calibri"/>
                <a:ea typeface="Calibri"/>
                <a:cs typeface="Calibri"/>
                <a:sym typeface="Calibri"/>
              </a:rPr>
              <a:t>Schools and what they look for:</a:t>
            </a:r>
            <a:endParaRPr/>
          </a:p>
        </p:txBody>
      </p:sp>
      <p:sp>
        <p:nvSpPr>
          <p:cNvPr id="163" name="Google Shape;163;p8"/>
          <p:cNvSpPr/>
          <p:nvPr/>
        </p:nvSpPr>
        <p:spPr>
          <a:xfrm flipH="1" rot="10800000">
            <a:off x="5662801" y="1841609"/>
            <a:ext cx="3062575" cy="3062575"/>
          </a:xfrm>
          <a:prstGeom prst="arc">
            <a:avLst>
              <a:gd fmla="val 16200000" name="adj1"/>
              <a:gd fmla="val 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4" name="Google Shape;164;p8"/>
          <p:cNvSpPr txBox="1"/>
          <p:nvPr/>
        </p:nvSpPr>
        <p:spPr>
          <a:xfrm>
            <a:off x="3335481" y="443508"/>
            <a:ext cx="5179868" cy="4189214"/>
          </a:xfrm>
          <a:prstGeom prst="rect">
            <a:avLst/>
          </a:prstGeom>
          <a:noFill/>
          <a:ln>
            <a:noFill/>
          </a:ln>
        </p:spPr>
        <p:txBody>
          <a:bodyPr anchorCtr="0" anchor="ctr" bIns="45700" lIns="91425" spcFirstLastPara="1" rIns="91425" wrap="square" tIns="45700">
            <a:normAutofit/>
          </a:bodyPr>
          <a:lstStyle/>
          <a:p>
            <a:pPr indent="-107950" lvl="0" marL="12700" marR="5080" rtl="0" algn="l">
              <a:lnSpc>
                <a:spcPct val="90000"/>
              </a:lnSpc>
              <a:spcBef>
                <a:spcPts val="0"/>
              </a:spcBef>
              <a:spcAft>
                <a:spcPts val="0"/>
              </a:spcAft>
              <a:buClr>
                <a:schemeClr val="dk1"/>
              </a:buClr>
              <a:buSzPts val="1700"/>
              <a:buFont typeface="Arial"/>
              <a:buChar char="•"/>
            </a:pPr>
            <a:r>
              <a:rPr b="0" i="0" lang="en-US" sz="1700" u="none" cap="none" strike="noStrike">
                <a:solidFill>
                  <a:schemeClr val="dk1"/>
                </a:solidFill>
                <a:latin typeface="Calibri"/>
                <a:ea typeface="Calibri"/>
                <a:cs typeface="Calibri"/>
                <a:sym typeface="Calibri"/>
              </a:rPr>
              <a:t>Most Ivies and top-notch schools, are interested with a ﬁt for their rigorous programs.  The catch is to go all nerd and be passionate about your major and the activities you want to  explore in regard to the major.</a:t>
            </a:r>
            <a:endParaRPr b="0" i="0" sz="1700" u="none" cap="none" strike="noStrike">
              <a:solidFill>
                <a:schemeClr val="dk1"/>
              </a:solidFill>
              <a:latin typeface="Calibri"/>
              <a:ea typeface="Calibri"/>
              <a:cs typeface="Calibri"/>
              <a:sym typeface="Calibri"/>
            </a:endParaRPr>
          </a:p>
          <a:p>
            <a:pPr indent="-107950" lvl="0" marL="69850" marR="960119" rtl="0" algn="l">
              <a:lnSpc>
                <a:spcPct val="90000"/>
              </a:lnSpc>
              <a:spcBef>
                <a:spcPts val="234"/>
              </a:spcBef>
              <a:spcAft>
                <a:spcPts val="0"/>
              </a:spcAft>
              <a:buClr>
                <a:schemeClr val="dk1"/>
              </a:buClr>
              <a:buSzPts val="1700"/>
              <a:buFont typeface="Noto Sans Symbols"/>
              <a:buChar char="▪"/>
            </a:pPr>
            <a:r>
              <a:rPr b="1" i="0" lang="en-US" sz="1700" u="none" cap="none" strike="noStrike">
                <a:solidFill>
                  <a:schemeClr val="dk1"/>
                </a:solidFill>
                <a:latin typeface="Calibri"/>
                <a:ea typeface="Calibri"/>
                <a:cs typeface="Calibri"/>
                <a:sym typeface="Calibri"/>
              </a:rPr>
              <a:t>Wesley Osogo -Harvard ‘24 -Major: Tissue engineering -STEM related activities . </a:t>
            </a:r>
            <a:endParaRPr b="0" i="0" sz="1400" u="none" cap="none" strike="noStrike">
              <a:solidFill>
                <a:srgbClr val="000000"/>
              </a:solidFill>
              <a:latin typeface="Arial"/>
              <a:ea typeface="Arial"/>
              <a:cs typeface="Arial"/>
              <a:sym typeface="Arial"/>
            </a:endParaRPr>
          </a:p>
          <a:p>
            <a:pPr indent="-285750" lvl="0" marL="285750" marR="960119" rtl="0" algn="l">
              <a:lnSpc>
                <a:spcPct val="90000"/>
              </a:lnSpc>
              <a:spcBef>
                <a:spcPts val="234"/>
              </a:spcBef>
              <a:spcAft>
                <a:spcPts val="0"/>
              </a:spcAft>
              <a:buClr>
                <a:schemeClr val="dk1"/>
              </a:buClr>
              <a:buSzPts val="1700"/>
              <a:buFont typeface="Noto Sans Symbols"/>
              <a:buChar char="▪"/>
            </a:pPr>
            <a:r>
              <a:rPr b="1" i="0" lang="en-US" sz="1700" u="none" cap="none" strike="noStrike">
                <a:solidFill>
                  <a:schemeClr val="dk1"/>
                </a:solidFill>
                <a:latin typeface="Calibri"/>
                <a:ea typeface="Calibri"/>
                <a:cs typeface="Calibri"/>
                <a:sym typeface="Calibri"/>
              </a:rPr>
              <a:t> Mark Lekina -Dartmouth ‘24-Major:Computer Science-STEM related activities.  </a:t>
            </a:r>
            <a:endParaRPr b="0" i="0" sz="1400" u="none" cap="none" strike="noStrike">
              <a:solidFill>
                <a:srgbClr val="000000"/>
              </a:solidFill>
              <a:latin typeface="Arial"/>
              <a:ea typeface="Arial"/>
              <a:cs typeface="Arial"/>
              <a:sym typeface="Arial"/>
            </a:endParaRPr>
          </a:p>
          <a:p>
            <a:pPr indent="-285750" lvl="0" marL="285750" marR="960119" rtl="0" algn="l">
              <a:lnSpc>
                <a:spcPct val="90000"/>
              </a:lnSpc>
              <a:spcBef>
                <a:spcPts val="234"/>
              </a:spcBef>
              <a:spcAft>
                <a:spcPts val="0"/>
              </a:spcAft>
              <a:buClr>
                <a:schemeClr val="dk1"/>
              </a:buClr>
              <a:buSzPts val="1700"/>
              <a:buFont typeface="Noto Sans Symbols"/>
              <a:buChar char="▪"/>
            </a:pPr>
            <a:r>
              <a:rPr b="1" i="0" lang="en-US" sz="1700" u="none" cap="none" strike="noStrike">
                <a:solidFill>
                  <a:schemeClr val="dk1"/>
                </a:solidFill>
                <a:latin typeface="Calibri"/>
                <a:ea typeface="Calibri"/>
                <a:cs typeface="Calibri"/>
                <a:sym typeface="Calibri"/>
              </a:rPr>
              <a:t>Sandra Mwangi-Harvard ‘24- Lady in STEM  </a:t>
            </a:r>
            <a:r>
              <a:rPr b="1" i="0" lang="en-US" sz="1700" u="sng" cap="none" strike="noStrike">
                <a:solidFill>
                  <a:schemeClr val="dk1"/>
                </a:solidFill>
                <a:latin typeface="Calibri"/>
                <a:ea typeface="Calibri"/>
                <a:cs typeface="Calibri"/>
                <a:sym typeface="Calibri"/>
                <a:hlinkClick r:id="rId3">
                  <a:extLst>
                    <a:ext uri="{A12FA001-AC4F-418D-AE19-62706E023703}">
                      <ahyp:hlinkClr val="tx"/>
                    </a:ext>
                  </a:extLst>
                </a:hlinkClick>
              </a:rPr>
              <a:t>https://www.youtube.com/channel/UCb5_lEbk2NgWBLe8sENAjmw</a:t>
            </a:r>
            <a:endParaRPr b="1" i="0" sz="1700" u="none" cap="none" strike="noStrike">
              <a:solidFill>
                <a:schemeClr val="dk1"/>
              </a:solidFill>
              <a:latin typeface="Calibri"/>
              <a:ea typeface="Calibri"/>
              <a:cs typeface="Calibri"/>
              <a:sym typeface="Calibri"/>
            </a:endParaRPr>
          </a:p>
          <a:p>
            <a:pPr indent="-107950" lvl="0" marL="12700" marR="0" rtl="0" algn="l">
              <a:lnSpc>
                <a:spcPct val="90000"/>
              </a:lnSpc>
              <a:spcBef>
                <a:spcPts val="819"/>
              </a:spcBef>
              <a:spcAft>
                <a:spcPts val="0"/>
              </a:spcAft>
              <a:buClr>
                <a:schemeClr val="dk1"/>
              </a:buClr>
              <a:buSzPts val="1700"/>
              <a:buFont typeface="Arial"/>
              <a:buChar char="•"/>
            </a:pPr>
            <a:r>
              <a:rPr b="1" i="0" lang="en-US" sz="1700" u="none" cap="none" strike="noStrike">
                <a:solidFill>
                  <a:schemeClr val="dk1"/>
                </a:solidFill>
                <a:latin typeface="Calibri"/>
                <a:ea typeface="Calibri"/>
                <a:cs typeface="Calibri"/>
                <a:sym typeface="Calibri"/>
              </a:rPr>
              <a:t>Kelvin Kahiu- Stanford ‘25 JHU RD Admit and  Robertson Waweru- Duke ‘25</a:t>
            </a:r>
            <a:endParaRPr b="1" i="0" sz="1700" u="none" cap="none" strike="noStrike">
              <a:solidFill>
                <a:schemeClr val="dk1"/>
              </a:solidFill>
              <a:latin typeface="Calibri"/>
              <a:ea typeface="Calibri"/>
              <a:cs typeface="Calibri"/>
              <a:sym typeface="Calibri"/>
            </a:endParaRPr>
          </a:p>
          <a:p>
            <a:pPr indent="0" lvl="0" marL="0" marR="0" rtl="0" algn="l">
              <a:lnSpc>
                <a:spcPct val="90000"/>
              </a:lnSpc>
              <a:spcBef>
                <a:spcPts val="1120"/>
              </a:spcBef>
              <a:spcAft>
                <a:spcPts val="0"/>
              </a:spcAft>
              <a:buClr>
                <a:srgbClr val="000000"/>
              </a:buClr>
              <a:buSzPts val="1700"/>
              <a:buFont typeface="Arial"/>
              <a:buNone/>
            </a:pPr>
            <a:r>
              <a:rPr b="0" i="0" lang="en-US" sz="1700" u="none" cap="none" strike="noStrike">
                <a:solidFill>
                  <a:schemeClr val="dk1"/>
                </a:solidFill>
                <a:latin typeface="Calibri"/>
                <a:ea typeface="Calibri"/>
                <a:cs typeface="Calibri"/>
                <a:sym typeface="Calibri"/>
              </a:rPr>
              <a:t>Environmental engineering.</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8" name="Shape 168"/>
        <p:cNvGrpSpPr/>
        <p:nvPr/>
      </p:nvGrpSpPr>
      <p:grpSpPr>
        <a:xfrm>
          <a:off x="0" y="0"/>
          <a:ext cx="0" cy="0"/>
          <a:chOff x="0" y="0"/>
          <a:chExt cx="0" cy="0"/>
        </a:xfrm>
      </p:grpSpPr>
      <p:sp>
        <p:nvSpPr>
          <p:cNvPr id="169" name="Google Shape;169;p9"/>
          <p:cNvSpPr/>
          <p:nvPr/>
        </p:nvSpPr>
        <p:spPr>
          <a:xfrm>
            <a:off x="0" y="0"/>
            <a:ext cx="9141714" cy="5143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0" name="Google Shape;170;p9"/>
          <p:cNvSpPr/>
          <p:nvPr/>
        </p:nvSpPr>
        <p:spPr>
          <a:xfrm>
            <a:off x="0" y="0"/>
            <a:ext cx="9144000" cy="1760560"/>
          </a:xfrm>
          <a:custGeom>
            <a:rect b="b" l="l" r="r" t="t"/>
            <a:pathLst>
              <a:path extrusionOk="0" h="2347414" w="12192000">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1" name="Google Shape;171;p9"/>
          <p:cNvSpPr txBox="1"/>
          <p:nvPr>
            <p:ph type="title"/>
          </p:nvPr>
        </p:nvSpPr>
        <p:spPr>
          <a:xfrm>
            <a:off x="628650" y="300915"/>
            <a:ext cx="7886700" cy="1011049"/>
          </a:xfrm>
          <a:prstGeom prst="rect">
            <a:avLst/>
          </a:prstGeom>
          <a:noFill/>
          <a:ln>
            <a:noFill/>
          </a:ln>
        </p:spPr>
        <p:txBody>
          <a:bodyPr anchorCtr="0" anchor="ctr" bIns="45700" lIns="91425" spcFirstLastPara="1" rIns="91425" wrap="square" tIns="45700">
            <a:normAutofit/>
          </a:bodyPr>
          <a:lstStyle/>
          <a:p>
            <a:pPr indent="0" lvl="0" marL="12700" marR="5080" rtl="0" algn="l">
              <a:lnSpc>
                <a:spcPct val="90000"/>
              </a:lnSpc>
              <a:spcBef>
                <a:spcPts val="0"/>
              </a:spcBef>
              <a:spcAft>
                <a:spcPts val="0"/>
              </a:spcAft>
              <a:buClr>
                <a:srgbClr val="FFFFFF"/>
              </a:buClr>
              <a:buSzPts val="3200"/>
              <a:buFont typeface="Calibri"/>
              <a:buNone/>
            </a:pPr>
            <a:r>
              <a:rPr lang="en-US" sz="3200">
                <a:solidFill>
                  <a:srgbClr val="FFFFFF"/>
                </a:solidFill>
                <a:latin typeface="Calibri"/>
                <a:ea typeface="Calibri"/>
                <a:cs typeface="Calibri"/>
                <a:sym typeface="Calibri"/>
              </a:rPr>
              <a:t>Research &amp;Liberal Art Institutions, Colleges and Community  Colleges.</a:t>
            </a:r>
            <a:endParaRPr/>
          </a:p>
        </p:txBody>
      </p:sp>
      <p:sp>
        <p:nvSpPr>
          <p:cNvPr id="172" name="Google Shape;172;p9"/>
          <p:cNvSpPr txBox="1"/>
          <p:nvPr/>
        </p:nvSpPr>
        <p:spPr>
          <a:xfrm>
            <a:off x="628650" y="1940091"/>
            <a:ext cx="7886700" cy="2692631"/>
          </a:xfrm>
          <a:prstGeom prst="rect">
            <a:avLst/>
          </a:prstGeom>
          <a:noFill/>
          <a:ln>
            <a:noFill/>
          </a:ln>
        </p:spPr>
        <p:txBody>
          <a:bodyPr anchorCtr="0" anchor="t" bIns="45700" lIns="91425" spcFirstLastPara="1" rIns="91425" wrap="square" tIns="45700">
            <a:normAutofit/>
          </a:bodyPr>
          <a:lstStyle/>
          <a:p>
            <a:pPr indent="-101600" lvl="0" marL="12700" marR="5080" rtl="0" algn="l">
              <a:lnSpc>
                <a:spcPct val="90000"/>
              </a:lnSpc>
              <a:spcBef>
                <a:spcPts val="0"/>
              </a:spcBef>
              <a:spcAft>
                <a:spcPts val="0"/>
              </a:spcAft>
              <a:buClr>
                <a:schemeClr val="dk1"/>
              </a:buClr>
              <a:buSzPts val="1600"/>
              <a:buFont typeface="Arial"/>
              <a:buChar char="•"/>
            </a:pPr>
            <a:r>
              <a:rPr b="0" i="0" lang="en-US" sz="1600" u="none" cap="none" strike="noStrike">
                <a:solidFill>
                  <a:schemeClr val="dk1"/>
                </a:solidFill>
                <a:latin typeface="Calibri"/>
                <a:ea typeface="Calibri"/>
                <a:cs typeface="Calibri"/>
                <a:sym typeface="Calibri"/>
              </a:rPr>
              <a:t>Liberal art colleges focus on diversity of their student body as well as the academic rigor of its institution. They  want applicants beﬁtting an array activities say two and max three with stellar stats to match the rigor.</a:t>
            </a:r>
            <a:endParaRPr b="0" i="0" sz="1600" u="none" cap="none" strike="noStrike">
              <a:solidFill>
                <a:schemeClr val="dk1"/>
              </a:solidFill>
              <a:latin typeface="Calibri"/>
              <a:ea typeface="Calibri"/>
              <a:cs typeface="Calibri"/>
              <a:sym typeface="Calibri"/>
            </a:endParaRPr>
          </a:p>
          <a:p>
            <a:pPr indent="-101600" lvl="0" marL="12700" marR="36195" rtl="0" algn="l">
              <a:lnSpc>
                <a:spcPct val="90000"/>
              </a:lnSpc>
              <a:spcBef>
                <a:spcPts val="1200"/>
              </a:spcBef>
              <a:spcAft>
                <a:spcPts val="0"/>
              </a:spcAft>
              <a:buClr>
                <a:schemeClr val="dk1"/>
              </a:buClr>
              <a:buSzPts val="1600"/>
              <a:buFont typeface="Arial"/>
              <a:buChar char="•"/>
            </a:pPr>
            <a:r>
              <a:rPr b="0" i="0" lang="en-US" sz="1600" u="none" cap="none" strike="noStrike">
                <a:solidFill>
                  <a:schemeClr val="dk1"/>
                </a:solidFill>
                <a:latin typeface="Calibri"/>
                <a:ea typeface="Calibri"/>
                <a:cs typeface="Calibri"/>
                <a:sym typeface="Calibri"/>
              </a:rPr>
              <a:t>Caution: They are really sensitive schools and if you come oﬀ with vibe that the school is your safety school  you’ll be REJECTED. If you’d consider getting admitted into a tight knit ‘small’ school, its paramount that you  show demonstrated interest to the admissions panel through mature and calculated emails, attendance of  webinars and contact with professors, alumni and college representatives.</a:t>
            </a:r>
            <a:endParaRPr b="0" i="0" sz="1600" u="none" cap="none" strike="noStrike">
              <a:solidFill>
                <a:schemeClr val="dk1"/>
              </a:solidFill>
              <a:latin typeface="Calibri"/>
              <a:ea typeface="Calibri"/>
              <a:cs typeface="Calibri"/>
              <a:sym typeface="Calibri"/>
            </a:endParaRPr>
          </a:p>
          <a:p>
            <a:pPr indent="-101600" lvl="0" marL="12700" marR="0" rtl="0" algn="l">
              <a:lnSpc>
                <a:spcPct val="90000"/>
              </a:lnSpc>
              <a:spcBef>
                <a:spcPts val="1280"/>
              </a:spcBef>
              <a:spcAft>
                <a:spcPts val="0"/>
              </a:spcAft>
              <a:buClr>
                <a:schemeClr val="dk1"/>
              </a:buClr>
              <a:buSzPts val="1600"/>
              <a:buFont typeface="Arial"/>
              <a:buChar char="•"/>
            </a:pPr>
            <a:r>
              <a:rPr b="1" i="0" lang="en-US" sz="1600" u="none" cap="none" strike="noStrike">
                <a:solidFill>
                  <a:schemeClr val="dk1"/>
                </a:solidFill>
                <a:latin typeface="Calibri"/>
                <a:ea typeface="Calibri"/>
                <a:cs typeface="Calibri"/>
                <a:sym typeface="Calibri"/>
              </a:rPr>
              <a:t>I.e Erick Mbugua- Northwestern University ‘24 Admitted: Amherst/Madison- STEM/Entrepreneur/Actor.</a:t>
            </a:r>
            <a:endParaRPr b="1" i="0" sz="16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6" name="Shape 176"/>
        <p:cNvGrpSpPr/>
        <p:nvPr/>
      </p:nvGrpSpPr>
      <p:grpSpPr>
        <a:xfrm>
          <a:off x="0" y="0"/>
          <a:ext cx="0" cy="0"/>
          <a:chOff x="0" y="0"/>
          <a:chExt cx="0" cy="0"/>
        </a:xfrm>
      </p:grpSpPr>
      <p:sp>
        <p:nvSpPr>
          <p:cNvPr id="177" name="Google Shape;177;p10"/>
          <p:cNvSpPr/>
          <p:nvPr/>
        </p:nvSpPr>
        <p:spPr>
          <a:xfrm>
            <a:off x="0" y="0"/>
            <a:ext cx="9141714" cy="5143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8" name="Google Shape;178;p10"/>
          <p:cNvSpPr/>
          <p:nvPr/>
        </p:nvSpPr>
        <p:spPr>
          <a:xfrm rot="8888549">
            <a:off x="-794604" y="-831741"/>
            <a:ext cx="5384871" cy="3919923"/>
          </a:xfrm>
          <a:custGeom>
            <a:rect b="b" l="l" r="r" t="t"/>
            <a:pathLst>
              <a:path extrusionOk="0" h="5226565" w="7179830">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9" name="Google Shape;179;p10"/>
          <p:cNvSpPr txBox="1"/>
          <p:nvPr>
            <p:ph type="title"/>
          </p:nvPr>
        </p:nvSpPr>
        <p:spPr>
          <a:xfrm>
            <a:off x="630934" y="505327"/>
            <a:ext cx="2733367" cy="1810866"/>
          </a:xfrm>
          <a:prstGeom prst="rect">
            <a:avLst/>
          </a:prstGeom>
          <a:noFill/>
          <a:ln>
            <a:noFill/>
          </a:ln>
        </p:spPr>
        <p:txBody>
          <a:bodyPr anchorCtr="0" anchor="t" bIns="0" lIns="0" spcFirstLastPara="1" rIns="0" wrap="square" tIns="12700">
            <a:normAutofit/>
          </a:bodyPr>
          <a:lstStyle/>
          <a:p>
            <a:pPr indent="0" lvl="0" marL="12700" rtl="0" algn="l">
              <a:lnSpc>
                <a:spcPct val="90000"/>
              </a:lnSpc>
              <a:spcBef>
                <a:spcPts val="0"/>
              </a:spcBef>
              <a:spcAft>
                <a:spcPts val="0"/>
              </a:spcAft>
              <a:buClr>
                <a:srgbClr val="FFFFFF"/>
              </a:buClr>
              <a:buSzPts val="4100"/>
              <a:buFont typeface="Calibri"/>
              <a:buNone/>
            </a:pPr>
            <a:r>
              <a:rPr lang="en-US" sz="4100">
                <a:solidFill>
                  <a:srgbClr val="FFFFFF"/>
                </a:solidFill>
              </a:rPr>
              <a:t>IVIES and their parameters.</a:t>
            </a:r>
            <a:endParaRPr/>
          </a:p>
        </p:txBody>
      </p:sp>
      <p:sp>
        <p:nvSpPr>
          <p:cNvPr id="180" name="Google Shape;180;p10"/>
          <p:cNvSpPr txBox="1"/>
          <p:nvPr>
            <p:ph idx="1" type="body"/>
          </p:nvPr>
        </p:nvSpPr>
        <p:spPr>
          <a:xfrm>
            <a:off x="4419601" y="661736"/>
            <a:ext cx="4093464" cy="4119814"/>
          </a:xfrm>
          <a:prstGeom prst="rect">
            <a:avLst/>
          </a:prstGeom>
          <a:noFill/>
          <a:ln>
            <a:noFill/>
          </a:ln>
        </p:spPr>
        <p:txBody>
          <a:bodyPr anchorCtr="0" anchor="t" bIns="0" lIns="0" spcFirstLastPara="1" rIns="0" wrap="square" tIns="13950">
            <a:normAutofit/>
          </a:bodyPr>
          <a:lstStyle/>
          <a:p>
            <a:pPr indent="-69850" lvl="0" marL="26034" rtl="0" algn="l">
              <a:lnSpc>
                <a:spcPct val="90000"/>
              </a:lnSpc>
              <a:spcBef>
                <a:spcPts val="0"/>
              </a:spcBef>
              <a:spcAft>
                <a:spcPts val="0"/>
              </a:spcAft>
              <a:buClr>
                <a:schemeClr val="dk1"/>
              </a:buClr>
              <a:buSzPts val="1100"/>
              <a:buChar char="•"/>
            </a:pPr>
            <a:r>
              <a:rPr lang="en-US" sz="1100"/>
              <a:t>The University of Pennsylvania.</a:t>
            </a:r>
            <a:endParaRPr/>
          </a:p>
          <a:p>
            <a:pPr indent="-69850" lvl="0" marL="26034" marR="5080" rtl="0" algn="l">
              <a:lnSpc>
                <a:spcPct val="90000"/>
              </a:lnSpc>
              <a:spcBef>
                <a:spcPts val="1200"/>
              </a:spcBef>
              <a:spcAft>
                <a:spcPts val="0"/>
              </a:spcAft>
              <a:buClr>
                <a:schemeClr val="dk1"/>
              </a:buClr>
              <a:buSzPts val="1100"/>
              <a:buChar char="•"/>
            </a:pPr>
            <a:r>
              <a:rPr lang="en-US" sz="1100"/>
              <a:t>Upenn has an array of programs that have diﬀerent missions and values. The catch is to brand yourself in alignment to its  core values ﬁrst being an interdisciplinary approach to learning. The programs: NHCM, Huntsman, Vagelos Life Sciences  and Management, VIPER-Energy Research, Jerome- Management and Technology, Biodent, Rajendra Social Systems  Engineering allow you to cast you shot to two schools at the same time thus if push comes to shove and you are not ﬁt you  might get admitted to one of the schools or otherwise get REJECTED.</a:t>
            </a:r>
            <a:endParaRPr/>
          </a:p>
          <a:p>
            <a:pPr indent="56514" lvl="0" marL="13334" rtl="0" algn="l">
              <a:lnSpc>
                <a:spcPct val="90000"/>
              </a:lnSpc>
              <a:spcBef>
                <a:spcPts val="30"/>
              </a:spcBef>
              <a:spcAft>
                <a:spcPts val="0"/>
              </a:spcAft>
              <a:buClr>
                <a:schemeClr val="dk1"/>
              </a:buClr>
              <a:buSzPts val="1100"/>
              <a:buNone/>
            </a:pPr>
            <a:r>
              <a:t/>
            </a:r>
            <a:endParaRPr sz="1100"/>
          </a:p>
          <a:p>
            <a:pPr indent="-69850" lvl="0" marL="26034" rtl="0" algn="l">
              <a:lnSpc>
                <a:spcPct val="90000"/>
              </a:lnSpc>
              <a:spcBef>
                <a:spcPts val="750"/>
              </a:spcBef>
              <a:spcAft>
                <a:spcPts val="0"/>
              </a:spcAft>
              <a:buClr>
                <a:schemeClr val="dk1"/>
              </a:buClr>
              <a:buSzPts val="1100"/>
              <a:buChar char="•"/>
            </a:pPr>
            <a:r>
              <a:rPr lang="en-US" sz="1100"/>
              <a:t>Ivies=SPECIFICITY. Your app should scream your theme loudly on paper.</a:t>
            </a:r>
            <a:endParaRPr/>
          </a:p>
          <a:p>
            <a:pPr indent="56514" lvl="0" marL="13334" rtl="0" algn="l">
              <a:lnSpc>
                <a:spcPct val="90000"/>
              </a:lnSpc>
              <a:spcBef>
                <a:spcPts val="30"/>
              </a:spcBef>
              <a:spcAft>
                <a:spcPts val="0"/>
              </a:spcAft>
              <a:buClr>
                <a:schemeClr val="dk1"/>
              </a:buClr>
              <a:buSzPts val="1100"/>
              <a:buNone/>
            </a:pPr>
            <a:r>
              <a:t/>
            </a:r>
            <a:endParaRPr sz="1100"/>
          </a:p>
          <a:p>
            <a:pPr indent="-69850" lvl="0" marL="26034" rtl="0" algn="l">
              <a:lnSpc>
                <a:spcPct val="90000"/>
              </a:lnSpc>
              <a:spcBef>
                <a:spcPts val="5"/>
              </a:spcBef>
              <a:spcAft>
                <a:spcPts val="0"/>
              </a:spcAft>
              <a:buClr>
                <a:schemeClr val="dk1"/>
              </a:buClr>
              <a:buSzPts val="1100"/>
              <a:buChar char="•"/>
            </a:pPr>
            <a:r>
              <a:rPr lang="en-US" sz="1100"/>
              <a:t>PENN LOOKS FOR ACADEMIC VIABILITY AND ENERGY FOR WORK AND COMMUNITY ENGAGEMENT.</a:t>
            </a:r>
            <a:endParaRPr/>
          </a:p>
          <a:p>
            <a:pPr indent="56514" lvl="0" marL="13334" rtl="0" algn="l">
              <a:lnSpc>
                <a:spcPct val="90000"/>
              </a:lnSpc>
              <a:spcBef>
                <a:spcPts val="30"/>
              </a:spcBef>
              <a:spcAft>
                <a:spcPts val="0"/>
              </a:spcAft>
              <a:buClr>
                <a:schemeClr val="dk1"/>
              </a:buClr>
              <a:buSzPts val="1100"/>
              <a:buNone/>
            </a:pPr>
            <a:r>
              <a:t/>
            </a:r>
            <a:endParaRPr sz="1100"/>
          </a:p>
          <a:p>
            <a:pPr indent="-69850" lvl="0" marL="26034" rtl="0" algn="l">
              <a:lnSpc>
                <a:spcPct val="90000"/>
              </a:lnSpc>
              <a:spcBef>
                <a:spcPts val="750"/>
              </a:spcBef>
              <a:spcAft>
                <a:spcPts val="0"/>
              </a:spcAft>
              <a:buClr>
                <a:schemeClr val="dk1"/>
              </a:buClr>
              <a:buSzPts val="1100"/>
              <a:buChar char="•"/>
            </a:pPr>
            <a:r>
              <a:rPr lang="en-US" sz="1100"/>
              <a:t>Leon Kahara- Upenn ‘25- Majored on engineering leading to Penn SEAS</a:t>
            </a:r>
            <a:endParaRPr/>
          </a:p>
          <a:p>
            <a:pPr indent="-69850" lvl="0" marL="26034" marR="881380" rtl="0" algn="l">
              <a:lnSpc>
                <a:spcPct val="90000"/>
              </a:lnSpc>
              <a:spcBef>
                <a:spcPts val="750"/>
              </a:spcBef>
              <a:spcAft>
                <a:spcPts val="0"/>
              </a:spcAft>
              <a:buClr>
                <a:schemeClr val="dk1"/>
              </a:buClr>
              <a:buSzPts val="1100"/>
              <a:buChar char="•"/>
            </a:pPr>
            <a:r>
              <a:rPr lang="en-US" sz="1100"/>
              <a:t>Sydney Karimi- Upenn ‘25 - Majored on engineering. P.S Her Common app essay was even tied to Hormones!  Swaib Okita- Upenn ‘25 - Majored in Business thus Wharton.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4" name="Shape 184"/>
        <p:cNvGrpSpPr/>
        <p:nvPr/>
      </p:nvGrpSpPr>
      <p:grpSpPr>
        <a:xfrm>
          <a:off x="0" y="0"/>
          <a:ext cx="0" cy="0"/>
          <a:chOff x="0" y="0"/>
          <a:chExt cx="0" cy="0"/>
        </a:xfrm>
      </p:grpSpPr>
      <p:sp>
        <p:nvSpPr>
          <p:cNvPr id="185" name="Google Shape;185;p11"/>
          <p:cNvSpPr/>
          <p:nvPr/>
        </p:nvSpPr>
        <p:spPr>
          <a:xfrm>
            <a:off x="0" y="0"/>
            <a:ext cx="9141714" cy="5143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6" name="Google Shape;186;p11"/>
          <p:cNvSpPr/>
          <p:nvPr/>
        </p:nvSpPr>
        <p:spPr>
          <a:xfrm>
            <a:off x="0" y="0"/>
            <a:ext cx="9144000" cy="1760560"/>
          </a:xfrm>
          <a:custGeom>
            <a:rect b="b" l="l" r="r" t="t"/>
            <a:pathLst>
              <a:path extrusionOk="0" h="2347414" w="12192000">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7" name="Google Shape;187;p11"/>
          <p:cNvSpPr txBox="1"/>
          <p:nvPr>
            <p:ph type="title"/>
          </p:nvPr>
        </p:nvSpPr>
        <p:spPr>
          <a:xfrm>
            <a:off x="628650" y="300915"/>
            <a:ext cx="7886700" cy="1011049"/>
          </a:xfrm>
          <a:prstGeom prst="rect">
            <a:avLst/>
          </a:prstGeom>
          <a:noFill/>
          <a:ln>
            <a:noFill/>
          </a:ln>
        </p:spPr>
        <p:txBody>
          <a:bodyPr anchorCtr="0" anchor="ctr" bIns="45700" lIns="91425" spcFirstLastPara="1" rIns="91425" wrap="square" tIns="45700">
            <a:normAutofit/>
          </a:bodyPr>
          <a:lstStyle/>
          <a:p>
            <a:pPr indent="0" lvl="0" marL="12700" rtl="0" algn="l">
              <a:lnSpc>
                <a:spcPct val="90000"/>
              </a:lnSpc>
              <a:spcBef>
                <a:spcPts val="0"/>
              </a:spcBef>
              <a:spcAft>
                <a:spcPts val="0"/>
              </a:spcAft>
              <a:buClr>
                <a:srgbClr val="FFFFFF"/>
              </a:buClr>
              <a:buSzPts val="4100"/>
              <a:buFont typeface="Calibri"/>
              <a:buNone/>
            </a:pPr>
            <a:r>
              <a:rPr lang="en-US" sz="4100">
                <a:solidFill>
                  <a:srgbClr val="FFFFFF"/>
                </a:solidFill>
                <a:latin typeface="Calibri"/>
                <a:ea typeface="Calibri"/>
                <a:cs typeface="Calibri"/>
                <a:sym typeface="Calibri"/>
              </a:rPr>
              <a:t>Yale University.</a:t>
            </a:r>
            <a:endParaRPr/>
          </a:p>
        </p:txBody>
      </p:sp>
      <p:sp>
        <p:nvSpPr>
          <p:cNvPr id="188" name="Google Shape;188;p11"/>
          <p:cNvSpPr txBox="1"/>
          <p:nvPr/>
        </p:nvSpPr>
        <p:spPr>
          <a:xfrm>
            <a:off x="628650" y="1940091"/>
            <a:ext cx="7886700" cy="2692631"/>
          </a:xfrm>
          <a:prstGeom prst="rect">
            <a:avLst/>
          </a:prstGeom>
          <a:noFill/>
          <a:ln>
            <a:noFill/>
          </a:ln>
        </p:spPr>
        <p:txBody>
          <a:bodyPr anchorCtr="0" anchor="t" bIns="45700" lIns="91425" spcFirstLastPara="1" rIns="91425" wrap="square" tIns="45700">
            <a:normAutofit/>
          </a:bodyPr>
          <a:lstStyle/>
          <a:p>
            <a:pPr indent="-76200" lvl="0" marL="12700" marR="0" rtl="0" algn="l">
              <a:lnSpc>
                <a:spcPct val="90000"/>
              </a:lnSpc>
              <a:spcBef>
                <a:spcPts val="0"/>
              </a:spcBef>
              <a:spcAft>
                <a:spcPts val="0"/>
              </a:spcAft>
              <a:buClr>
                <a:schemeClr val="dk1"/>
              </a:buClr>
              <a:buSzPts val="1200"/>
              <a:buFont typeface="Arial"/>
              <a:buChar char="•"/>
            </a:pPr>
            <a:r>
              <a:rPr b="0" i="0" lang="en-US" sz="1200" u="sng" cap="none" strike="noStrike">
                <a:solidFill>
                  <a:schemeClr val="dk1"/>
                </a:solidFill>
                <a:latin typeface="Calibri"/>
                <a:ea typeface="Calibri"/>
                <a:cs typeface="Calibri"/>
                <a:sym typeface="Calibri"/>
                <a:hlinkClick r:id="rId3">
                  <a:extLst>
                    <a:ext uri="{A12FA001-AC4F-418D-AE19-62706E023703}">
                      <ahyp:hlinkClr val="tx"/>
                    </a:ext>
                  </a:extLst>
                </a:hlinkClick>
              </a:rPr>
              <a:t>https://admissions.yale.edu/podcast</a:t>
            </a:r>
            <a:endParaRPr b="0" i="0" sz="1200" u="none" cap="none" strike="noStrike">
              <a:solidFill>
                <a:schemeClr val="dk1"/>
              </a:solidFill>
              <a:latin typeface="Calibri"/>
              <a:ea typeface="Calibri"/>
              <a:cs typeface="Calibri"/>
              <a:sym typeface="Calibri"/>
            </a:endParaRPr>
          </a:p>
          <a:p>
            <a:pPr indent="-76200" lvl="0" marL="12700" marR="165735" rtl="0" algn="l">
              <a:lnSpc>
                <a:spcPct val="90000"/>
              </a:lnSpc>
              <a:spcBef>
                <a:spcPts val="1235"/>
              </a:spcBef>
              <a:spcAft>
                <a:spcPts val="0"/>
              </a:spcAft>
              <a:buClr>
                <a:schemeClr val="dk1"/>
              </a:buClr>
              <a:buSzPts val="1200"/>
              <a:buFont typeface="Arial"/>
              <a:buChar char="•"/>
            </a:pPr>
            <a:r>
              <a:rPr b="0" i="0" lang="en-US" sz="1200" u="none" cap="none" strike="noStrike">
                <a:solidFill>
                  <a:schemeClr val="dk1"/>
                </a:solidFill>
                <a:latin typeface="Calibri"/>
                <a:ea typeface="Calibri"/>
                <a:cs typeface="Calibri"/>
                <a:sym typeface="Calibri"/>
              </a:rPr>
              <a:t>Yale published their way of reviewing applications last year in their podcast stated above. Yale is a pro-essay  school; they need to see you through your essays so members in the committee include the AREA admissions  oﬃcer, a senior admissions oﬃcer and Professors in multiple ﬁelds.</a:t>
            </a:r>
            <a:endParaRPr b="0" i="0" sz="1200" u="none" cap="none" strike="noStrike">
              <a:solidFill>
                <a:schemeClr val="dk1"/>
              </a:solidFill>
              <a:latin typeface="Calibri"/>
              <a:ea typeface="Calibri"/>
              <a:cs typeface="Calibri"/>
              <a:sym typeface="Calibri"/>
            </a:endParaRPr>
          </a:p>
          <a:p>
            <a:pPr indent="-76200" lvl="0" marL="12700" marR="263525" rtl="0" algn="l">
              <a:lnSpc>
                <a:spcPct val="90000"/>
              </a:lnSpc>
              <a:spcBef>
                <a:spcPts val="1205"/>
              </a:spcBef>
              <a:spcAft>
                <a:spcPts val="0"/>
              </a:spcAft>
              <a:buClr>
                <a:schemeClr val="dk1"/>
              </a:buClr>
              <a:buSzPts val="1200"/>
              <a:buFont typeface="Arial"/>
              <a:buChar char="•"/>
            </a:pPr>
            <a:r>
              <a:rPr b="0" i="0" lang="en-US" sz="1200" u="none" cap="none" strike="noStrike">
                <a:solidFill>
                  <a:schemeClr val="dk1"/>
                </a:solidFill>
                <a:latin typeface="Calibri"/>
                <a:ea typeface="Calibri"/>
                <a:cs typeface="Calibri"/>
                <a:sym typeface="Calibri"/>
              </a:rPr>
              <a:t>In essence, your niche should be in a couple of things yet tied to the same thing so that you get more votes in  your favour at the deciding table.</a:t>
            </a:r>
            <a:endParaRPr b="0" i="0" sz="1200" u="none" cap="none" strike="noStrike">
              <a:solidFill>
                <a:schemeClr val="dk1"/>
              </a:solidFill>
              <a:latin typeface="Calibri"/>
              <a:ea typeface="Calibri"/>
              <a:cs typeface="Calibri"/>
              <a:sym typeface="Calibri"/>
            </a:endParaRPr>
          </a:p>
          <a:p>
            <a:pPr indent="-76200" lvl="0" marL="12700" marR="229234" rtl="0" algn="l">
              <a:lnSpc>
                <a:spcPct val="90000"/>
              </a:lnSpc>
              <a:spcBef>
                <a:spcPts val="1200"/>
              </a:spcBef>
              <a:spcAft>
                <a:spcPts val="0"/>
              </a:spcAft>
              <a:buClr>
                <a:schemeClr val="dk1"/>
              </a:buClr>
              <a:buSzPts val="1200"/>
              <a:buFont typeface="Arial"/>
              <a:buChar char="•"/>
            </a:pPr>
            <a:r>
              <a:rPr b="0" i="0" lang="en-US" sz="1200" u="none" cap="none" strike="noStrike">
                <a:solidFill>
                  <a:schemeClr val="dk1"/>
                </a:solidFill>
                <a:latin typeface="Calibri"/>
                <a:ea typeface="Calibri"/>
                <a:cs typeface="Calibri"/>
                <a:sym typeface="Calibri"/>
              </a:rPr>
              <a:t>What works in the YALE essays: it’s a window of opportunity to state who you are{look at it as a vivid written  interview}, Show only, Be reﬂective it’s all about you, maintain your writing voice.</a:t>
            </a:r>
            <a:endParaRPr b="0" i="0" sz="1200" u="none" cap="none" strike="noStrike">
              <a:solidFill>
                <a:schemeClr val="dk1"/>
              </a:solidFill>
              <a:latin typeface="Calibri"/>
              <a:ea typeface="Calibri"/>
              <a:cs typeface="Calibri"/>
              <a:sym typeface="Calibri"/>
            </a:endParaRPr>
          </a:p>
          <a:p>
            <a:pPr indent="-76200" lvl="0" marL="12700" marR="5080" rtl="0" algn="l">
              <a:lnSpc>
                <a:spcPct val="90000"/>
              </a:lnSpc>
              <a:spcBef>
                <a:spcPts val="1200"/>
              </a:spcBef>
              <a:spcAft>
                <a:spcPts val="0"/>
              </a:spcAft>
              <a:buClr>
                <a:schemeClr val="dk1"/>
              </a:buClr>
              <a:buSzPts val="1200"/>
              <a:buFont typeface="Arial"/>
              <a:buChar char="•"/>
            </a:pPr>
            <a:r>
              <a:rPr b="0" i="0" lang="en-US" sz="1200" u="none" cap="none" strike="noStrike">
                <a:solidFill>
                  <a:schemeClr val="dk1"/>
                </a:solidFill>
                <a:latin typeface="Calibri"/>
                <a:ea typeface="Calibri"/>
                <a:cs typeface="Calibri"/>
                <a:sym typeface="Calibri"/>
              </a:rPr>
              <a:t>WINNER TOPICS : Change in perception but appreciative of their past logic, Show the capacity for growth and  desire to build relationships, real passions that morph into an animated image you are and could be, conveying  the inﬂuence of a place or background in your life, an experience that humbles you and makes you critical about  self without wallowing in self pity.</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2" name="Shape 192"/>
        <p:cNvGrpSpPr/>
        <p:nvPr/>
      </p:nvGrpSpPr>
      <p:grpSpPr>
        <a:xfrm>
          <a:off x="0" y="0"/>
          <a:ext cx="0" cy="0"/>
          <a:chOff x="0" y="0"/>
          <a:chExt cx="0" cy="0"/>
        </a:xfrm>
      </p:grpSpPr>
      <p:sp>
        <p:nvSpPr>
          <p:cNvPr id="193" name="Google Shape;193;p12"/>
          <p:cNvSpPr/>
          <p:nvPr/>
        </p:nvSpPr>
        <p:spPr>
          <a:xfrm>
            <a:off x="0" y="0"/>
            <a:ext cx="9141714" cy="5143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94" name="Google Shape;194;p12"/>
          <p:cNvSpPr/>
          <p:nvPr/>
        </p:nvSpPr>
        <p:spPr>
          <a:xfrm rot="8888549">
            <a:off x="-794604" y="-831741"/>
            <a:ext cx="5384871" cy="3919923"/>
          </a:xfrm>
          <a:custGeom>
            <a:rect b="b" l="l" r="r" t="t"/>
            <a:pathLst>
              <a:path extrusionOk="0" h="5226565" w="7179830">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5" name="Google Shape;195;p12"/>
          <p:cNvSpPr txBox="1"/>
          <p:nvPr>
            <p:ph type="title"/>
          </p:nvPr>
        </p:nvSpPr>
        <p:spPr>
          <a:xfrm>
            <a:off x="630934" y="505327"/>
            <a:ext cx="2733367" cy="1810866"/>
          </a:xfrm>
          <a:prstGeom prst="rect">
            <a:avLst/>
          </a:prstGeom>
          <a:noFill/>
          <a:ln>
            <a:noFill/>
          </a:ln>
        </p:spPr>
        <p:txBody>
          <a:bodyPr anchorCtr="0" anchor="t" bIns="45700" lIns="91425" spcFirstLastPara="1" rIns="91425" wrap="square" tIns="45700">
            <a:normAutofit/>
          </a:bodyPr>
          <a:lstStyle/>
          <a:p>
            <a:pPr indent="0" lvl="0" marL="12700" rtl="0" algn="l">
              <a:lnSpc>
                <a:spcPct val="90000"/>
              </a:lnSpc>
              <a:spcBef>
                <a:spcPts val="0"/>
              </a:spcBef>
              <a:spcAft>
                <a:spcPts val="0"/>
              </a:spcAft>
              <a:buClr>
                <a:srgbClr val="FFFFFF"/>
              </a:buClr>
              <a:buSzPts val="4100"/>
              <a:buFont typeface="Calibri"/>
              <a:buNone/>
            </a:pPr>
            <a:r>
              <a:rPr lang="en-US" sz="4100">
                <a:solidFill>
                  <a:srgbClr val="FFFFFF"/>
                </a:solidFill>
                <a:latin typeface="Calibri"/>
                <a:ea typeface="Calibri"/>
                <a:cs typeface="Calibri"/>
                <a:sym typeface="Calibri"/>
              </a:rPr>
              <a:t>Cornell University.</a:t>
            </a:r>
            <a:endParaRPr/>
          </a:p>
        </p:txBody>
      </p:sp>
      <p:sp>
        <p:nvSpPr>
          <p:cNvPr id="196" name="Google Shape;196;p12"/>
          <p:cNvSpPr txBox="1"/>
          <p:nvPr/>
        </p:nvSpPr>
        <p:spPr>
          <a:xfrm>
            <a:off x="4571999" y="661736"/>
            <a:ext cx="3941065" cy="3970985"/>
          </a:xfrm>
          <a:prstGeom prst="rect">
            <a:avLst/>
          </a:prstGeom>
          <a:noFill/>
          <a:ln>
            <a:noFill/>
          </a:ln>
        </p:spPr>
        <p:txBody>
          <a:bodyPr anchorCtr="0" anchor="t" bIns="45700" lIns="91425" spcFirstLastPara="1" rIns="91425" wrap="square" tIns="45700">
            <a:normAutofit/>
          </a:bodyPr>
          <a:lstStyle/>
          <a:p>
            <a:pPr indent="-82550" lvl="0" marL="12700" marR="421640" rtl="0" algn="l">
              <a:lnSpc>
                <a:spcPct val="90000"/>
              </a:lnSpc>
              <a:spcBef>
                <a:spcPts val="0"/>
              </a:spcBef>
              <a:spcAft>
                <a:spcPts val="0"/>
              </a:spcAft>
              <a:buClr>
                <a:schemeClr val="dk1"/>
              </a:buClr>
              <a:buSzPts val="1300"/>
              <a:buFont typeface="Arial"/>
              <a:buChar char="•"/>
            </a:pPr>
            <a:r>
              <a:rPr b="0" i="0" lang="en-US" sz="1300" u="none" cap="none" strike="noStrike">
                <a:solidFill>
                  <a:schemeClr val="dk1"/>
                </a:solidFill>
                <a:latin typeface="Calibri"/>
                <a:ea typeface="Calibri"/>
                <a:cs typeface="Calibri"/>
                <a:sym typeface="Calibri"/>
              </a:rPr>
              <a:t>Principle of ANY PERSON...ANY STUDY. Show in-depth interest in any of the  schools at Cornell and elaborate earnestly why you want to attend Cornell(650  words).For example, a candidate submitting an application to Cornell school of  Ecology would be in a good position if he or she could align themselves to the core  values which include translational research and interdisciplinary studies.</a:t>
            </a:r>
            <a:endParaRPr b="0" i="0" sz="1300" u="none" cap="none" strike="noStrike">
              <a:solidFill>
                <a:schemeClr val="dk1"/>
              </a:solidFill>
              <a:latin typeface="Calibri"/>
              <a:ea typeface="Calibri"/>
              <a:cs typeface="Calibri"/>
              <a:sym typeface="Calibri"/>
            </a:endParaRPr>
          </a:p>
          <a:p>
            <a:pPr indent="-82550" lvl="0" marL="12700" marR="5080" rtl="0" algn="l">
              <a:lnSpc>
                <a:spcPct val="90000"/>
              </a:lnSpc>
              <a:spcBef>
                <a:spcPts val="1210"/>
              </a:spcBef>
              <a:spcAft>
                <a:spcPts val="0"/>
              </a:spcAft>
              <a:buClr>
                <a:schemeClr val="dk1"/>
              </a:buClr>
              <a:buSzPts val="1300"/>
              <a:buFont typeface="Arial"/>
              <a:buChar char="•"/>
            </a:pPr>
            <a:r>
              <a:rPr b="0" i="0" lang="en-US" sz="1300" u="none" cap="none" strike="noStrike">
                <a:solidFill>
                  <a:schemeClr val="dk1"/>
                </a:solidFill>
                <a:latin typeface="Calibri"/>
                <a:ea typeface="Calibri"/>
                <a:cs typeface="Calibri"/>
                <a:sym typeface="Calibri"/>
              </a:rPr>
              <a:t>It’s also advisable to cast your shot in less competitive colleges at Cornell especially if it  is in line with your major i.e CALS, The school of Hotel Administration, Industrial and  labour relations and college of Human Ecology.</a:t>
            </a:r>
            <a:endParaRPr b="0" i="0" sz="1300" u="none" cap="none" strike="noStrike">
              <a:solidFill>
                <a:schemeClr val="dk1"/>
              </a:solidFill>
              <a:latin typeface="Calibri"/>
              <a:ea typeface="Calibri"/>
              <a:cs typeface="Calibri"/>
              <a:sym typeface="Calibri"/>
            </a:endParaRPr>
          </a:p>
          <a:p>
            <a:pPr indent="-82550" lvl="0" marL="12700" marR="147955" rtl="0" algn="l">
              <a:lnSpc>
                <a:spcPct val="90000"/>
              </a:lnSpc>
              <a:spcBef>
                <a:spcPts val="1205"/>
              </a:spcBef>
              <a:spcAft>
                <a:spcPts val="0"/>
              </a:spcAft>
              <a:buClr>
                <a:schemeClr val="dk1"/>
              </a:buClr>
              <a:buSzPts val="1300"/>
              <a:buFont typeface="Arial"/>
              <a:buChar char="•"/>
            </a:pPr>
            <a:r>
              <a:rPr b="0" i="0" lang="en-US" sz="1300" u="none" cap="none" strike="noStrike">
                <a:solidFill>
                  <a:schemeClr val="dk1"/>
                </a:solidFill>
                <a:latin typeface="Calibri"/>
                <a:ea typeface="Calibri"/>
                <a:cs typeface="Calibri"/>
                <a:sym typeface="Calibri"/>
              </a:rPr>
              <a:t>The Cornell Catch: Greater emphasis on your background contributing to your why  school and why major X, Greater emphasis on research and academics when applying  to competitive colleges. STAND OUT! YOU ARE THE PRIZE !!!</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0" name="Shape 200"/>
        <p:cNvGrpSpPr/>
        <p:nvPr/>
      </p:nvGrpSpPr>
      <p:grpSpPr>
        <a:xfrm>
          <a:off x="0" y="0"/>
          <a:ext cx="0" cy="0"/>
          <a:chOff x="0" y="0"/>
          <a:chExt cx="0" cy="0"/>
        </a:xfrm>
      </p:grpSpPr>
      <p:sp>
        <p:nvSpPr>
          <p:cNvPr id="201" name="Google Shape;201;p13"/>
          <p:cNvSpPr/>
          <p:nvPr/>
        </p:nvSpPr>
        <p:spPr>
          <a:xfrm>
            <a:off x="2286" y="0"/>
            <a:ext cx="9141714" cy="5143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2" name="Google Shape;202;p13"/>
          <p:cNvSpPr/>
          <p:nvPr/>
        </p:nvSpPr>
        <p:spPr>
          <a:xfrm>
            <a:off x="366891" y="839273"/>
            <a:ext cx="3464954" cy="3464953"/>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3" name="Google Shape;203;p13"/>
          <p:cNvSpPr txBox="1"/>
          <p:nvPr>
            <p:ph type="title"/>
          </p:nvPr>
        </p:nvSpPr>
        <p:spPr>
          <a:xfrm>
            <a:off x="878305" y="1047514"/>
            <a:ext cx="2430380" cy="3048471"/>
          </a:xfrm>
          <a:prstGeom prst="rect">
            <a:avLst/>
          </a:prstGeom>
          <a:noFill/>
          <a:ln>
            <a:noFill/>
          </a:ln>
        </p:spPr>
        <p:txBody>
          <a:bodyPr anchorCtr="0" anchor="ctr" bIns="45700" lIns="91425" spcFirstLastPara="1" rIns="91425" wrap="square" tIns="45700">
            <a:normAutofit/>
          </a:bodyPr>
          <a:lstStyle/>
          <a:p>
            <a:pPr indent="0" lvl="0" marL="12700" rtl="0" algn="l">
              <a:lnSpc>
                <a:spcPct val="90000"/>
              </a:lnSpc>
              <a:spcBef>
                <a:spcPts val="0"/>
              </a:spcBef>
              <a:spcAft>
                <a:spcPts val="0"/>
              </a:spcAft>
              <a:buClr>
                <a:srgbClr val="FFFFFF"/>
              </a:buClr>
              <a:buSzPts val="4400"/>
              <a:buFont typeface="Calibri"/>
              <a:buNone/>
            </a:pPr>
            <a:r>
              <a:rPr lang="en-US" sz="4400">
                <a:solidFill>
                  <a:srgbClr val="FFFFFF"/>
                </a:solidFill>
                <a:latin typeface="Calibri"/>
                <a:ea typeface="Calibri"/>
                <a:cs typeface="Calibri"/>
                <a:sym typeface="Calibri"/>
              </a:rPr>
              <a:t>Brown University.</a:t>
            </a:r>
            <a:endParaRPr/>
          </a:p>
        </p:txBody>
      </p:sp>
      <p:sp>
        <p:nvSpPr>
          <p:cNvPr id="204" name="Google Shape;204;p13"/>
          <p:cNvSpPr/>
          <p:nvPr/>
        </p:nvSpPr>
        <p:spPr>
          <a:xfrm rot="-1790889">
            <a:off x="6512790" y="705861"/>
            <a:ext cx="2240924" cy="2240924"/>
          </a:xfrm>
          <a:prstGeom prst="arc">
            <a:avLst>
              <a:gd fmla="val 15817365" name="adj1"/>
              <a:gd fmla="val 178138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05" name="Google Shape;205;p13"/>
          <p:cNvSpPr/>
          <p:nvPr/>
        </p:nvSpPr>
        <p:spPr>
          <a:xfrm>
            <a:off x="682536" y="3585744"/>
            <a:ext cx="409575" cy="409575"/>
          </a:xfrm>
          <a:prstGeom prst="ellipse">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6" name="Google Shape;206;p13"/>
          <p:cNvSpPr txBox="1"/>
          <p:nvPr/>
        </p:nvSpPr>
        <p:spPr>
          <a:xfrm>
            <a:off x="3886200" y="839273"/>
            <a:ext cx="4293712" cy="4007392"/>
          </a:xfrm>
          <a:prstGeom prst="rect">
            <a:avLst/>
          </a:prstGeom>
          <a:noFill/>
          <a:ln>
            <a:noFill/>
          </a:ln>
        </p:spPr>
        <p:txBody>
          <a:bodyPr anchorCtr="0" anchor="t" bIns="45700" lIns="91425" spcFirstLastPara="1" rIns="91425" wrap="square" tIns="45700">
            <a:normAutofit/>
          </a:bodyPr>
          <a:lstStyle/>
          <a:p>
            <a:pPr indent="-82550" lvl="0" marL="12700" marR="97790" rtl="0" algn="l">
              <a:lnSpc>
                <a:spcPct val="90000"/>
              </a:lnSpc>
              <a:spcBef>
                <a:spcPts val="0"/>
              </a:spcBef>
              <a:spcAft>
                <a:spcPts val="0"/>
              </a:spcAft>
              <a:buClr>
                <a:schemeClr val="dk1"/>
              </a:buClr>
              <a:buSzPts val="1300"/>
              <a:buFont typeface="Arial"/>
              <a:buChar char="•"/>
            </a:pPr>
            <a:r>
              <a:rPr b="0" i="0" lang="en-US" sz="1300" u="none" cap="none" strike="noStrike">
                <a:solidFill>
                  <a:schemeClr val="dk1"/>
                </a:solidFill>
                <a:latin typeface="Calibri"/>
                <a:ea typeface="Calibri"/>
                <a:cs typeface="Calibri"/>
                <a:sym typeface="Calibri"/>
              </a:rPr>
              <a:t>Brown University prides itself in producing independent thinkers( against the norm),  innovative collaborators and active global citizens thus focus on showing a path to  discovery, a new reﬂection, growth and inclusivity. Demonstrate a passion for diversity  and community engagement.</a:t>
            </a:r>
            <a:endParaRPr b="0" i="0" sz="1300" u="none" cap="none" strike="noStrike">
              <a:solidFill>
                <a:schemeClr val="dk1"/>
              </a:solidFill>
              <a:latin typeface="Calibri"/>
              <a:ea typeface="Calibri"/>
              <a:cs typeface="Calibri"/>
              <a:sym typeface="Calibri"/>
            </a:endParaRPr>
          </a:p>
          <a:p>
            <a:pPr indent="-82550" lvl="0" marL="12700" marR="1000125" rtl="0" algn="l">
              <a:lnSpc>
                <a:spcPct val="90000"/>
              </a:lnSpc>
              <a:spcBef>
                <a:spcPts val="1095"/>
              </a:spcBef>
              <a:spcAft>
                <a:spcPts val="0"/>
              </a:spcAft>
              <a:buClr>
                <a:schemeClr val="dk1"/>
              </a:buClr>
              <a:buSzPts val="1300"/>
              <a:buFont typeface="Arial"/>
              <a:buChar char="•"/>
            </a:pPr>
            <a:r>
              <a:rPr b="0" i="0" lang="en-US" sz="1300" u="none" cap="none" strike="noStrike">
                <a:solidFill>
                  <a:schemeClr val="dk1"/>
                </a:solidFill>
                <a:latin typeface="Calibri"/>
                <a:ea typeface="Calibri"/>
                <a:cs typeface="Calibri"/>
                <a:sym typeface="Calibri"/>
              </a:rPr>
              <a:t>The Admissions committee is inclined towards admitting applicants with the  willingness to learn and take up new challenges.</a:t>
            </a:r>
            <a:endParaRPr b="0" i="0" sz="1300" u="none" cap="none" strike="noStrike">
              <a:solidFill>
                <a:schemeClr val="dk1"/>
              </a:solidFill>
              <a:latin typeface="Calibri"/>
              <a:ea typeface="Calibri"/>
              <a:cs typeface="Calibri"/>
              <a:sym typeface="Calibri"/>
            </a:endParaRPr>
          </a:p>
          <a:p>
            <a:pPr indent="-82550" lvl="0" marL="12700" marR="922655" rtl="0" algn="l">
              <a:lnSpc>
                <a:spcPct val="90000"/>
              </a:lnSpc>
              <a:spcBef>
                <a:spcPts val="1200"/>
              </a:spcBef>
              <a:spcAft>
                <a:spcPts val="0"/>
              </a:spcAft>
              <a:buClr>
                <a:schemeClr val="dk1"/>
              </a:buClr>
              <a:buSzPts val="1300"/>
              <a:buFont typeface="Arial"/>
              <a:buChar char="•"/>
            </a:pPr>
            <a:r>
              <a:rPr b="0" i="0" lang="en-US" sz="1300" u="none" cap="none" strike="noStrike">
                <a:solidFill>
                  <a:schemeClr val="dk1"/>
                </a:solidFill>
                <a:latin typeface="Calibri"/>
                <a:ea typeface="Calibri"/>
                <a:cs typeface="Calibri"/>
                <a:sym typeface="Calibri"/>
              </a:rPr>
              <a:t>Sensitive about their yield rate hence reassure them and do an impeccable ED  application or as you prefer.</a:t>
            </a:r>
            <a:endParaRPr b="0" i="0" sz="1300" u="none" cap="none" strike="noStrike">
              <a:solidFill>
                <a:schemeClr val="dk1"/>
              </a:solidFill>
              <a:latin typeface="Calibri"/>
              <a:ea typeface="Calibri"/>
              <a:cs typeface="Calibri"/>
              <a:sym typeface="Calibri"/>
            </a:endParaRPr>
          </a:p>
          <a:p>
            <a:pPr indent="-82550" lvl="0" marL="12700" marR="5080" rtl="0" algn="l">
              <a:lnSpc>
                <a:spcPct val="90000"/>
              </a:lnSpc>
              <a:spcBef>
                <a:spcPts val="1205"/>
              </a:spcBef>
              <a:spcAft>
                <a:spcPts val="0"/>
              </a:spcAft>
              <a:buClr>
                <a:schemeClr val="dk1"/>
              </a:buClr>
              <a:buSzPts val="1300"/>
              <a:buFont typeface="Arial"/>
              <a:buChar char="•"/>
            </a:pPr>
            <a:r>
              <a:rPr b="0" i="0" lang="en-US" sz="1300" u="none" cap="none" strike="noStrike">
                <a:solidFill>
                  <a:schemeClr val="dk1"/>
                </a:solidFill>
                <a:latin typeface="Calibri"/>
                <a:ea typeface="Calibri"/>
                <a:cs typeface="Calibri"/>
                <a:sym typeface="Calibri"/>
              </a:rPr>
              <a:t>Brown classiﬁes the following as vital for the admissions oﬃce : High school rigor, GPA  rank, application essays {focus on the Open Curriculum at BROWN, Your background  and extra-curriculars},recommendations, talents and character. Make them stellar </a:t>
            </a:r>
            <a:r>
              <a:rPr b="0" i="0" lang="en-US" sz="1100" u="none" cap="none" strike="noStrike">
                <a:solidFill>
                  <a:schemeClr val="dk1"/>
                </a:solidFill>
                <a:latin typeface="Calibri"/>
                <a:ea typeface="Calibri"/>
                <a:cs typeface="Calibri"/>
                <a:sym typeface="Calibri"/>
              </a:rPr>
              <a:t>!!</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0" name="Shape 210"/>
        <p:cNvGrpSpPr/>
        <p:nvPr/>
      </p:nvGrpSpPr>
      <p:grpSpPr>
        <a:xfrm>
          <a:off x="0" y="0"/>
          <a:ext cx="0" cy="0"/>
          <a:chOff x="0" y="0"/>
          <a:chExt cx="0" cy="0"/>
        </a:xfrm>
      </p:grpSpPr>
      <p:sp>
        <p:nvSpPr>
          <p:cNvPr id="211" name="Google Shape;211;p14"/>
          <p:cNvSpPr/>
          <p:nvPr/>
        </p:nvSpPr>
        <p:spPr>
          <a:xfrm>
            <a:off x="0" y="0"/>
            <a:ext cx="9141714" cy="5143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2" name="Google Shape;212;p14"/>
          <p:cNvSpPr/>
          <p:nvPr/>
        </p:nvSpPr>
        <p:spPr>
          <a:xfrm rot="8888549">
            <a:off x="-794604" y="-831741"/>
            <a:ext cx="5384871" cy="3919923"/>
          </a:xfrm>
          <a:custGeom>
            <a:rect b="b" l="l" r="r" t="t"/>
            <a:pathLst>
              <a:path extrusionOk="0" h="5226565" w="7179830">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3" name="Google Shape;213;p14"/>
          <p:cNvSpPr txBox="1"/>
          <p:nvPr>
            <p:ph type="title"/>
          </p:nvPr>
        </p:nvSpPr>
        <p:spPr>
          <a:xfrm>
            <a:off x="630934" y="505327"/>
            <a:ext cx="2733367" cy="1810866"/>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FFFF"/>
              </a:buClr>
              <a:buSzPts val="4100"/>
              <a:buFont typeface="Calibri"/>
              <a:buNone/>
            </a:pPr>
            <a:r>
              <a:rPr lang="en-US" sz="4100">
                <a:solidFill>
                  <a:srgbClr val="FFFFFF"/>
                </a:solidFill>
              </a:rPr>
              <a:t>Harvard</a:t>
            </a:r>
            <a:endParaRPr sz="4100">
              <a:solidFill>
                <a:srgbClr val="FFFFFF"/>
              </a:solidFill>
            </a:endParaRPr>
          </a:p>
        </p:txBody>
      </p:sp>
      <p:sp>
        <p:nvSpPr>
          <p:cNvPr id="214" name="Google Shape;214;p14"/>
          <p:cNvSpPr txBox="1"/>
          <p:nvPr>
            <p:ph idx="1" type="body"/>
          </p:nvPr>
        </p:nvSpPr>
        <p:spPr>
          <a:xfrm>
            <a:off x="3810001" y="285750"/>
            <a:ext cx="4703064" cy="4724400"/>
          </a:xfrm>
          <a:prstGeom prst="rect">
            <a:avLst/>
          </a:prstGeom>
          <a:noFill/>
          <a:ln>
            <a:noFill/>
          </a:ln>
        </p:spPr>
        <p:txBody>
          <a:bodyPr anchorCtr="0" anchor="t" bIns="45700" lIns="91425" spcFirstLastPara="1" rIns="91425" wrap="square" tIns="45700">
            <a:noAutofit/>
          </a:bodyPr>
          <a:lstStyle/>
          <a:p>
            <a:pPr indent="-171450" lvl="0" marL="171450" rtl="0" algn="l">
              <a:lnSpc>
                <a:spcPct val="90000"/>
              </a:lnSpc>
              <a:spcBef>
                <a:spcPts val="0"/>
              </a:spcBef>
              <a:spcAft>
                <a:spcPts val="0"/>
              </a:spcAft>
              <a:buClr>
                <a:schemeClr val="dk1"/>
              </a:buClr>
              <a:buSzPts val="1050"/>
              <a:buChar char="•"/>
            </a:pPr>
            <a:r>
              <a:rPr b="1" lang="en-US" sz="1050"/>
              <a:t>Tops for admission: Exceptional – a clear admit with very strong objective and subjective support</a:t>
            </a:r>
            <a:endParaRPr/>
          </a:p>
          <a:p>
            <a:pPr indent="0" lvl="0" marL="0" rtl="0" algn="l">
              <a:lnSpc>
                <a:spcPct val="90000"/>
              </a:lnSpc>
              <a:spcBef>
                <a:spcPts val="750"/>
              </a:spcBef>
              <a:spcAft>
                <a:spcPts val="0"/>
              </a:spcAft>
              <a:buClr>
                <a:schemeClr val="dk1"/>
              </a:buClr>
              <a:buSzPts val="1050"/>
              <a:buNone/>
            </a:pPr>
            <a:r>
              <a:t/>
            </a:r>
            <a:endParaRPr b="1" sz="1050"/>
          </a:p>
          <a:p>
            <a:pPr indent="-171450" lvl="0" marL="171450" rtl="0" algn="l">
              <a:lnSpc>
                <a:spcPct val="90000"/>
              </a:lnSpc>
              <a:spcBef>
                <a:spcPts val="750"/>
              </a:spcBef>
              <a:spcAft>
                <a:spcPts val="0"/>
              </a:spcAft>
              <a:buClr>
                <a:schemeClr val="dk1"/>
              </a:buClr>
              <a:buSzPts val="1050"/>
              <a:buChar char="•"/>
            </a:pPr>
            <a:r>
              <a:rPr b="1" lang="en-US" sz="1050"/>
              <a:t>A potential major academic contributor; Summa potential. Genuine scholar; near-perfect scores and grades (in most cases combined withunusual creativity possible evidence of original scholarship, often substantiated by our faculty or other academic mentors.)</a:t>
            </a:r>
            <a:endParaRPr/>
          </a:p>
          <a:p>
            <a:pPr indent="-171450" lvl="0" marL="171450" rtl="0" algn="l">
              <a:lnSpc>
                <a:spcPct val="90000"/>
              </a:lnSpc>
              <a:spcBef>
                <a:spcPts val="750"/>
              </a:spcBef>
              <a:spcAft>
                <a:spcPts val="0"/>
              </a:spcAft>
              <a:buClr>
                <a:schemeClr val="dk1"/>
              </a:buClr>
              <a:buSzPts val="1050"/>
              <a:buChar char="•"/>
            </a:pPr>
            <a:r>
              <a:rPr b="1" lang="en-US" sz="1050"/>
              <a:t> Possiblenational or international level recognition in academic competitions.</a:t>
            </a:r>
            <a:endParaRPr/>
          </a:p>
          <a:p>
            <a:pPr indent="-104775" lvl="0" marL="171450" rtl="0" algn="l">
              <a:lnSpc>
                <a:spcPct val="90000"/>
              </a:lnSpc>
              <a:spcBef>
                <a:spcPts val="750"/>
              </a:spcBef>
              <a:spcAft>
                <a:spcPts val="0"/>
              </a:spcAft>
              <a:buClr>
                <a:schemeClr val="dk1"/>
              </a:buClr>
              <a:buSzPts val="1050"/>
              <a:buNone/>
            </a:pPr>
            <a:r>
              <a:t/>
            </a:r>
            <a:endParaRPr b="1" sz="1050"/>
          </a:p>
          <a:p>
            <a:pPr indent="-171450" lvl="0" marL="171450" rtl="0" algn="l">
              <a:lnSpc>
                <a:spcPct val="90000"/>
              </a:lnSpc>
              <a:spcBef>
                <a:spcPts val="750"/>
              </a:spcBef>
              <a:spcAft>
                <a:spcPts val="0"/>
              </a:spcAft>
              <a:buClr>
                <a:schemeClr val="dk1"/>
              </a:buClr>
              <a:buSzPts val="1050"/>
              <a:buChar char="•"/>
            </a:pPr>
            <a:r>
              <a:rPr b="1" lang="en-US" sz="1050"/>
              <a:t>Unusual strength in one or more areas. Possible national-level achievement or professional experience. A potential major contributorat Harvard. Truly unusual achievement.</a:t>
            </a:r>
            <a:endParaRPr/>
          </a:p>
          <a:p>
            <a:pPr indent="-104775" lvl="0" marL="171450" rtl="0" algn="l">
              <a:lnSpc>
                <a:spcPct val="90000"/>
              </a:lnSpc>
              <a:spcBef>
                <a:spcPts val="750"/>
              </a:spcBef>
              <a:spcAft>
                <a:spcPts val="0"/>
              </a:spcAft>
              <a:buClr>
                <a:schemeClr val="dk1"/>
              </a:buClr>
              <a:buSzPts val="1050"/>
              <a:buNone/>
            </a:pPr>
            <a:r>
              <a:t/>
            </a:r>
            <a:endParaRPr b="1" sz="1050"/>
          </a:p>
          <a:p>
            <a:pPr indent="-171450" lvl="0" marL="171450" rtl="0" algn="l">
              <a:lnSpc>
                <a:spcPct val="90000"/>
              </a:lnSpc>
              <a:spcBef>
                <a:spcPts val="750"/>
              </a:spcBef>
              <a:spcAft>
                <a:spcPts val="0"/>
              </a:spcAft>
              <a:buClr>
                <a:schemeClr val="dk1"/>
              </a:buClr>
              <a:buSzPts val="1050"/>
              <a:buChar char="•"/>
            </a:pPr>
            <a:r>
              <a:rPr b="1" lang="en-US" sz="1050"/>
              <a:t>In assigning the Overall rating, readers may consider whether a student’s background, including his or her race or ethnicity, maycontribute to the educational beneﬁts of diversity at Harvard College. </a:t>
            </a:r>
            <a:endParaRPr/>
          </a:p>
          <a:p>
            <a:pPr indent="-171450" lvl="0" marL="171450" rtl="0" algn="l">
              <a:lnSpc>
                <a:spcPct val="90000"/>
              </a:lnSpc>
              <a:spcBef>
                <a:spcPts val="750"/>
              </a:spcBef>
              <a:spcAft>
                <a:spcPts val="0"/>
              </a:spcAft>
              <a:buClr>
                <a:schemeClr val="dk1"/>
              </a:buClr>
              <a:buSzPts val="1050"/>
              <a:buChar char="•"/>
            </a:pPr>
            <a:r>
              <a:rPr b="1" lang="en-US" sz="1050"/>
              <a:t>The consideration of race or ethnicity may be considered only as one factor among many.</a:t>
            </a:r>
            <a:endParaRPr/>
          </a:p>
          <a:p>
            <a:pPr indent="-104775" lvl="0" marL="171450" rtl="0" algn="l">
              <a:lnSpc>
                <a:spcPct val="90000"/>
              </a:lnSpc>
              <a:spcBef>
                <a:spcPts val="750"/>
              </a:spcBef>
              <a:spcAft>
                <a:spcPts val="0"/>
              </a:spcAft>
              <a:buClr>
                <a:schemeClr val="dk1"/>
              </a:buClr>
              <a:buSzPts val="1050"/>
              <a:buNone/>
            </a:pPr>
            <a:r>
              <a:t/>
            </a:r>
            <a:endParaRPr b="1" sz="1050"/>
          </a:p>
          <a:p>
            <a:pPr indent="-171450" lvl="0" marL="171450" rtl="0" algn="l">
              <a:lnSpc>
                <a:spcPct val="90000"/>
              </a:lnSpc>
              <a:spcBef>
                <a:spcPts val="750"/>
              </a:spcBef>
              <a:spcAft>
                <a:spcPts val="0"/>
              </a:spcAft>
              <a:buClr>
                <a:schemeClr val="dk1"/>
              </a:buClr>
              <a:buSzPts val="1050"/>
              <a:buChar char="•"/>
            </a:pPr>
            <a:r>
              <a:rPr b="1" lang="en-US" sz="1050"/>
              <a:t>Subjective support : Reference to teacher comments- one of the few/the best I have everencountered/exceptional/.</a:t>
            </a:r>
            <a:endParaRPr b="1" sz="105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8" name="Shape 218"/>
        <p:cNvGrpSpPr/>
        <p:nvPr/>
      </p:nvGrpSpPr>
      <p:grpSpPr>
        <a:xfrm>
          <a:off x="0" y="0"/>
          <a:ext cx="0" cy="0"/>
          <a:chOff x="0" y="0"/>
          <a:chExt cx="0" cy="0"/>
        </a:xfrm>
      </p:grpSpPr>
      <p:sp>
        <p:nvSpPr>
          <p:cNvPr id="219" name="Google Shape;219;p15"/>
          <p:cNvSpPr/>
          <p:nvPr/>
        </p:nvSpPr>
        <p:spPr>
          <a:xfrm>
            <a:off x="0" y="0"/>
            <a:ext cx="9141714" cy="5143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0" name="Google Shape;220;p15"/>
          <p:cNvSpPr/>
          <p:nvPr/>
        </p:nvSpPr>
        <p:spPr>
          <a:xfrm rot="8888549">
            <a:off x="-794604" y="-831741"/>
            <a:ext cx="5384871" cy="3919923"/>
          </a:xfrm>
          <a:custGeom>
            <a:rect b="b" l="l" r="r" t="t"/>
            <a:pathLst>
              <a:path extrusionOk="0" h="5226565" w="7179830">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1" name="Google Shape;221;p15"/>
          <p:cNvSpPr txBox="1"/>
          <p:nvPr>
            <p:ph type="title"/>
          </p:nvPr>
        </p:nvSpPr>
        <p:spPr>
          <a:xfrm>
            <a:off x="630934" y="505327"/>
            <a:ext cx="2733367" cy="1810866"/>
          </a:xfrm>
          <a:prstGeom prst="rect">
            <a:avLst/>
          </a:prstGeom>
          <a:noFill/>
          <a:ln>
            <a:noFill/>
          </a:ln>
        </p:spPr>
        <p:txBody>
          <a:bodyPr anchorCtr="0" anchor="t" bIns="45700" lIns="91425" spcFirstLastPara="1" rIns="91425" wrap="square" tIns="45700">
            <a:normAutofit/>
          </a:bodyPr>
          <a:lstStyle/>
          <a:p>
            <a:pPr indent="0" lvl="0" marL="12700" rtl="0" algn="l">
              <a:lnSpc>
                <a:spcPct val="90000"/>
              </a:lnSpc>
              <a:spcBef>
                <a:spcPts val="0"/>
              </a:spcBef>
              <a:spcAft>
                <a:spcPts val="0"/>
              </a:spcAft>
              <a:buClr>
                <a:srgbClr val="FFFFFF"/>
              </a:buClr>
              <a:buSzPts val="4100"/>
              <a:buFont typeface="Calibri"/>
              <a:buNone/>
            </a:pPr>
            <a:r>
              <a:rPr lang="en-US" sz="4100">
                <a:solidFill>
                  <a:srgbClr val="FFFFFF"/>
                </a:solidFill>
                <a:latin typeface="Calibri"/>
                <a:ea typeface="Calibri"/>
                <a:cs typeface="Calibri"/>
                <a:sym typeface="Calibri"/>
              </a:rPr>
              <a:t>Harvard.</a:t>
            </a:r>
            <a:endParaRPr/>
          </a:p>
        </p:txBody>
      </p:sp>
      <p:sp>
        <p:nvSpPr>
          <p:cNvPr id="222" name="Google Shape;222;p15"/>
          <p:cNvSpPr txBox="1"/>
          <p:nvPr/>
        </p:nvSpPr>
        <p:spPr>
          <a:xfrm>
            <a:off x="4571999" y="661736"/>
            <a:ext cx="3941065" cy="3970985"/>
          </a:xfrm>
          <a:prstGeom prst="rect">
            <a:avLst/>
          </a:prstGeom>
          <a:noFill/>
          <a:ln>
            <a:noFill/>
          </a:ln>
        </p:spPr>
        <p:txBody>
          <a:bodyPr anchorCtr="0" anchor="t" bIns="45700" lIns="91425" spcFirstLastPara="1" rIns="91425" wrap="square" tIns="45700">
            <a:normAutofit/>
          </a:bodyPr>
          <a:lstStyle/>
          <a:p>
            <a:pPr indent="-57150" lvl="0" marL="12700" marR="5080" rtl="0" algn="l">
              <a:lnSpc>
                <a:spcPct val="90000"/>
              </a:lnSpc>
              <a:spcBef>
                <a:spcPts val="0"/>
              </a:spcBef>
              <a:spcAft>
                <a:spcPts val="0"/>
              </a:spcAft>
              <a:buClr>
                <a:schemeClr val="dk1"/>
              </a:buClr>
              <a:buSzPts val="900"/>
              <a:buFont typeface="Arial"/>
              <a:buChar char="•"/>
            </a:pPr>
            <a:r>
              <a:rPr b="0" i="0" lang="en-US" sz="900" u="none" cap="none" strike="noStrike">
                <a:solidFill>
                  <a:schemeClr val="dk1"/>
                </a:solidFill>
                <a:latin typeface="Calibri"/>
                <a:ea typeface="Calibri"/>
                <a:cs typeface="Calibri"/>
                <a:sym typeface="Calibri"/>
              </a:rPr>
              <a:t>The Personal rating should be an assessment made by the readers of what kind of eﬀect the student might have on others at Harvard and beyond. It should be  based on an assessment of what kind of positive eﬀect this person might have throughout his or her life based on what we have seen so far in the student’s  application materials. This should include such considerations as what kind of contribution would the person make to the dining hall conversation, to study  groups, and to society as a whole after graduation.</a:t>
            </a:r>
            <a:endParaRPr b="0" i="0" sz="900" u="none" cap="none" strike="noStrike">
              <a:solidFill>
                <a:schemeClr val="dk1"/>
              </a:solidFill>
              <a:latin typeface="Calibri"/>
              <a:ea typeface="Calibri"/>
              <a:cs typeface="Calibri"/>
              <a:sym typeface="Calibri"/>
            </a:endParaRPr>
          </a:p>
          <a:p>
            <a:pPr indent="57150" lvl="0" marL="0" marR="0" rtl="0" algn="l">
              <a:lnSpc>
                <a:spcPct val="90000"/>
              </a:lnSpc>
              <a:spcBef>
                <a:spcPts val="40"/>
              </a:spcBef>
              <a:spcAft>
                <a:spcPts val="0"/>
              </a:spcAft>
              <a:buClr>
                <a:schemeClr val="dk1"/>
              </a:buClr>
              <a:buSzPts val="900"/>
              <a:buFont typeface="Arial"/>
              <a:buNone/>
            </a:pPr>
            <a:r>
              <a:t/>
            </a:r>
            <a:endParaRPr b="0" i="0" sz="900" u="none" cap="none" strike="noStrike">
              <a:solidFill>
                <a:schemeClr val="dk1"/>
              </a:solidFill>
              <a:latin typeface="Calibri"/>
              <a:ea typeface="Calibri"/>
              <a:cs typeface="Calibri"/>
              <a:sym typeface="Calibri"/>
            </a:endParaRPr>
          </a:p>
          <a:p>
            <a:pPr indent="-57150" lvl="0" marL="12700" marR="0" rtl="0" algn="l">
              <a:lnSpc>
                <a:spcPct val="90000"/>
              </a:lnSpc>
              <a:spcBef>
                <a:spcPts val="5"/>
              </a:spcBef>
              <a:spcAft>
                <a:spcPts val="0"/>
              </a:spcAft>
              <a:buClr>
                <a:schemeClr val="dk1"/>
              </a:buClr>
              <a:buSzPts val="900"/>
              <a:buFont typeface="Arial"/>
              <a:buChar char="•"/>
            </a:pPr>
            <a:r>
              <a:rPr b="0" i="0" lang="en-US" sz="900" u="none" cap="none" strike="noStrike">
                <a:solidFill>
                  <a:schemeClr val="dk1"/>
                </a:solidFill>
                <a:latin typeface="Calibri"/>
                <a:ea typeface="Calibri"/>
                <a:cs typeface="Calibri"/>
                <a:sym typeface="Calibri"/>
              </a:rPr>
              <a:t>Successful candidates should show:</a:t>
            </a:r>
            <a:endParaRPr b="0" i="0" sz="900" u="none" cap="none" strike="noStrike">
              <a:solidFill>
                <a:schemeClr val="dk1"/>
              </a:solidFill>
              <a:latin typeface="Calibri"/>
              <a:ea typeface="Calibri"/>
              <a:cs typeface="Calibri"/>
              <a:sym typeface="Calibri"/>
            </a:endParaRPr>
          </a:p>
          <a:p>
            <a:pPr indent="57150" lvl="0" marL="0" marR="0" rtl="0" algn="l">
              <a:lnSpc>
                <a:spcPct val="90000"/>
              </a:lnSpc>
              <a:spcBef>
                <a:spcPts val="50"/>
              </a:spcBef>
              <a:spcAft>
                <a:spcPts val="0"/>
              </a:spcAft>
              <a:buClr>
                <a:schemeClr val="dk1"/>
              </a:buClr>
              <a:buSzPts val="900"/>
              <a:buFont typeface="Arial"/>
              <a:buNone/>
            </a:pPr>
            <a:r>
              <a:t/>
            </a:r>
            <a:endParaRPr b="0" i="0" sz="900" u="none" cap="none" strike="noStrike">
              <a:solidFill>
                <a:schemeClr val="dk1"/>
              </a:solidFill>
              <a:latin typeface="Calibri"/>
              <a:ea typeface="Calibri"/>
              <a:cs typeface="Calibri"/>
              <a:sym typeface="Calibri"/>
            </a:endParaRPr>
          </a:p>
          <a:p>
            <a:pPr indent="-57150" lvl="0" marL="12700" marR="210820" rtl="0" algn="l">
              <a:lnSpc>
                <a:spcPct val="90000"/>
              </a:lnSpc>
              <a:spcBef>
                <a:spcPts val="0"/>
              </a:spcBef>
              <a:spcAft>
                <a:spcPts val="0"/>
              </a:spcAft>
              <a:buClr>
                <a:schemeClr val="dk1"/>
              </a:buClr>
              <a:buSzPts val="900"/>
              <a:buFont typeface="Arial"/>
              <a:buChar char="•"/>
            </a:pPr>
            <a:r>
              <a:rPr b="0" i="0" lang="en-US" sz="900" u="none" cap="none" strike="noStrike">
                <a:solidFill>
                  <a:schemeClr val="dk1"/>
                </a:solidFill>
                <a:latin typeface="Calibri"/>
                <a:ea typeface="Calibri"/>
                <a:cs typeface="Calibri"/>
                <a:sym typeface="Calibri"/>
              </a:rPr>
              <a:t>Truly outstanding qualities of character; student may display enormous courage in the face of seemingly insurmountable obstacles in life. Student may  demonstrate a singular ability to lead or inspire those around them. Student may exhibit extraordinary concern or compassion for others. Student receives  unqualiﬁed and unwavering support from their recommenders.</a:t>
            </a:r>
            <a:endParaRPr b="0" i="0" sz="900" u="none" cap="none" strike="noStrike">
              <a:solidFill>
                <a:schemeClr val="dk1"/>
              </a:solidFill>
              <a:latin typeface="Calibri"/>
              <a:ea typeface="Calibri"/>
              <a:cs typeface="Calibri"/>
              <a:sym typeface="Calibri"/>
            </a:endParaRPr>
          </a:p>
          <a:p>
            <a:pPr indent="57150" lvl="0" marL="0" marR="0" rtl="0" algn="l">
              <a:lnSpc>
                <a:spcPct val="90000"/>
              </a:lnSpc>
              <a:spcBef>
                <a:spcPts val="20"/>
              </a:spcBef>
              <a:spcAft>
                <a:spcPts val="0"/>
              </a:spcAft>
              <a:buClr>
                <a:schemeClr val="dk1"/>
              </a:buClr>
              <a:buSzPts val="900"/>
              <a:buFont typeface="Arial"/>
              <a:buNone/>
            </a:pPr>
            <a:r>
              <a:t/>
            </a:r>
            <a:endParaRPr b="0" i="0" sz="900" u="none" cap="none" strike="noStrike">
              <a:solidFill>
                <a:schemeClr val="dk1"/>
              </a:solidFill>
              <a:latin typeface="Calibri"/>
              <a:ea typeface="Calibri"/>
              <a:cs typeface="Calibri"/>
              <a:sym typeface="Calibri"/>
            </a:endParaRPr>
          </a:p>
          <a:p>
            <a:pPr indent="-57150" lvl="0" marL="12700" marR="225425" rtl="0" algn="l">
              <a:lnSpc>
                <a:spcPct val="90000"/>
              </a:lnSpc>
              <a:spcBef>
                <a:spcPts val="5"/>
              </a:spcBef>
              <a:spcAft>
                <a:spcPts val="0"/>
              </a:spcAft>
              <a:buClr>
                <a:schemeClr val="dk1"/>
              </a:buClr>
              <a:buSzPts val="900"/>
              <a:buFont typeface="Arial"/>
              <a:buChar char="•"/>
            </a:pPr>
            <a:r>
              <a:rPr b="0" i="0" lang="en-US" sz="900" u="none" cap="none" strike="noStrike">
                <a:solidFill>
                  <a:schemeClr val="dk1"/>
                </a:solidFill>
                <a:latin typeface="Calibri"/>
                <a:ea typeface="Calibri"/>
                <a:cs typeface="Calibri"/>
                <a:sym typeface="Calibri"/>
              </a:rPr>
              <a:t> Very strong qualities of character; student may demonstrate strong leadership. Student may exhibit a level of maturity beyond their years. Student may  exhibit uncommon genuineness, selﬂessness or humility in their dealings with others. Students may possess strong resiliency. Student receives very strong  support from their recommenders.</a:t>
            </a:r>
            <a:endParaRPr b="0" i="0" sz="900" u="none" cap="none" strike="noStrike">
              <a:solidFill>
                <a:schemeClr val="dk1"/>
              </a:solidFill>
              <a:latin typeface="Calibri"/>
              <a:ea typeface="Calibri"/>
              <a:cs typeface="Calibri"/>
              <a:sym typeface="Calibri"/>
            </a:endParaRPr>
          </a:p>
          <a:p>
            <a:pPr indent="57150" lvl="0" marL="0" marR="0" rtl="0" algn="l">
              <a:lnSpc>
                <a:spcPct val="90000"/>
              </a:lnSpc>
              <a:spcBef>
                <a:spcPts val="40"/>
              </a:spcBef>
              <a:spcAft>
                <a:spcPts val="0"/>
              </a:spcAft>
              <a:buClr>
                <a:schemeClr val="dk1"/>
              </a:buClr>
              <a:buSzPts val="900"/>
              <a:buFont typeface="Arial"/>
              <a:buNone/>
            </a:pPr>
            <a:r>
              <a:t/>
            </a:r>
            <a:endParaRPr b="0" i="0" sz="900" u="none" cap="none" strike="noStrike">
              <a:solidFill>
                <a:schemeClr val="dk1"/>
              </a:solidFill>
              <a:latin typeface="Calibri"/>
              <a:ea typeface="Calibri"/>
              <a:cs typeface="Calibri"/>
              <a:sym typeface="Calibri"/>
            </a:endParaRPr>
          </a:p>
          <a:p>
            <a:pPr indent="-57150" lvl="0" marL="12700" marR="0" rtl="0" algn="l">
              <a:lnSpc>
                <a:spcPct val="90000"/>
              </a:lnSpc>
              <a:spcBef>
                <a:spcPts val="5"/>
              </a:spcBef>
              <a:spcAft>
                <a:spcPts val="0"/>
              </a:spcAft>
              <a:buClr>
                <a:schemeClr val="dk1"/>
              </a:buClr>
              <a:buSzPts val="900"/>
              <a:buFont typeface="Arial"/>
              <a:buChar char="•"/>
            </a:pPr>
            <a:r>
              <a:rPr b="1" i="0" lang="en-US" sz="900" u="none" cap="none" strike="noStrike">
                <a:solidFill>
                  <a:schemeClr val="dk1"/>
                </a:solidFill>
                <a:latin typeface="Calibri"/>
                <a:ea typeface="Calibri"/>
                <a:cs typeface="Calibri"/>
                <a:sym typeface="Calibri"/>
              </a:rPr>
              <a:t>FOR HARVARD YOU NEED TO BE EXCEPTIONAL IN SOMETHING !</a:t>
            </a:r>
            <a:endParaRPr b="1" i="0" sz="900" u="none" cap="none" strike="noStrike">
              <a:solidFill>
                <a:schemeClr val="dk1"/>
              </a:solidFill>
              <a:latin typeface="Calibri"/>
              <a:ea typeface="Calibri"/>
              <a:cs typeface="Calibri"/>
              <a:sym typeface="Calibri"/>
            </a:endParaRPr>
          </a:p>
          <a:p>
            <a:pPr indent="57150" lvl="0" marL="0" marR="0" rtl="0" algn="l">
              <a:lnSpc>
                <a:spcPct val="90000"/>
              </a:lnSpc>
              <a:spcBef>
                <a:spcPts val="10"/>
              </a:spcBef>
              <a:spcAft>
                <a:spcPts val="0"/>
              </a:spcAft>
              <a:buClr>
                <a:schemeClr val="dk1"/>
              </a:buClr>
              <a:buSzPts val="900"/>
              <a:buFont typeface="Arial"/>
              <a:buNone/>
            </a:pPr>
            <a:r>
              <a:t/>
            </a:r>
            <a:endParaRPr b="1" i="0" sz="900" u="none" cap="none" strike="noStrike">
              <a:solidFill>
                <a:schemeClr val="dk1"/>
              </a:solidFill>
              <a:latin typeface="Calibri"/>
              <a:ea typeface="Calibri"/>
              <a:cs typeface="Calibri"/>
              <a:sym typeface="Calibri"/>
            </a:endParaRPr>
          </a:p>
          <a:p>
            <a:pPr indent="-57150" lvl="0" marL="12700" marR="0" rtl="0" algn="l">
              <a:lnSpc>
                <a:spcPct val="90000"/>
              </a:lnSpc>
              <a:spcBef>
                <a:spcPts val="5"/>
              </a:spcBef>
              <a:spcAft>
                <a:spcPts val="0"/>
              </a:spcAft>
              <a:buClr>
                <a:schemeClr val="dk1"/>
              </a:buClr>
              <a:buSzPts val="900"/>
              <a:buFont typeface="Arial"/>
              <a:buChar char="•"/>
            </a:pPr>
            <a:r>
              <a:rPr b="1" i="0" lang="en-US" sz="900" u="none" cap="none" strike="noStrike">
                <a:solidFill>
                  <a:schemeClr val="dk1"/>
                </a:solidFill>
                <a:latin typeface="Calibri"/>
                <a:ea typeface="Calibri"/>
                <a:cs typeface="Calibri"/>
                <a:sym typeface="Calibri"/>
              </a:rPr>
              <a:t>Sandra Mwangi- Lady in Stem, Alliance Girls, Stellar essays ,KCSE grade and SAT scores./Wesley Osogo/ Josh Wamalwa/ Ezra Kizito.</a:t>
            </a:r>
            <a:endParaRPr b="1" i="0" sz="9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16"/>
          <p:cNvSpPr txBox="1"/>
          <p:nvPr>
            <p:ph type="title"/>
          </p:nvPr>
        </p:nvSpPr>
        <p:spPr>
          <a:xfrm>
            <a:off x="384724" y="462446"/>
            <a:ext cx="5101676" cy="520655"/>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Clr>
                <a:schemeClr val="dk1"/>
              </a:buClr>
              <a:buSzPts val="3300"/>
              <a:buFont typeface="Calibri"/>
              <a:buNone/>
            </a:pPr>
            <a:r>
              <a:rPr lang="en-US"/>
              <a:t>Dartmouth college.</a:t>
            </a:r>
            <a:endParaRPr/>
          </a:p>
        </p:txBody>
      </p:sp>
      <p:sp>
        <p:nvSpPr>
          <p:cNvPr id="228" name="Google Shape;228;p16"/>
          <p:cNvSpPr txBox="1"/>
          <p:nvPr/>
        </p:nvSpPr>
        <p:spPr>
          <a:xfrm>
            <a:off x="541705" y="1238200"/>
            <a:ext cx="7372350" cy="167640"/>
          </a:xfrm>
          <a:prstGeom prst="rect">
            <a:avLst/>
          </a:prstGeom>
          <a:solidFill>
            <a:srgbClr val="FFFFFF"/>
          </a:solidFill>
          <a:ln>
            <a:noFill/>
          </a:ln>
        </p:spPr>
        <p:txBody>
          <a:bodyPr anchorCtr="0" anchor="t" bIns="0" lIns="0" spcFirstLastPara="1" rIns="0" wrap="square" tIns="0">
            <a:spAutoFit/>
          </a:bodyPr>
          <a:lstStyle/>
          <a:p>
            <a:pPr indent="-312420" lvl="0" marL="312420" marR="0" rtl="0" algn="l">
              <a:lnSpc>
                <a:spcPct val="115909"/>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We expect academic excellence, encourage independent thought, and promote a robust culture of interdisciplinary</a:t>
            </a:r>
            <a:endParaRPr b="0" i="0" sz="1100" u="none" cap="none" strike="noStrike">
              <a:solidFill>
                <a:schemeClr val="dk1"/>
              </a:solidFill>
              <a:latin typeface="Arial"/>
              <a:ea typeface="Arial"/>
              <a:cs typeface="Arial"/>
              <a:sym typeface="Arial"/>
            </a:endParaRPr>
          </a:p>
        </p:txBody>
      </p:sp>
      <p:sp>
        <p:nvSpPr>
          <p:cNvPr id="229" name="Google Shape;229;p16"/>
          <p:cNvSpPr txBox="1"/>
          <p:nvPr/>
        </p:nvSpPr>
        <p:spPr>
          <a:xfrm>
            <a:off x="854625" y="1500834"/>
            <a:ext cx="843280" cy="167640"/>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115909"/>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collaboration.</a:t>
            </a:r>
            <a:endParaRPr b="0" i="0" sz="1100" u="none" cap="none" strike="noStrike">
              <a:solidFill>
                <a:schemeClr val="dk1"/>
              </a:solidFill>
              <a:latin typeface="Arial"/>
              <a:ea typeface="Arial"/>
              <a:cs typeface="Arial"/>
              <a:sym typeface="Arial"/>
            </a:endParaRPr>
          </a:p>
        </p:txBody>
      </p:sp>
      <p:sp>
        <p:nvSpPr>
          <p:cNvPr id="230" name="Google Shape;230;p16"/>
          <p:cNvSpPr txBox="1"/>
          <p:nvPr/>
        </p:nvSpPr>
        <p:spPr>
          <a:xfrm>
            <a:off x="541705" y="1763469"/>
            <a:ext cx="8008620" cy="167640"/>
          </a:xfrm>
          <a:prstGeom prst="rect">
            <a:avLst/>
          </a:prstGeom>
          <a:solidFill>
            <a:srgbClr val="FFFFFF"/>
          </a:solidFill>
          <a:ln>
            <a:noFill/>
          </a:ln>
        </p:spPr>
        <p:txBody>
          <a:bodyPr anchorCtr="0" anchor="t" bIns="0" lIns="0" spcFirstLastPara="1" rIns="0" wrap="square" tIns="0">
            <a:spAutoFit/>
          </a:bodyPr>
          <a:lstStyle/>
          <a:p>
            <a:pPr indent="-312420" lvl="0" marL="312420" marR="0" rtl="0" algn="l">
              <a:lnSpc>
                <a:spcPct val="115909"/>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We support a faculty of scholars who are leaders in their fields, passionate about teaching, and committed to mentorship and</a:t>
            </a:r>
            <a:endParaRPr b="0" i="0" sz="1100" u="none" cap="none" strike="noStrike">
              <a:solidFill>
                <a:schemeClr val="dk1"/>
              </a:solidFill>
              <a:latin typeface="Arial"/>
              <a:ea typeface="Arial"/>
              <a:cs typeface="Arial"/>
              <a:sym typeface="Arial"/>
            </a:endParaRPr>
          </a:p>
        </p:txBody>
      </p:sp>
      <p:sp>
        <p:nvSpPr>
          <p:cNvPr id="231" name="Google Shape;231;p16"/>
          <p:cNvSpPr txBox="1"/>
          <p:nvPr/>
        </p:nvSpPr>
        <p:spPr>
          <a:xfrm>
            <a:off x="854625" y="2026104"/>
            <a:ext cx="1994535" cy="167640"/>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115909"/>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collaboration with their students.</a:t>
            </a:r>
            <a:endParaRPr b="0" i="0" sz="1100" u="none" cap="none" strike="noStrike">
              <a:solidFill>
                <a:schemeClr val="dk1"/>
              </a:solidFill>
              <a:latin typeface="Arial"/>
              <a:ea typeface="Arial"/>
              <a:cs typeface="Arial"/>
              <a:sym typeface="Arial"/>
            </a:endParaRPr>
          </a:p>
        </p:txBody>
      </p:sp>
      <p:sp>
        <p:nvSpPr>
          <p:cNvPr id="232" name="Google Shape;232;p16"/>
          <p:cNvSpPr txBox="1"/>
          <p:nvPr/>
        </p:nvSpPr>
        <p:spPr>
          <a:xfrm>
            <a:off x="541705" y="2288739"/>
            <a:ext cx="8147684" cy="167640"/>
          </a:xfrm>
          <a:prstGeom prst="rect">
            <a:avLst/>
          </a:prstGeom>
          <a:solidFill>
            <a:srgbClr val="FFFFFF"/>
          </a:solidFill>
          <a:ln>
            <a:noFill/>
          </a:ln>
        </p:spPr>
        <p:txBody>
          <a:bodyPr anchorCtr="0" anchor="t" bIns="0" lIns="0" spcFirstLastPara="1" rIns="0" wrap="square" tIns="0">
            <a:spAutoFit/>
          </a:bodyPr>
          <a:lstStyle/>
          <a:p>
            <a:pPr indent="-312420" lvl="0" marL="312420" marR="0" rtl="0" algn="l">
              <a:lnSpc>
                <a:spcPct val="115909"/>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We recruit and admit outstanding students from all backgrounds, regardless of their financial means, so that finances are never</a:t>
            </a:r>
            <a:endParaRPr b="0" i="0" sz="1100" u="none" cap="none" strike="noStrike">
              <a:solidFill>
                <a:schemeClr val="dk1"/>
              </a:solidFill>
              <a:latin typeface="Arial"/>
              <a:ea typeface="Arial"/>
              <a:cs typeface="Arial"/>
              <a:sym typeface="Arial"/>
            </a:endParaRPr>
          </a:p>
        </p:txBody>
      </p:sp>
      <p:sp>
        <p:nvSpPr>
          <p:cNvPr id="233" name="Google Shape;233;p16"/>
          <p:cNvSpPr txBox="1"/>
          <p:nvPr/>
        </p:nvSpPr>
        <p:spPr>
          <a:xfrm>
            <a:off x="854625" y="2551374"/>
            <a:ext cx="1381125" cy="167640"/>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115909"/>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a barrier to admission.</a:t>
            </a:r>
            <a:endParaRPr b="0" i="0" sz="1100" u="none" cap="none" strike="noStrike">
              <a:solidFill>
                <a:schemeClr val="dk1"/>
              </a:solidFill>
              <a:latin typeface="Arial"/>
              <a:ea typeface="Arial"/>
              <a:cs typeface="Arial"/>
              <a:sym typeface="Arial"/>
            </a:endParaRPr>
          </a:p>
        </p:txBody>
      </p:sp>
      <p:sp>
        <p:nvSpPr>
          <p:cNvPr id="234" name="Google Shape;234;p16"/>
          <p:cNvSpPr txBox="1"/>
          <p:nvPr/>
        </p:nvSpPr>
        <p:spPr>
          <a:xfrm>
            <a:off x="541705" y="2814009"/>
            <a:ext cx="7900034" cy="167640"/>
          </a:xfrm>
          <a:prstGeom prst="rect">
            <a:avLst/>
          </a:prstGeom>
          <a:solidFill>
            <a:srgbClr val="FFFFFF"/>
          </a:solidFill>
          <a:ln>
            <a:noFill/>
          </a:ln>
        </p:spPr>
        <p:txBody>
          <a:bodyPr anchorCtr="0" anchor="t" bIns="0" lIns="0" spcFirstLastPara="1" rIns="0" wrap="square" tIns="0">
            <a:spAutoFit/>
          </a:bodyPr>
          <a:lstStyle/>
          <a:p>
            <a:pPr indent="-312420" lvl="0" marL="312420" marR="0" rtl="0" algn="l">
              <a:lnSpc>
                <a:spcPct val="115909"/>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We build a diverse community of faculty and students and leverage that diversity to enrich and deepen the education of our</a:t>
            </a:r>
            <a:endParaRPr b="0" i="0" sz="1100" u="none" cap="none" strike="noStrike">
              <a:solidFill>
                <a:schemeClr val="dk1"/>
              </a:solidFill>
              <a:latin typeface="Arial"/>
              <a:ea typeface="Arial"/>
              <a:cs typeface="Arial"/>
              <a:sym typeface="Arial"/>
            </a:endParaRPr>
          </a:p>
        </p:txBody>
      </p:sp>
      <p:sp>
        <p:nvSpPr>
          <p:cNvPr id="235" name="Google Shape;235;p16"/>
          <p:cNvSpPr txBox="1"/>
          <p:nvPr/>
        </p:nvSpPr>
        <p:spPr>
          <a:xfrm>
            <a:off x="854625" y="3076643"/>
            <a:ext cx="1311910" cy="167640"/>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115909"/>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future global citizens.</a:t>
            </a:r>
            <a:endParaRPr b="0" i="0" sz="1100" u="none" cap="none" strike="noStrike">
              <a:solidFill>
                <a:schemeClr val="dk1"/>
              </a:solidFill>
              <a:latin typeface="Arial"/>
              <a:ea typeface="Arial"/>
              <a:cs typeface="Arial"/>
              <a:sym typeface="Arial"/>
            </a:endParaRPr>
          </a:p>
        </p:txBody>
      </p:sp>
      <p:sp>
        <p:nvSpPr>
          <p:cNvPr id="236" name="Google Shape;236;p16"/>
          <p:cNvSpPr txBox="1"/>
          <p:nvPr/>
        </p:nvSpPr>
        <p:spPr>
          <a:xfrm>
            <a:off x="541705" y="3339278"/>
            <a:ext cx="7912734" cy="167640"/>
          </a:xfrm>
          <a:prstGeom prst="rect">
            <a:avLst/>
          </a:prstGeom>
          <a:solidFill>
            <a:srgbClr val="FFFFFF"/>
          </a:solidFill>
          <a:ln>
            <a:noFill/>
          </a:ln>
        </p:spPr>
        <p:txBody>
          <a:bodyPr anchorCtr="0" anchor="t" bIns="0" lIns="0" spcFirstLastPara="1" rIns="0" wrap="square" tIns="0">
            <a:spAutoFit/>
          </a:bodyPr>
          <a:lstStyle/>
          <a:p>
            <a:pPr indent="-312420" lvl="0" marL="312420" marR="0" rtl="0" algn="l">
              <a:lnSpc>
                <a:spcPct val="115909"/>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We foster lifelong bonds among faculty, staff, and students to encourage a culture of integrity, collaboration, and collegiality.</a:t>
            </a:r>
            <a:endParaRPr b="0" i="0" sz="1100" u="none" cap="none" strike="noStrike">
              <a:solidFill>
                <a:schemeClr val="dk1"/>
              </a:solidFill>
              <a:latin typeface="Arial"/>
              <a:ea typeface="Arial"/>
              <a:cs typeface="Arial"/>
              <a:sym typeface="Arial"/>
            </a:endParaRPr>
          </a:p>
        </p:txBody>
      </p:sp>
      <p:sp>
        <p:nvSpPr>
          <p:cNvPr id="237" name="Google Shape;237;p16"/>
          <p:cNvSpPr txBox="1"/>
          <p:nvPr/>
        </p:nvSpPr>
        <p:spPr>
          <a:xfrm>
            <a:off x="541705" y="3601913"/>
            <a:ext cx="8063230" cy="167640"/>
          </a:xfrm>
          <a:prstGeom prst="rect">
            <a:avLst/>
          </a:prstGeom>
          <a:solidFill>
            <a:srgbClr val="FFFFFF"/>
          </a:solidFill>
          <a:ln>
            <a:noFill/>
          </a:ln>
        </p:spPr>
        <p:txBody>
          <a:bodyPr anchorCtr="0" anchor="t" bIns="0" lIns="0" spcFirstLastPara="1" rIns="0" wrap="square" tIns="0">
            <a:spAutoFit/>
          </a:bodyPr>
          <a:lstStyle/>
          <a:p>
            <a:pPr indent="-312420" lvl="0" marL="312420" marR="0" rtl="0" algn="l">
              <a:lnSpc>
                <a:spcPct val="115909"/>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We instill in students a sense of responsibility for one another and for the broader world, and give them ample opportunities to</a:t>
            </a:r>
            <a:endParaRPr b="0" i="0" sz="1100" u="none" cap="none" strike="noStrike">
              <a:solidFill>
                <a:schemeClr val="dk1"/>
              </a:solidFill>
              <a:latin typeface="Arial"/>
              <a:ea typeface="Arial"/>
              <a:cs typeface="Arial"/>
              <a:sym typeface="Arial"/>
            </a:endParaRPr>
          </a:p>
        </p:txBody>
      </p:sp>
      <p:sp>
        <p:nvSpPr>
          <p:cNvPr id="238" name="Google Shape;238;p16"/>
          <p:cNvSpPr txBox="1"/>
          <p:nvPr/>
        </p:nvSpPr>
        <p:spPr>
          <a:xfrm>
            <a:off x="854625" y="3864548"/>
            <a:ext cx="2165350" cy="167640"/>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115909"/>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share their expertise and passions.</a:t>
            </a:r>
            <a:endParaRPr b="0" i="0" sz="1100" u="none" cap="none" strike="noStrike">
              <a:solidFill>
                <a:schemeClr val="dk1"/>
              </a:solidFill>
              <a:latin typeface="Arial"/>
              <a:ea typeface="Arial"/>
              <a:cs typeface="Arial"/>
              <a:sym typeface="Arial"/>
            </a:endParaRPr>
          </a:p>
        </p:txBody>
      </p:sp>
      <p:sp>
        <p:nvSpPr>
          <p:cNvPr id="239" name="Google Shape;239;p16"/>
          <p:cNvSpPr txBox="1"/>
          <p:nvPr/>
        </p:nvSpPr>
        <p:spPr>
          <a:xfrm>
            <a:off x="541705" y="4127183"/>
            <a:ext cx="6891655" cy="167640"/>
          </a:xfrm>
          <a:prstGeom prst="rect">
            <a:avLst/>
          </a:prstGeom>
          <a:solidFill>
            <a:srgbClr val="FFFFFF"/>
          </a:solidFill>
          <a:ln>
            <a:noFill/>
          </a:ln>
        </p:spPr>
        <p:txBody>
          <a:bodyPr anchorCtr="0" anchor="t" bIns="0" lIns="0" spcFirstLastPara="1" rIns="0" wrap="square" tIns="0">
            <a:spAutoFit/>
          </a:bodyPr>
          <a:lstStyle/>
          <a:p>
            <a:pPr indent="-312420" lvl="0" marL="312420" marR="0" rtl="0" algn="l">
              <a:lnSpc>
                <a:spcPct val="115909"/>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We promote the vigorous and open debate of ideas while encouraging mutual respect for diverse opinions.</a:t>
            </a:r>
            <a:endParaRPr b="0" i="0" sz="1100" u="none" cap="none" strike="noStrike">
              <a:solidFill>
                <a:schemeClr val="dk1"/>
              </a:solidFill>
              <a:latin typeface="Arial"/>
              <a:ea typeface="Arial"/>
              <a:cs typeface="Arial"/>
              <a:sym typeface="Arial"/>
            </a:endParaRPr>
          </a:p>
        </p:txBody>
      </p:sp>
      <p:sp>
        <p:nvSpPr>
          <p:cNvPr id="240" name="Google Shape;240;p16"/>
          <p:cNvSpPr txBox="1"/>
          <p:nvPr/>
        </p:nvSpPr>
        <p:spPr>
          <a:xfrm>
            <a:off x="541705" y="4389818"/>
            <a:ext cx="7754620" cy="167640"/>
          </a:xfrm>
          <a:prstGeom prst="rect">
            <a:avLst/>
          </a:prstGeom>
          <a:solidFill>
            <a:srgbClr val="FFFFFF"/>
          </a:solidFill>
          <a:ln>
            <a:noFill/>
          </a:ln>
        </p:spPr>
        <p:txBody>
          <a:bodyPr anchorCtr="0" anchor="t" bIns="0" lIns="0" spcFirstLastPara="1" rIns="0" wrap="square" tIns="0">
            <a:spAutoFit/>
          </a:bodyPr>
          <a:lstStyle/>
          <a:p>
            <a:pPr indent="-312420" lvl="0" marL="312420" marR="0" rtl="0" algn="l">
              <a:lnSpc>
                <a:spcPct val="115909"/>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We provide comprehensive out-of-classroom experiences, including service opportunities, international study, and global</a:t>
            </a:r>
            <a:endParaRPr b="0" i="0" sz="1100" u="none" cap="none" strike="noStrike">
              <a:solidFill>
                <a:schemeClr val="dk1"/>
              </a:solidFill>
              <a:latin typeface="Arial"/>
              <a:ea typeface="Arial"/>
              <a:cs typeface="Arial"/>
              <a:sym typeface="Arial"/>
            </a:endParaRPr>
          </a:p>
        </p:txBody>
      </p:sp>
      <p:sp>
        <p:nvSpPr>
          <p:cNvPr id="241" name="Google Shape;241;p16"/>
          <p:cNvSpPr txBox="1"/>
          <p:nvPr/>
        </p:nvSpPr>
        <p:spPr>
          <a:xfrm>
            <a:off x="854625" y="4652452"/>
            <a:ext cx="789305" cy="167640"/>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115909"/>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engagement</a:t>
            </a:r>
            <a:endParaRPr b="0" i="0" sz="1100" u="none" cap="none" strike="noStrike">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5" name="Shape 245"/>
        <p:cNvGrpSpPr/>
        <p:nvPr/>
      </p:nvGrpSpPr>
      <p:grpSpPr>
        <a:xfrm>
          <a:off x="0" y="0"/>
          <a:ext cx="0" cy="0"/>
          <a:chOff x="0" y="0"/>
          <a:chExt cx="0" cy="0"/>
        </a:xfrm>
      </p:grpSpPr>
      <p:sp>
        <p:nvSpPr>
          <p:cNvPr id="246" name="Google Shape;246;p17"/>
          <p:cNvSpPr/>
          <p:nvPr/>
        </p:nvSpPr>
        <p:spPr>
          <a:xfrm>
            <a:off x="0" y="0"/>
            <a:ext cx="9141714" cy="5143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7" name="Google Shape;247;p17"/>
          <p:cNvSpPr/>
          <p:nvPr/>
        </p:nvSpPr>
        <p:spPr>
          <a:xfrm rot="8888549">
            <a:off x="-794604" y="-831741"/>
            <a:ext cx="5384871" cy="3919923"/>
          </a:xfrm>
          <a:custGeom>
            <a:rect b="b" l="l" r="r" t="t"/>
            <a:pathLst>
              <a:path extrusionOk="0" h="5226565" w="7179830">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8" name="Google Shape;248;p17"/>
          <p:cNvSpPr txBox="1"/>
          <p:nvPr>
            <p:ph type="title"/>
          </p:nvPr>
        </p:nvSpPr>
        <p:spPr>
          <a:xfrm>
            <a:off x="630934" y="505327"/>
            <a:ext cx="2733367" cy="1810866"/>
          </a:xfrm>
          <a:prstGeom prst="rect">
            <a:avLst/>
          </a:prstGeom>
          <a:noFill/>
          <a:ln>
            <a:noFill/>
          </a:ln>
        </p:spPr>
        <p:txBody>
          <a:bodyPr anchorCtr="0" anchor="t" bIns="45700" lIns="91425" spcFirstLastPara="1" rIns="91425" wrap="square" tIns="45700">
            <a:normAutofit/>
          </a:bodyPr>
          <a:lstStyle/>
          <a:p>
            <a:pPr indent="0" lvl="0" marL="12700" rtl="0" algn="l">
              <a:lnSpc>
                <a:spcPct val="90000"/>
              </a:lnSpc>
              <a:spcBef>
                <a:spcPts val="0"/>
              </a:spcBef>
              <a:spcAft>
                <a:spcPts val="0"/>
              </a:spcAft>
              <a:buClr>
                <a:srgbClr val="FFFFFF"/>
              </a:buClr>
              <a:buSzPts val="4100"/>
              <a:buFont typeface="Calibri"/>
              <a:buNone/>
            </a:pPr>
            <a:r>
              <a:rPr lang="en-US" sz="4100">
                <a:solidFill>
                  <a:srgbClr val="FFFFFF"/>
                </a:solidFill>
                <a:latin typeface="Calibri"/>
                <a:ea typeface="Calibri"/>
                <a:cs typeface="Calibri"/>
                <a:sym typeface="Calibri"/>
              </a:rPr>
              <a:t>Dartmouth College</a:t>
            </a:r>
            <a:endParaRPr/>
          </a:p>
        </p:txBody>
      </p:sp>
      <p:sp>
        <p:nvSpPr>
          <p:cNvPr id="249" name="Google Shape;249;p17"/>
          <p:cNvSpPr txBox="1"/>
          <p:nvPr/>
        </p:nvSpPr>
        <p:spPr>
          <a:xfrm>
            <a:off x="4571999" y="661736"/>
            <a:ext cx="3941065" cy="3970985"/>
          </a:xfrm>
          <a:prstGeom prst="rect">
            <a:avLst/>
          </a:prstGeom>
          <a:noFill/>
          <a:ln>
            <a:noFill/>
          </a:ln>
        </p:spPr>
        <p:txBody>
          <a:bodyPr anchorCtr="0" anchor="t" bIns="45700" lIns="91425" spcFirstLastPara="1" rIns="91425" wrap="square" tIns="45700">
            <a:normAutofit/>
          </a:bodyPr>
          <a:lstStyle/>
          <a:p>
            <a:pPr indent="-107950" lvl="0" marL="12700" marR="68580" rtl="0" algn="l">
              <a:lnSpc>
                <a:spcPct val="90000"/>
              </a:lnSpc>
              <a:spcBef>
                <a:spcPts val="0"/>
              </a:spcBef>
              <a:spcAft>
                <a:spcPts val="0"/>
              </a:spcAft>
              <a:buClr>
                <a:schemeClr val="dk1"/>
              </a:buClr>
              <a:buSzPts val="1700"/>
              <a:buFont typeface="Arial"/>
              <a:buChar char="•"/>
            </a:pPr>
            <a:r>
              <a:rPr b="0" i="0" lang="en-US" sz="1700" u="none" cap="none" strike="noStrike">
                <a:solidFill>
                  <a:schemeClr val="dk1"/>
                </a:solidFill>
                <a:latin typeface="Calibri"/>
                <a:ea typeface="Calibri"/>
                <a:cs typeface="Calibri"/>
                <a:sym typeface="Calibri"/>
              </a:rPr>
              <a:t>Knack : Deep interest in their major and an advancement of it, FIT for Dartmouth in  activities, global engagement and academic rigor. Check out dartmouth admissions on  INSTAGRAM and the admissions blog.</a:t>
            </a:r>
            <a:endParaRPr b="0" i="0" sz="1700" u="none" cap="none" strike="noStrike">
              <a:solidFill>
                <a:schemeClr val="dk1"/>
              </a:solidFill>
              <a:latin typeface="Calibri"/>
              <a:ea typeface="Calibri"/>
              <a:cs typeface="Calibri"/>
              <a:sym typeface="Calibri"/>
            </a:endParaRPr>
          </a:p>
          <a:p>
            <a:pPr indent="-107950" lvl="0" marL="12700" marR="5080" rtl="0" algn="l">
              <a:lnSpc>
                <a:spcPct val="90000"/>
              </a:lnSpc>
              <a:spcBef>
                <a:spcPts val="1200"/>
              </a:spcBef>
              <a:spcAft>
                <a:spcPts val="0"/>
              </a:spcAft>
              <a:buClr>
                <a:schemeClr val="dk1"/>
              </a:buClr>
              <a:buSzPts val="1700"/>
              <a:buFont typeface="Arial"/>
              <a:buChar char="•"/>
            </a:pPr>
            <a:r>
              <a:rPr b="0" i="0" lang="en-US" sz="1700" u="none" cap="none" strike="noStrike">
                <a:solidFill>
                  <a:schemeClr val="dk1"/>
                </a:solidFill>
                <a:latin typeface="Calibri"/>
                <a:ea typeface="Calibri"/>
                <a:cs typeface="Calibri"/>
                <a:sym typeface="Calibri"/>
              </a:rPr>
              <a:t>Really interested in First-Generation Low-Income Students, Women in STEM,  Technical students at heart with a special hook or a niche, </a:t>
            </a:r>
            <a:endParaRPr b="0" i="0" sz="1400" u="none" cap="none" strike="noStrike">
              <a:solidFill>
                <a:srgbClr val="000000"/>
              </a:solidFill>
              <a:latin typeface="Arial"/>
              <a:ea typeface="Arial"/>
              <a:cs typeface="Arial"/>
              <a:sym typeface="Arial"/>
            </a:endParaRPr>
          </a:p>
          <a:p>
            <a:pPr indent="-107950" lvl="0" marL="12700" marR="5080" rtl="0" algn="l">
              <a:lnSpc>
                <a:spcPct val="90000"/>
              </a:lnSpc>
              <a:spcBef>
                <a:spcPts val="1200"/>
              </a:spcBef>
              <a:spcAft>
                <a:spcPts val="0"/>
              </a:spcAft>
              <a:buClr>
                <a:schemeClr val="dk1"/>
              </a:buClr>
              <a:buSzPts val="1700"/>
              <a:buFont typeface="Arial"/>
              <a:buChar char="•"/>
            </a:pPr>
            <a:r>
              <a:rPr b="0" i="0" lang="en-US" sz="1700" u="none" cap="none" strike="noStrike">
                <a:solidFill>
                  <a:schemeClr val="dk1"/>
                </a:solidFill>
                <a:latin typeface="Calibri"/>
                <a:ea typeface="Calibri"/>
                <a:cs typeface="Calibri"/>
                <a:sym typeface="Calibri"/>
              </a:rPr>
              <a:t>Spectacular students such as  MAXWELL SIMBA- The Boy who harnessed the wind and MARYANNE - Kenya 2 in  KCSE.</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3" name="Shape 253"/>
        <p:cNvGrpSpPr/>
        <p:nvPr/>
      </p:nvGrpSpPr>
      <p:grpSpPr>
        <a:xfrm>
          <a:off x="0" y="0"/>
          <a:ext cx="0" cy="0"/>
          <a:chOff x="0" y="0"/>
          <a:chExt cx="0" cy="0"/>
        </a:xfrm>
      </p:grpSpPr>
      <p:sp>
        <p:nvSpPr>
          <p:cNvPr id="254" name="Google Shape;254;p18"/>
          <p:cNvSpPr/>
          <p:nvPr/>
        </p:nvSpPr>
        <p:spPr>
          <a:xfrm>
            <a:off x="0" y="0"/>
            <a:ext cx="3819906" cy="51435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5" name="Google Shape;255;p18"/>
          <p:cNvSpPr txBox="1"/>
          <p:nvPr>
            <p:ph type="title"/>
          </p:nvPr>
        </p:nvSpPr>
        <p:spPr>
          <a:xfrm>
            <a:off x="393555" y="465294"/>
            <a:ext cx="2856201" cy="4128516"/>
          </a:xfrm>
          <a:prstGeom prst="rect">
            <a:avLst/>
          </a:prstGeom>
          <a:noFill/>
          <a:ln>
            <a:noFill/>
          </a:ln>
        </p:spPr>
        <p:txBody>
          <a:bodyPr anchorCtr="0" anchor="ctr" bIns="45700" lIns="91425" spcFirstLastPara="1" rIns="91425" wrap="square" tIns="45700">
            <a:normAutofit/>
          </a:bodyPr>
          <a:lstStyle/>
          <a:p>
            <a:pPr indent="0" lvl="0" marL="12700" rtl="0" algn="l">
              <a:lnSpc>
                <a:spcPct val="90000"/>
              </a:lnSpc>
              <a:spcBef>
                <a:spcPts val="0"/>
              </a:spcBef>
              <a:spcAft>
                <a:spcPts val="0"/>
              </a:spcAft>
              <a:buClr>
                <a:schemeClr val="lt1"/>
              </a:buClr>
              <a:buSzPts val="3800"/>
              <a:buFont typeface="Calibri"/>
              <a:buNone/>
            </a:pPr>
            <a:r>
              <a:rPr lang="en-US" sz="3500">
                <a:solidFill>
                  <a:schemeClr val="lt1"/>
                </a:solidFill>
                <a:latin typeface="Calibri"/>
                <a:ea typeface="Calibri"/>
                <a:cs typeface="Calibri"/>
                <a:sym typeface="Calibri"/>
              </a:rPr>
              <a:t>Massachusetts Institute of Technology.</a:t>
            </a:r>
            <a:endParaRPr sz="3000"/>
          </a:p>
        </p:txBody>
      </p:sp>
      <p:grpSp>
        <p:nvGrpSpPr>
          <p:cNvPr id="256" name="Google Shape;256;p18"/>
          <p:cNvGrpSpPr/>
          <p:nvPr/>
        </p:nvGrpSpPr>
        <p:grpSpPr>
          <a:xfrm>
            <a:off x="4101291" y="636601"/>
            <a:ext cx="4697730" cy="3785901"/>
            <a:chOff x="0" y="171307"/>
            <a:chExt cx="4697730" cy="3785901"/>
          </a:xfrm>
        </p:grpSpPr>
        <p:sp>
          <p:nvSpPr>
            <p:cNvPr id="257" name="Google Shape;257;p18"/>
            <p:cNvSpPr/>
            <p:nvPr/>
          </p:nvSpPr>
          <p:spPr>
            <a:xfrm>
              <a:off x="0" y="171307"/>
              <a:ext cx="4697730" cy="727228"/>
            </a:xfrm>
            <a:prstGeom prst="roundRect">
              <a:avLst>
                <a:gd fmla="val 16667" name="adj"/>
              </a:avLst>
            </a:prstGeom>
            <a:solidFill>
              <a:schemeClr val="accent2"/>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18"/>
            <p:cNvSpPr txBox="1"/>
            <p:nvPr/>
          </p:nvSpPr>
          <p:spPr>
            <a:xfrm>
              <a:off x="35500" y="206807"/>
              <a:ext cx="4626730" cy="656228"/>
            </a:xfrm>
            <a:prstGeom prst="rect">
              <a:avLst/>
            </a:prstGeom>
            <a:noFill/>
            <a:ln>
              <a:noFill/>
            </a:ln>
          </p:spPr>
          <p:txBody>
            <a:bodyPr anchorCtr="0" anchor="ctr" bIns="49525" lIns="49525" spcFirstLastPara="1" rIns="49525" wrap="square" tIns="49525">
              <a:noAutofit/>
            </a:bodyPr>
            <a:lstStyle/>
            <a:p>
              <a:pPr indent="0" lvl="0" marL="0" marR="0" rtl="0" algn="l">
                <a:lnSpc>
                  <a:spcPct val="90000"/>
                </a:lnSpc>
                <a:spcBef>
                  <a:spcPts val="0"/>
                </a:spcBef>
                <a:spcAft>
                  <a:spcPts val="0"/>
                </a:spcAft>
                <a:buClr>
                  <a:schemeClr val="lt1"/>
                </a:buClr>
                <a:buSzPts val="1300"/>
                <a:buFont typeface="Calibri"/>
                <a:buNone/>
              </a:pPr>
              <a:r>
                <a:rPr b="0" i="0" lang="en-US" sz="1300" u="none" cap="none" strike="noStrike">
                  <a:solidFill>
                    <a:schemeClr val="lt1"/>
                  </a:solidFill>
                  <a:latin typeface="Calibri"/>
                  <a:ea typeface="Calibri"/>
                  <a:cs typeface="Calibri"/>
                  <a:sym typeface="Calibri"/>
                </a:rPr>
                <a:t>The Admissions Committee evaluates students with the following characteristics:</a:t>
              </a:r>
              <a:endParaRPr b="0" i="0" sz="1400" u="none" cap="none" strike="noStrike">
                <a:solidFill>
                  <a:srgbClr val="000000"/>
                </a:solidFill>
                <a:latin typeface="Arial"/>
                <a:ea typeface="Arial"/>
                <a:cs typeface="Arial"/>
                <a:sym typeface="Arial"/>
              </a:endParaRPr>
            </a:p>
          </p:txBody>
        </p:sp>
        <p:sp>
          <p:nvSpPr>
            <p:cNvPr id="259" name="Google Shape;259;p18"/>
            <p:cNvSpPr/>
            <p:nvPr/>
          </p:nvSpPr>
          <p:spPr>
            <a:xfrm>
              <a:off x="0" y="935975"/>
              <a:ext cx="4697730" cy="727228"/>
            </a:xfrm>
            <a:prstGeom prst="roundRect">
              <a:avLst>
                <a:gd fmla="val 16667" name="adj"/>
              </a:avLst>
            </a:prstGeom>
            <a:solidFill>
              <a:srgbClr val="D77850"/>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18"/>
            <p:cNvSpPr txBox="1"/>
            <p:nvPr/>
          </p:nvSpPr>
          <p:spPr>
            <a:xfrm>
              <a:off x="35500" y="971475"/>
              <a:ext cx="4626730" cy="656228"/>
            </a:xfrm>
            <a:prstGeom prst="rect">
              <a:avLst/>
            </a:prstGeom>
            <a:noFill/>
            <a:ln>
              <a:noFill/>
            </a:ln>
          </p:spPr>
          <p:txBody>
            <a:bodyPr anchorCtr="0" anchor="ctr" bIns="49525" lIns="49525" spcFirstLastPara="1" rIns="49525" wrap="square" tIns="49525">
              <a:noAutofit/>
            </a:bodyPr>
            <a:lstStyle/>
            <a:p>
              <a:pPr indent="0" lvl="0" marL="0" marR="0" rtl="0" algn="l">
                <a:lnSpc>
                  <a:spcPct val="90000"/>
                </a:lnSpc>
                <a:spcBef>
                  <a:spcPts val="0"/>
                </a:spcBef>
                <a:spcAft>
                  <a:spcPts val="0"/>
                </a:spcAft>
                <a:buClr>
                  <a:schemeClr val="lt1"/>
                </a:buClr>
                <a:buSzPts val="1300"/>
                <a:buFont typeface="Calibri"/>
                <a:buNone/>
              </a:pPr>
              <a:r>
                <a:rPr b="0" i="0" lang="en-US" sz="1300" u="none" cap="none" strike="noStrike">
                  <a:solidFill>
                    <a:schemeClr val="lt1"/>
                  </a:solidFill>
                  <a:latin typeface="Calibri"/>
                  <a:ea typeface="Calibri"/>
                  <a:cs typeface="Calibri"/>
                  <a:sym typeface="Calibri"/>
                </a:rPr>
                <a:t>Alignment with MIT Mission, collaborative and cooperative spirit, initiative,ability to prioritize  balance, hands-on creativity, Intellectual risk taking and the character of the MIT community.</a:t>
              </a:r>
              <a:endParaRPr b="0" i="0" sz="1400" u="none" cap="none" strike="noStrike">
                <a:solidFill>
                  <a:srgbClr val="000000"/>
                </a:solidFill>
                <a:latin typeface="Arial"/>
                <a:ea typeface="Arial"/>
                <a:cs typeface="Arial"/>
                <a:sym typeface="Arial"/>
              </a:endParaRPr>
            </a:p>
          </p:txBody>
        </p:sp>
        <p:sp>
          <p:nvSpPr>
            <p:cNvPr id="261" name="Google Shape;261;p18"/>
            <p:cNvSpPr/>
            <p:nvPr/>
          </p:nvSpPr>
          <p:spPr>
            <a:xfrm>
              <a:off x="0" y="1700643"/>
              <a:ext cx="4697730" cy="727228"/>
            </a:xfrm>
            <a:prstGeom prst="roundRect">
              <a:avLst>
                <a:gd fmla="val 16667" name="adj"/>
              </a:avLst>
            </a:prstGeom>
            <a:solidFill>
              <a:srgbClr val="C47F6E"/>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18"/>
            <p:cNvSpPr txBox="1"/>
            <p:nvPr/>
          </p:nvSpPr>
          <p:spPr>
            <a:xfrm>
              <a:off x="35500" y="1736143"/>
              <a:ext cx="4626730" cy="656228"/>
            </a:xfrm>
            <a:prstGeom prst="rect">
              <a:avLst/>
            </a:prstGeom>
            <a:noFill/>
            <a:ln>
              <a:noFill/>
            </a:ln>
          </p:spPr>
          <p:txBody>
            <a:bodyPr anchorCtr="0" anchor="ctr" bIns="49525" lIns="49525" spcFirstLastPara="1" rIns="49525" wrap="square" tIns="49525">
              <a:noAutofit/>
            </a:bodyPr>
            <a:lstStyle/>
            <a:p>
              <a:pPr indent="0" lvl="0" marL="0" marR="0" rtl="0" algn="l">
                <a:lnSpc>
                  <a:spcPct val="90000"/>
                </a:lnSpc>
                <a:spcBef>
                  <a:spcPts val="0"/>
                </a:spcBef>
                <a:spcAft>
                  <a:spcPts val="0"/>
                </a:spcAft>
                <a:buClr>
                  <a:schemeClr val="lt1"/>
                </a:buClr>
                <a:buSzPts val="1300"/>
                <a:buFont typeface="Calibri"/>
                <a:buNone/>
              </a:pPr>
              <a:r>
                <a:rPr b="0" i="0" lang="en-US" sz="1300" u="none" cap="none" strike="noStrike">
                  <a:solidFill>
                    <a:schemeClr val="lt1"/>
                  </a:solidFill>
                  <a:latin typeface="Calibri"/>
                  <a:ea typeface="Calibri"/>
                  <a:cs typeface="Calibri"/>
                  <a:sym typeface="Calibri"/>
                </a:rPr>
                <a:t>STATS: Exceptional in stem related courses and entrepreneurship, 99th percentile in class rank and  High school, Exceptional SAT scores.</a:t>
              </a:r>
              <a:endParaRPr b="0" i="0" sz="1400" u="none" cap="none" strike="noStrike">
                <a:solidFill>
                  <a:srgbClr val="000000"/>
                </a:solidFill>
                <a:latin typeface="Arial"/>
                <a:ea typeface="Arial"/>
                <a:cs typeface="Arial"/>
                <a:sym typeface="Arial"/>
              </a:endParaRPr>
            </a:p>
          </p:txBody>
        </p:sp>
        <p:sp>
          <p:nvSpPr>
            <p:cNvPr id="263" name="Google Shape;263;p18"/>
            <p:cNvSpPr/>
            <p:nvPr/>
          </p:nvSpPr>
          <p:spPr>
            <a:xfrm>
              <a:off x="0" y="2465312"/>
              <a:ext cx="4697730" cy="727228"/>
            </a:xfrm>
            <a:prstGeom prst="roundRect">
              <a:avLst>
                <a:gd fmla="val 16667" name="adj"/>
              </a:avLst>
            </a:prstGeom>
            <a:solidFill>
              <a:srgbClr val="B38E8A"/>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18"/>
            <p:cNvSpPr txBox="1"/>
            <p:nvPr/>
          </p:nvSpPr>
          <p:spPr>
            <a:xfrm>
              <a:off x="35500" y="2500812"/>
              <a:ext cx="4626730" cy="656228"/>
            </a:xfrm>
            <a:prstGeom prst="rect">
              <a:avLst/>
            </a:prstGeom>
            <a:noFill/>
            <a:ln>
              <a:noFill/>
            </a:ln>
          </p:spPr>
          <p:txBody>
            <a:bodyPr anchorCtr="0" anchor="ctr" bIns="49525" lIns="49525" spcFirstLastPara="1" rIns="49525" wrap="square" tIns="49525">
              <a:noAutofit/>
            </a:bodyPr>
            <a:lstStyle/>
            <a:p>
              <a:pPr indent="0" lvl="0" marL="0" marR="0" rtl="0" algn="l">
                <a:lnSpc>
                  <a:spcPct val="90000"/>
                </a:lnSpc>
                <a:spcBef>
                  <a:spcPts val="0"/>
                </a:spcBef>
                <a:spcAft>
                  <a:spcPts val="0"/>
                </a:spcAft>
                <a:buClr>
                  <a:schemeClr val="lt1"/>
                </a:buClr>
                <a:buSzPts val="1300"/>
                <a:buFont typeface="Calibri"/>
                <a:buNone/>
              </a:pPr>
              <a:r>
                <a:rPr b="0" i="0" lang="en-US" sz="1300" u="none" cap="none" strike="noStrike">
                  <a:solidFill>
                    <a:schemeClr val="lt1"/>
                  </a:solidFill>
                  <a:latin typeface="Calibri"/>
                  <a:ea typeface="Calibri"/>
                  <a:cs typeface="Calibri"/>
                  <a:sym typeface="Calibri"/>
                </a:rPr>
                <a:t>Naomi Kirimi -from Pangani- Kenya 1, deeply interested in Environmental engineering.  Edwin Ouko - from Light Academy, Kenya </a:t>
              </a:r>
              <a:r>
                <a:rPr lang="en-US" sz="1300">
                  <a:solidFill>
                    <a:schemeClr val="lt1"/>
                  </a:solidFill>
                  <a:latin typeface="Calibri"/>
                  <a:ea typeface="Calibri"/>
                  <a:cs typeface="Calibri"/>
                  <a:sym typeface="Calibri"/>
                </a:rPr>
                <a:t>3</a:t>
              </a:r>
              <a:r>
                <a:rPr b="0" i="0" lang="en-US" sz="1300" u="none" cap="none" strike="noStrike">
                  <a:solidFill>
                    <a:schemeClr val="lt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265" name="Google Shape;265;p18"/>
            <p:cNvSpPr/>
            <p:nvPr/>
          </p:nvSpPr>
          <p:spPr>
            <a:xfrm>
              <a:off x="0" y="3229980"/>
              <a:ext cx="4697730" cy="727228"/>
            </a:xfrm>
            <a:prstGeom prst="roundRect">
              <a:avLst>
                <a:gd fmla="val 16667" name="adj"/>
              </a:avLst>
            </a:prstGeom>
            <a:solidFill>
              <a:srgbClr val="A4A4A4"/>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18"/>
            <p:cNvSpPr txBox="1"/>
            <p:nvPr/>
          </p:nvSpPr>
          <p:spPr>
            <a:xfrm>
              <a:off x="35500" y="3265480"/>
              <a:ext cx="4626730" cy="656228"/>
            </a:xfrm>
            <a:prstGeom prst="rect">
              <a:avLst/>
            </a:prstGeom>
            <a:noFill/>
            <a:ln>
              <a:noFill/>
            </a:ln>
          </p:spPr>
          <p:txBody>
            <a:bodyPr anchorCtr="0" anchor="ctr" bIns="49525" lIns="49525" spcFirstLastPara="1" rIns="49525" wrap="square" tIns="49525">
              <a:noAutofit/>
            </a:bodyPr>
            <a:lstStyle/>
            <a:p>
              <a:pPr indent="0" lvl="0" marL="0" marR="0" rtl="0" algn="l">
                <a:lnSpc>
                  <a:spcPct val="90000"/>
                </a:lnSpc>
                <a:spcBef>
                  <a:spcPts val="0"/>
                </a:spcBef>
                <a:spcAft>
                  <a:spcPts val="0"/>
                </a:spcAft>
                <a:buClr>
                  <a:schemeClr val="lt1"/>
                </a:buClr>
                <a:buSzPts val="1300"/>
                <a:buFont typeface="Calibri"/>
                <a:buNone/>
              </a:pPr>
              <a:r>
                <a:rPr b="0" i="0" lang="en-US" sz="1300" u="none" cap="none" strike="noStrike">
                  <a:solidFill>
                    <a:schemeClr val="lt1"/>
                  </a:solidFill>
                  <a:latin typeface="Calibri"/>
                  <a:ea typeface="Calibri"/>
                  <a:cs typeface="Calibri"/>
                  <a:sym typeface="Calibri"/>
                </a:rPr>
                <a:t>Eddy Ogola- From Alliance, tangible projects with National Traction.</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0" name="Shape 270"/>
        <p:cNvGrpSpPr/>
        <p:nvPr/>
      </p:nvGrpSpPr>
      <p:grpSpPr>
        <a:xfrm>
          <a:off x="0" y="0"/>
          <a:ext cx="0" cy="0"/>
          <a:chOff x="0" y="0"/>
          <a:chExt cx="0" cy="0"/>
        </a:xfrm>
      </p:grpSpPr>
      <p:sp>
        <p:nvSpPr>
          <p:cNvPr id="271" name="Google Shape;271;p19"/>
          <p:cNvSpPr/>
          <p:nvPr/>
        </p:nvSpPr>
        <p:spPr>
          <a:xfrm>
            <a:off x="2286" y="0"/>
            <a:ext cx="9141714" cy="5143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2" name="Google Shape;272;p19"/>
          <p:cNvSpPr/>
          <p:nvPr/>
        </p:nvSpPr>
        <p:spPr>
          <a:xfrm>
            <a:off x="0" y="0"/>
            <a:ext cx="3125454" cy="5143500"/>
          </a:xfrm>
          <a:custGeom>
            <a:rect b="b" l="l" r="r" t="t"/>
            <a:pathLst>
              <a:path extrusionOk="0" h="6858000" w="4167271">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3" name="Google Shape;273;p19"/>
          <p:cNvSpPr txBox="1"/>
          <p:nvPr>
            <p:ph type="title"/>
          </p:nvPr>
        </p:nvSpPr>
        <p:spPr>
          <a:xfrm>
            <a:off x="515125" y="865179"/>
            <a:ext cx="2400300" cy="3345872"/>
          </a:xfrm>
          <a:prstGeom prst="rect">
            <a:avLst/>
          </a:prstGeom>
          <a:noFill/>
          <a:ln>
            <a:noFill/>
          </a:ln>
        </p:spPr>
        <p:txBody>
          <a:bodyPr anchorCtr="0" anchor="ctr" bIns="45700" lIns="91425" spcFirstLastPara="1" rIns="91425" wrap="square" tIns="45700">
            <a:normAutofit/>
          </a:bodyPr>
          <a:lstStyle/>
          <a:p>
            <a:pPr indent="0" lvl="0" marL="12700" rtl="0" algn="l">
              <a:lnSpc>
                <a:spcPct val="90000"/>
              </a:lnSpc>
              <a:spcBef>
                <a:spcPts val="0"/>
              </a:spcBef>
              <a:spcAft>
                <a:spcPts val="0"/>
              </a:spcAft>
              <a:buClr>
                <a:srgbClr val="FFFFFF"/>
              </a:buClr>
              <a:buSzPts val="4400"/>
              <a:buFont typeface="Calibri"/>
              <a:buNone/>
            </a:pPr>
            <a:r>
              <a:rPr lang="en-US" sz="4400">
                <a:solidFill>
                  <a:srgbClr val="FFFFFF"/>
                </a:solidFill>
                <a:latin typeface="Calibri"/>
                <a:ea typeface="Calibri"/>
                <a:cs typeface="Calibri"/>
                <a:sym typeface="Calibri"/>
              </a:rPr>
              <a:t>Insights from the Students Body</a:t>
            </a:r>
            <a:endParaRPr/>
          </a:p>
        </p:txBody>
      </p:sp>
      <p:sp>
        <p:nvSpPr>
          <p:cNvPr id="274" name="Google Shape;274;p19"/>
          <p:cNvSpPr/>
          <p:nvPr/>
        </p:nvSpPr>
        <p:spPr>
          <a:xfrm flipH="1" rot="10800000">
            <a:off x="5662801" y="1841609"/>
            <a:ext cx="3062575" cy="3062575"/>
          </a:xfrm>
          <a:prstGeom prst="arc">
            <a:avLst>
              <a:gd fmla="val 16200000" name="adj1"/>
              <a:gd fmla="val 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5" name="Google Shape;275;p19"/>
          <p:cNvSpPr txBox="1"/>
          <p:nvPr/>
        </p:nvSpPr>
        <p:spPr>
          <a:xfrm>
            <a:off x="3335481" y="443508"/>
            <a:ext cx="5179868" cy="4189214"/>
          </a:xfrm>
          <a:prstGeom prst="rect">
            <a:avLst/>
          </a:prstGeom>
          <a:noFill/>
          <a:ln>
            <a:noFill/>
          </a:ln>
        </p:spPr>
        <p:txBody>
          <a:bodyPr anchorCtr="0" anchor="ctr" bIns="45700" lIns="91425" spcFirstLastPara="1" rIns="91425" wrap="square" tIns="45700">
            <a:normAutofit/>
          </a:bodyPr>
          <a:lstStyle/>
          <a:p>
            <a:pPr indent="-82550" lvl="0" marL="12700" marR="175895" rtl="0" algn="l">
              <a:lnSpc>
                <a:spcPct val="90000"/>
              </a:lnSpc>
              <a:spcBef>
                <a:spcPts val="0"/>
              </a:spcBef>
              <a:spcAft>
                <a:spcPts val="0"/>
              </a:spcAft>
              <a:buClr>
                <a:schemeClr val="dk1"/>
              </a:buClr>
              <a:buSzPts val="1300"/>
              <a:buFont typeface="Arial"/>
              <a:buChar char="•"/>
            </a:pPr>
            <a:r>
              <a:rPr b="0" i="0" lang="en-US" sz="1300" u="none" cap="none" strike="noStrike">
                <a:solidFill>
                  <a:schemeClr val="dk1"/>
                </a:solidFill>
                <a:latin typeface="Calibri"/>
                <a:ea typeface="Calibri"/>
                <a:cs typeface="Calibri"/>
                <a:sym typeface="Calibri"/>
              </a:rPr>
              <a:t>Stanford University : play the LGBTQ card/Stereotypical card/Diversity card with a hook in a particular ﬁeld  with a background motivation to it. Community engagement is upheld. Breed an entrepreneurial spirit and  intellectual vitality.(Kelvin Kahiu/Shirley/Anicet Dushime)</a:t>
            </a:r>
            <a:endParaRPr b="0" i="0" sz="1300" u="none" cap="none" strike="noStrike">
              <a:solidFill>
                <a:schemeClr val="dk1"/>
              </a:solidFill>
              <a:latin typeface="Calibri"/>
              <a:ea typeface="Calibri"/>
              <a:cs typeface="Calibri"/>
              <a:sym typeface="Calibri"/>
            </a:endParaRPr>
          </a:p>
          <a:p>
            <a:pPr indent="-82550" lvl="0" marL="12700" marR="0" rtl="0" algn="l">
              <a:lnSpc>
                <a:spcPct val="90000"/>
              </a:lnSpc>
              <a:spcBef>
                <a:spcPts val="1075"/>
              </a:spcBef>
              <a:spcAft>
                <a:spcPts val="0"/>
              </a:spcAft>
              <a:buClr>
                <a:schemeClr val="dk1"/>
              </a:buClr>
              <a:buSzPts val="1300"/>
              <a:buFont typeface="Arial"/>
              <a:buChar char="•"/>
            </a:pPr>
            <a:r>
              <a:rPr b="0" i="0" lang="en-US" sz="1300" u="none" cap="none" strike="noStrike">
                <a:solidFill>
                  <a:schemeClr val="dk1"/>
                </a:solidFill>
                <a:latin typeface="Calibri"/>
                <a:ea typeface="Calibri"/>
                <a:cs typeface="Calibri"/>
                <a:sym typeface="Calibri"/>
              </a:rPr>
              <a:t>Columbia University: Inclined to their majors with a attach of literature. Perfect ﬁt in Humanities, Philosophy {they are looking for classics for literature and arts, love and utilisation of resources in New York.}</a:t>
            </a:r>
            <a:endParaRPr b="0" i="0" sz="1300" u="none" cap="none" strike="noStrike">
              <a:solidFill>
                <a:schemeClr val="dk1"/>
              </a:solidFill>
              <a:latin typeface="Calibri"/>
              <a:ea typeface="Calibri"/>
              <a:cs typeface="Calibri"/>
              <a:sym typeface="Calibri"/>
            </a:endParaRPr>
          </a:p>
          <a:p>
            <a:pPr indent="-82550" lvl="0" marL="12700" marR="0" rtl="0" algn="l">
              <a:lnSpc>
                <a:spcPct val="90000"/>
              </a:lnSpc>
              <a:spcBef>
                <a:spcPts val="1110"/>
              </a:spcBef>
              <a:spcAft>
                <a:spcPts val="0"/>
              </a:spcAft>
              <a:buClr>
                <a:schemeClr val="dk1"/>
              </a:buClr>
              <a:buSzPts val="1300"/>
              <a:buFont typeface="Arial"/>
              <a:buChar char="•"/>
            </a:pPr>
            <a:r>
              <a:rPr b="0" i="0" lang="en-US" sz="1300" u="none" cap="none" strike="noStrike">
                <a:solidFill>
                  <a:schemeClr val="dk1"/>
                </a:solidFill>
                <a:latin typeface="Calibri"/>
                <a:ea typeface="Calibri"/>
                <a:cs typeface="Calibri"/>
                <a:sym typeface="Calibri"/>
              </a:rPr>
              <a:t>Pomona College : its wholly liberal, open minded, tight -knit communities .</a:t>
            </a:r>
            <a:endParaRPr b="0" i="0" sz="1300" u="none" cap="none" strike="noStrike">
              <a:solidFill>
                <a:schemeClr val="dk1"/>
              </a:solidFill>
              <a:latin typeface="Calibri"/>
              <a:ea typeface="Calibri"/>
              <a:cs typeface="Calibri"/>
              <a:sym typeface="Calibri"/>
            </a:endParaRPr>
          </a:p>
          <a:p>
            <a:pPr indent="-82550" lvl="0" marL="12700" marR="647065" rtl="0" algn="l">
              <a:lnSpc>
                <a:spcPct val="90000"/>
              </a:lnSpc>
              <a:spcBef>
                <a:spcPts val="1240"/>
              </a:spcBef>
              <a:spcAft>
                <a:spcPts val="0"/>
              </a:spcAft>
              <a:buClr>
                <a:schemeClr val="dk1"/>
              </a:buClr>
              <a:buSzPts val="1300"/>
              <a:buFont typeface="Arial"/>
              <a:buChar char="•"/>
            </a:pPr>
            <a:r>
              <a:rPr b="0" i="0" lang="en-US" sz="1300" u="none" cap="none" strike="noStrike">
                <a:solidFill>
                  <a:schemeClr val="dk1"/>
                </a:solidFill>
                <a:latin typeface="Calibri"/>
                <a:ea typeface="Calibri"/>
                <a:cs typeface="Calibri"/>
                <a:sym typeface="Calibri"/>
              </a:rPr>
              <a:t>Johns Hopkins : Inclination to community service and research. Tie your major around engagement in  Baltimore and the core values in JHU.</a:t>
            </a:r>
            <a:endParaRPr b="0" i="0" sz="1300" u="none" cap="none" strike="noStrike">
              <a:solidFill>
                <a:schemeClr val="dk1"/>
              </a:solidFill>
              <a:latin typeface="Calibri"/>
              <a:ea typeface="Calibri"/>
              <a:cs typeface="Calibri"/>
              <a:sym typeface="Calibri"/>
            </a:endParaRPr>
          </a:p>
          <a:p>
            <a:pPr indent="-82550" lvl="0" marL="12700" marR="561340" rtl="0" algn="l">
              <a:lnSpc>
                <a:spcPct val="90000"/>
              </a:lnSpc>
              <a:spcBef>
                <a:spcPts val="240"/>
              </a:spcBef>
              <a:spcAft>
                <a:spcPts val="0"/>
              </a:spcAft>
              <a:buClr>
                <a:schemeClr val="dk1"/>
              </a:buClr>
              <a:buSzPts val="1300"/>
              <a:buFont typeface="Arial"/>
              <a:buChar char="•"/>
            </a:pPr>
            <a:r>
              <a:rPr b="0" i="0" lang="en-US" sz="1300" u="none" cap="none" strike="noStrike">
                <a:solidFill>
                  <a:schemeClr val="dk1"/>
                </a:solidFill>
                <a:latin typeface="Calibri"/>
                <a:ea typeface="Calibri"/>
                <a:cs typeface="Calibri"/>
                <a:sym typeface="Calibri"/>
              </a:rPr>
              <a:t>Duke : STATS !! Play the Identity card + Deep engagement in your major with the motivation behind it.  Brown ; Pro-feminist idealogies.</a:t>
            </a:r>
            <a:endParaRPr b="0" i="0" sz="1300" u="none" cap="none" strike="noStrike">
              <a:solidFill>
                <a:schemeClr val="dk1"/>
              </a:solidFill>
              <a:latin typeface="Calibri"/>
              <a:ea typeface="Calibri"/>
              <a:cs typeface="Calibri"/>
              <a:sym typeface="Calibri"/>
            </a:endParaRPr>
          </a:p>
          <a:p>
            <a:pPr indent="-82550" lvl="0" marL="12700" marR="0" rtl="0" algn="l">
              <a:lnSpc>
                <a:spcPct val="90000"/>
              </a:lnSpc>
              <a:spcBef>
                <a:spcPts val="830"/>
              </a:spcBef>
              <a:spcAft>
                <a:spcPts val="0"/>
              </a:spcAft>
              <a:buClr>
                <a:schemeClr val="dk1"/>
              </a:buClr>
              <a:buSzPts val="1300"/>
              <a:buFont typeface="Arial"/>
              <a:buChar char="•"/>
            </a:pPr>
            <a:r>
              <a:rPr b="0" i="0" lang="en-US" sz="1300" u="none" cap="none" strike="noStrike">
                <a:solidFill>
                  <a:schemeClr val="dk1"/>
                </a:solidFill>
                <a:latin typeface="Calibri"/>
                <a:ea typeface="Calibri"/>
                <a:cs typeface="Calibri"/>
                <a:sym typeface="Calibri"/>
              </a:rPr>
              <a:t>Northwestern : Focus is on DIVERSITY and speciﬁcity.</a:t>
            </a:r>
            <a:endParaRPr b="0" i="0" sz="1300" u="none" cap="none" strike="noStrike">
              <a:solidFill>
                <a:schemeClr val="dk1"/>
              </a:solidFill>
              <a:latin typeface="Calibri"/>
              <a:ea typeface="Calibri"/>
              <a:cs typeface="Calibri"/>
              <a:sym typeface="Calibri"/>
            </a:endParaRPr>
          </a:p>
          <a:p>
            <a:pPr indent="-82550" lvl="0" marL="12700" marR="0" rtl="0" algn="l">
              <a:lnSpc>
                <a:spcPct val="90000"/>
              </a:lnSpc>
              <a:spcBef>
                <a:spcPts val="1110"/>
              </a:spcBef>
              <a:spcAft>
                <a:spcPts val="0"/>
              </a:spcAft>
              <a:buClr>
                <a:schemeClr val="dk1"/>
              </a:buClr>
              <a:buSzPts val="1300"/>
              <a:buFont typeface="Arial"/>
              <a:buChar char="•"/>
            </a:pPr>
            <a:r>
              <a:rPr b="0" i="0" lang="en-US" sz="1300" u="none" cap="none" strike="noStrike">
                <a:solidFill>
                  <a:schemeClr val="dk1"/>
                </a:solidFill>
                <a:latin typeface="Calibri"/>
                <a:ea typeface="Calibri"/>
                <a:cs typeface="Calibri"/>
                <a:sym typeface="Calibri"/>
              </a:rPr>
              <a:t>Small colleges : Rippon/ Depauw/Occidental/ Franklin and Marshall/ Bates --Demonstrated Interest with stats!!</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9" name="Shape 279"/>
        <p:cNvGrpSpPr/>
        <p:nvPr/>
      </p:nvGrpSpPr>
      <p:grpSpPr>
        <a:xfrm>
          <a:off x="0" y="0"/>
          <a:ext cx="0" cy="0"/>
          <a:chOff x="0" y="0"/>
          <a:chExt cx="0" cy="0"/>
        </a:xfrm>
      </p:grpSpPr>
      <p:sp>
        <p:nvSpPr>
          <p:cNvPr id="280" name="Google Shape;280;p20"/>
          <p:cNvSpPr/>
          <p:nvPr/>
        </p:nvSpPr>
        <p:spPr>
          <a:xfrm>
            <a:off x="253746" y="227693"/>
            <a:ext cx="3251495" cy="4422557"/>
          </a:xfrm>
          <a:prstGeom prst="rect">
            <a:avLst/>
          </a:prstGeom>
          <a:solidFill>
            <a:srgbClr val="3F3F3F"/>
          </a:solidFill>
          <a:ln cap="sq" cmpd="thinThick" w="127000">
            <a:solidFill>
              <a:srgbClr val="3F3F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81" name="Google Shape;281;p20"/>
          <p:cNvSpPr txBox="1"/>
          <p:nvPr>
            <p:ph type="title"/>
          </p:nvPr>
        </p:nvSpPr>
        <p:spPr>
          <a:xfrm>
            <a:off x="445770" y="477843"/>
            <a:ext cx="2851707" cy="3942279"/>
          </a:xfrm>
          <a:prstGeom prst="rect">
            <a:avLst/>
          </a:prstGeom>
          <a:noFill/>
          <a:ln>
            <a:noFill/>
          </a:ln>
        </p:spPr>
        <p:txBody>
          <a:bodyPr anchorCtr="0" anchor="ctr" bIns="45700" lIns="91425" spcFirstLastPara="1" rIns="91425" wrap="square" tIns="45700">
            <a:normAutofit/>
          </a:bodyPr>
          <a:lstStyle/>
          <a:p>
            <a:pPr indent="0" lvl="0" marL="12700" rtl="0" algn="l">
              <a:lnSpc>
                <a:spcPct val="90000"/>
              </a:lnSpc>
              <a:spcBef>
                <a:spcPts val="0"/>
              </a:spcBef>
              <a:spcAft>
                <a:spcPts val="0"/>
              </a:spcAft>
              <a:buClr>
                <a:schemeClr val="lt1"/>
              </a:buClr>
              <a:buSzPts val="3600"/>
              <a:buFont typeface="Calibri"/>
              <a:buNone/>
            </a:pPr>
            <a:r>
              <a:rPr lang="en-US" sz="3600">
                <a:solidFill>
                  <a:schemeClr val="lt1"/>
                </a:solidFill>
                <a:latin typeface="Calibri"/>
                <a:ea typeface="Calibri"/>
                <a:cs typeface="Calibri"/>
                <a:sym typeface="Calibri"/>
              </a:rPr>
              <a:t>Insights from the Students Body.</a:t>
            </a:r>
            <a:endParaRPr/>
          </a:p>
        </p:txBody>
      </p:sp>
      <p:grpSp>
        <p:nvGrpSpPr>
          <p:cNvPr id="282" name="Google Shape;282;p20"/>
          <p:cNvGrpSpPr/>
          <p:nvPr/>
        </p:nvGrpSpPr>
        <p:grpSpPr>
          <a:xfrm>
            <a:off x="3875238" y="231281"/>
            <a:ext cx="4941519" cy="4415379"/>
            <a:chOff x="0" y="3588"/>
            <a:chExt cx="4941519" cy="4415379"/>
          </a:xfrm>
        </p:grpSpPr>
        <p:sp>
          <p:nvSpPr>
            <p:cNvPr id="283" name="Google Shape;283;p20"/>
            <p:cNvSpPr/>
            <p:nvPr/>
          </p:nvSpPr>
          <p:spPr>
            <a:xfrm>
              <a:off x="0" y="3588"/>
              <a:ext cx="4941519" cy="487214"/>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20"/>
            <p:cNvSpPr/>
            <p:nvPr/>
          </p:nvSpPr>
          <p:spPr>
            <a:xfrm>
              <a:off x="147382" y="113211"/>
              <a:ext cx="268229" cy="267967"/>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20"/>
            <p:cNvSpPr/>
            <p:nvPr/>
          </p:nvSpPr>
          <p:spPr>
            <a:xfrm>
              <a:off x="562994" y="3588"/>
              <a:ext cx="4311178" cy="609017"/>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20"/>
            <p:cNvSpPr txBox="1"/>
            <p:nvPr/>
          </p:nvSpPr>
          <p:spPr>
            <a:xfrm>
              <a:off x="562994" y="3588"/>
              <a:ext cx="4311178" cy="609017"/>
            </a:xfrm>
            <a:prstGeom prst="rect">
              <a:avLst/>
            </a:prstGeom>
            <a:noFill/>
            <a:ln>
              <a:noFill/>
            </a:ln>
          </p:spPr>
          <p:txBody>
            <a:bodyPr anchorCtr="0" anchor="ctr" bIns="64450" lIns="64450" spcFirstLastPara="1" rIns="64450" wrap="square" tIns="64450">
              <a:noAutofit/>
            </a:bodyPr>
            <a:lstStyle/>
            <a:p>
              <a:pPr indent="0" lvl="0" marL="0" marR="0" rtl="0" algn="l">
                <a:lnSpc>
                  <a:spcPct val="90000"/>
                </a:lnSpc>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Williams- Literature and humanities knack; diversiﬁed interests in related majors.</a:t>
              </a:r>
              <a:endParaRPr b="0" i="0" sz="1400" u="none" cap="none" strike="noStrike">
                <a:solidFill>
                  <a:srgbClr val="000000"/>
                </a:solidFill>
                <a:latin typeface="Arial"/>
                <a:ea typeface="Arial"/>
                <a:cs typeface="Arial"/>
                <a:sym typeface="Arial"/>
              </a:endParaRPr>
            </a:p>
          </p:txBody>
        </p:sp>
        <p:sp>
          <p:nvSpPr>
            <p:cNvPr id="287" name="Google Shape;287;p20"/>
            <p:cNvSpPr/>
            <p:nvPr/>
          </p:nvSpPr>
          <p:spPr>
            <a:xfrm>
              <a:off x="0" y="764861"/>
              <a:ext cx="4941519" cy="487214"/>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20"/>
            <p:cNvSpPr/>
            <p:nvPr/>
          </p:nvSpPr>
          <p:spPr>
            <a:xfrm>
              <a:off x="147382" y="874484"/>
              <a:ext cx="268229" cy="267967"/>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20"/>
            <p:cNvSpPr/>
            <p:nvPr/>
          </p:nvSpPr>
          <p:spPr>
            <a:xfrm>
              <a:off x="562994" y="764861"/>
              <a:ext cx="4311178" cy="609017"/>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20"/>
            <p:cNvSpPr txBox="1"/>
            <p:nvPr/>
          </p:nvSpPr>
          <p:spPr>
            <a:xfrm>
              <a:off x="562994" y="764861"/>
              <a:ext cx="4311178" cy="609017"/>
            </a:xfrm>
            <a:prstGeom prst="rect">
              <a:avLst/>
            </a:prstGeom>
            <a:noFill/>
            <a:ln>
              <a:noFill/>
            </a:ln>
          </p:spPr>
          <p:txBody>
            <a:bodyPr anchorCtr="0" anchor="ctr" bIns="64450" lIns="64450" spcFirstLastPara="1" rIns="64450" wrap="square" tIns="64450">
              <a:noAutofit/>
            </a:bodyPr>
            <a:lstStyle/>
            <a:p>
              <a:pPr indent="0" lvl="0" marL="0" marR="0" rtl="0" algn="l">
                <a:lnSpc>
                  <a:spcPct val="90000"/>
                </a:lnSpc>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Tufts - Look out for loopholes into the quota system.</a:t>
              </a:r>
              <a:endParaRPr b="0" i="0" sz="1400" u="none" cap="none" strike="noStrike">
                <a:solidFill>
                  <a:srgbClr val="000000"/>
                </a:solidFill>
                <a:latin typeface="Arial"/>
                <a:ea typeface="Arial"/>
                <a:cs typeface="Arial"/>
                <a:sym typeface="Arial"/>
              </a:endParaRPr>
            </a:p>
          </p:txBody>
        </p:sp>
        <p:sp>
          <p:nvSpPr>
            <p:cNvPr id="291" name="Google Shape;291;p20"/>
            <p:cNvSpPr/>
            <p:nvPr/>
          </p:nvSpPr>
          <p:spPr>
            <a:xfrm>
              <a:off x="0" y="1526133"/>
              <a:ext cx="4941519" cy="487214"/>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20"/>
            <p:cNvSpPr/>
            <p:nvPr/>
          </p:nvSpPr>
          <p:spPr>
            <a:xfrm>
              <a:off x="147382" y="1635756"/>
              <a:ext cx="268229" cy="267967"/>
            </a:xfrm>
            <a:prstGeom prst="rect">
              <a:avLst/>
            </a:prstGeom>
            <a:blipFill rotWithShape="1">
              <a:blip r:embed="rId5">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20"/>
            <p:cNvSpPr/>
            <p:nvPr/>
          </p:nvSpPr>
          <p:spPr>
            <a:xfrm>
              <a:off x="562994" y="1526133"/>
              <a:ext cx="4311178" cy="609017"/>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p20"/>
            <p:cNvSpPr txBox="1"/>
            <p:nvPr/>
          </p:nvSpPr>
          <p:spPr>
            <a:xfrm>
              <a:off x="562994" y="1526133"/>
              <a:ext cx="4311178" cy="609017"/>
            </a:xfrm>
            <a:prstGeom prst="rect">
              <a:avLst/>
            </a:prstGeom>
            <a:noFill/>
            <a:ln>
              <a:noFill/>
            </a:ln>
          </p:spPr>
          <p:txBody>
            <a:bodyPr anchorCtr="0" anchor="ctr" bIns="64450" lIns="64450" spcFirstLastPara="1" rIns="64450" wrap="square" tIns="64450">
              <a:noAutofit/>
            </a:bodyPr>
            <a:lstStyle/>
            <a:p>
              <a:pPr indent="0" lvl="0" marL="0" marR="0" rtl="0" algn="l">
                <a:lnSpc>
                  <a:spcPct val="90000"/>
                </a:lnSpc>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Uchicago- Nail the essays, go pure nerd!! Interested in retention rate.</a:t>
              </a:r>
              <a:endParaRPr b="0" i="0" sz="1400" u="none" cap="none" strike="noStrike">
                <a:solidFill>
                  <a:srgbClr val="000000"/>
                </a:solidFill>
                <a:latin typeface="Arial"/>
                <a:ea typeface="Arial"/>
                <a:cs typeface="Arial"/>
                <a:sym typeface="Arial"/>
              </a:endParaRPr>
            </a:p>
          </p:txBody>
        </p:sp>
        <p:sp>
          <p:nvSpPr>
            <p:cNvPr id="295" name="Google Shape;295;p20"/>
            <p:cNvSpPr/>
            <p:nvPr/>
          </p:nvSpPr>
          <p:spPr>
            <a:xfrm>
              <a:off x="0" y="2287405"/>
              <a:ext cx="4941519" cy="487214"/>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20"/>
            <p:cNvSpPr/>
            <p:nvPr/>
          </p:nvSpPr>
          <p:spPr>
            <a:xfrm>
              <a:off x="147382" y="2397028"/>
              <a:ext cx="268229" cy="267967"/>
            </a:xfrm>
            <a:prstGeom prst="rect">
              <a:avLst/>
            </a:prstGeom>
            <a:blipFill rotWithShape="1">
              <a:blip r:embed="rId6">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p20"/>
            <p:cNvSpPr/>
            <p:nvPr/>
          </p:nvSpPr>
          <p:spPr>
            <a:xfrm>
              <a:off x="562994" y="2287405"/>
              <a:ext cx="4311178" cy="609017"/>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p20"/>
            <p:cNvSpPr txBox="1"/>
            <p:nvPr/>
          </p:nvSpPr>
          <p:spPr>
            <a:xfrm>
              <a:off x="562994" y="2287405"/>
              <a:ext cx="4311178" cy="609017"/>
            </a:xfrm>
            <a:prstGeom prst="rect">
              <a:avLst/>
            </a:prstGeom>
            <a:noFill/>
            <a:ln>
              <a:noFill/>
            </a:ln>
          </p:spPr>
          <p:txBody>
            <a:bodyPr anchorCtr="0" anchor="ctr" bIns="64450" lIns="64450" spcFirstLastPara="1" rIns="64450" wrap="square" tIns="64450">
              <a:noAutofit/>
            </a:bodyPr>
            <a:lstStyle/>
            <a:p>
              <a:pPr indent="0" lvl="0" marL="0" marR="0" rtl="0" algn="l">
                <a:lnSpc>
                  <a:spcPct val="90000"/>
                </a:lnSpc>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University of Wisconsin Madison- Show in-depth interest to impact change in your community {Faith Murei and Lennox  Owino}</a:t>
              </a:r>
              <a:endParaRPr b="0" i="0" sz="1400" u="none" cap="none" strike="noStrike">
                <a:solidFill>
                  <a:srgbClr val="000000"/>
                </a:solidFill>
                <a:latin typeface="Arial"/>
                <a:ea typeface="Arial"/>
                <a:cs typeface="Arial"/>
                <a:sym typeface="Arial"/>
              </a:endParaRPr>
            </a:p>
          </p:txBody>
        </p:sp>
        <p:sp>
          <p:nvSpPr>
            <p:cNvPr id="299" name="Google Shape;299;p20"/>
            <p:cNvSpPr/>
            <p:nvPr/>
          </p:nvSpPr>
          <p:spPr>
            <a:xfrm>
              <a:off x="0" y="3048678"/>
              <a:ext cx="4941519" cy="487214"/>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20"/>
            <p:cNvSpPr/>
            <p:nvPr/>
          </p:nvSpPr>
          <p:spPr>
            <a:xfrm>
              <a:off x="147382" y="3158301"/>
              <a:ext cx="268229" cy="267967"/>
            </a:xfrm>
            <a:prstGeom prst="rect">
              <a:avLst/>
            </a:prstGeom>
            <a:blipFill rotWithShape="1">
              <a:blip r:embed="rId7">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p20"/>
            <p:cNvSpPr/>
            <p:nvPr/>
          </p:nvSpPr>
          <p:spPr>
            <a:xfrm>
              <a:off x="562994" y="3048678"/>
              <a:ext cx="4311178" cy="609017"/>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20"/>
            <p:cNvSpPr txBox="1"/>
            <p:nvPr/>
          </p:nvSpPr>
          <p:spPr>
            <a:xfrm>
              <a:off x="562994" y="3048678"/>
              <a:ext cx="4311178" cy="609017"/>
            </a:xfrm>
            <a:prstGeom prst="rect">
              <a:avLst/>
            </a:prstGeom>
            <a:noFill/>
            <a:ln>
              <a:noFill/>
            </a:ln>
          </p:spPr>
          <p:txBody>
            <a:bodyPr anchorCtr="0" anchor="ctr" bIns="64450" lIns="64450" spcFirstLastPara="1" rIns="64450" wrap="square" tIns="64450">
              <a:noAutofit/>
            </a:bodyPr>
            <a:lstStyle/>
            <a:p>
              <a:pPr indent="0" lvl="0" marL="0" marR="0" rtl="0" algn="l">
                <a:lnSpc>
                  <a:spcPct val="90000"/>
                </a:lnSpc>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Rice - Demonstrated interest in majors, values and school culture.</a:t>
              </a:r>
              <a:endParaRPr b="0" i="0" sz="1400" u="none" cap="none" strike="noStrike">
                <a:solidFill>
                  <a:srgbClr val="000000"/>
                </a:solidFill>
                <a:latin typeface="Arial"/>
                <a:ea typeface="Arial"/>
                <a:cs typeface="Arial"/>
                <a:sym typeface="Arial"/>
              </a:endParaRPr>
            </a:p>
          </p:txBody>
        </p:sp>
        <p:sp>
          <p:nvSpPr>
            <p:cNvPr id="303" name="Google Shape;303;p20"/>
            <p:cNvSpPr/>
            <p:nvPr/>
          </p:nvSpPr>
          <p:spPr>
            <a:xfrm>
              <a:off x="0" y="3809950"/>
              <a:ext cx="4941519" cy="487214"/>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20"/>
            <p:cNvSpPr/>
            <p:nvPr/>
          </p:nvSpPr>
          <p:spPr>
            <a:xfrm>
              <a:off x="147382" y="3919573"/>
              <a:ext cx="268229" cy="267967"/>
            </a:xfrm>
            <a:prstGeom prst="rect">
              <a:avLst/>
            </a:prstGeom>
            <a:blipFill rotWithShape="1">
              <a:blip r:embed="rId8">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p20"/>
            <p:cNvSpPr/>
            <p:nvPr/>
          </p:nvSpPr>
          <p:spPr>
            <a:xfrm>
              <a:off x="562994" y="3809950"/>
              <a:ext cx="4311178" cy="609017"/>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p20"/>
            <p:cNvSpPr txBox="1"/>
            <p:nvPr/>
          </p:nvSpPr>
          <p:spPr>
            <a:xfrm>
              <a:off x="562994" y="3809950"/>
              <a:ext cx="4311178" cy="609017"/>
            </a:xfrm>
            <a:prstGeom prst="rect">
              <a:avLst/>
            </a:prstGeom>
            <a:noFill/>
            <a:ln>
              <a:noFill/>
            </a:ln>
          </p:spPr>
          <p:txBody>
            <a:bodyPr anchorCtr="0" anchor="ctr" bIns="64450" lIns="64450" spcFirstLastPara="1" rIns="64450" wrap="square" tIns="64450">
              <a:noAutofit/>
            </a:bodyPr>
            <a:lstStyle/>
            <a:p>
              <a:pPr indent="0" lvl="0" marL="0" marR="0" rtl="0" algn="l">
                <a:lnSpc>
                  <a:spcPct val="90000"/>
                </a:lnSpc>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Lafayette -APPLY EARLY DECISION!! Show in depth interest in the school and your related major.</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0" name="Shape 310"/>
        <p:cNvGrpSpPr/>
        <p:nvPr/>
      </p:nvGrpSpPr>
      <p:grpSpPr>
        <a:xfrm>
          <a:off x="0" y="0"/>
          <a:ext cx="0" cy="0"/>
          <a:chOff x="0" y="0"/>
          <a:chExt cx="0" cy="0"/>
        </a:xfrm>
      </p:grpSpPr>
      <p:sp>
        <p:nvSpPr>
          <p:cNvPr id="311" name="Google Shape;311;p21"/>
          <p:cNvSpPr/>
          <p:nvPr/>
        </p:nvSpPr>
        <p:spPr>
          <a:xfrm>
            <a:off x="2286" y="0"/>
            <a:ext cx="9141714" cy="5143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2" name="Google Shape;312;p21"/>
          <p:cNvSpPr/>
          <p:nvPr/>
        </p:nvSpPr>
        <p:spPr>
          <a:xfrm>
            <a:off x="530544" y="635700"/>
            <a:ext cx="3464954" cy="3464953"/>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3" name="Google Shape;313;p21"/>
          <p:cNvSpPr txBox="1"/>
          <p:nvPr>
            <p:ph type="title"/>
          </p:nvPr>
        </p:nvSpPr>
        <p:spPr>
          <a:xfrm>
            <a:off x="1041958" y="924930"/>
            <a:ext cx="2430380" cy="3048471"/>
          </a:xfrm>
          <a:prstGeom prst="rect">
            <a:avLst/>
          </a:prstGeom>
          <a:noFill/>
          <a:ln>
            <a:noFill/>
          </a:ln>
        </p:spPr>
        <p:txBody>
          <a:bodyPr anchorCtr="0" anchor="ctr" bIns="45700" lIns="91425" spcFirstLastPara="1" rIns="91425" wrap="square" tIns="45700">
            <a:normAutofit/>
          </a:bodyPr>
          <a:lstStyle/>
          <a:p>
            <a:pPr indent="0" lvl="0" marL="12700" rtl="0" algn="l">
              <a:lnSpc>
                <a:spcPct val="90000"/>
              </a:lnSpc>
              <a:spcBef>
                <a:spcPts val="0"/>
              </a:spcBef>
              <a:spcAft>
                <a:spcPts val="0"/>
              </a:spcAft>
              <a:buClr>
                <a:srgbClr val="FFFFFF"/>
              </a:buClr>
              <a:buSzPts val="4400"/>
              <a:buFont typeface="Calibri"/>
              <a:buNone/>
            </a:pPr>
            <a:r>
              <a:rPr lang="en-US" sz="4400">
                <a:solidFill>
                  <a:srgbClr val="FFFFFF"/>
                </a:solidFill>
                <a:latin typeface="Calibri"/>
                <a:ea typeface="Calibri"/>
                <a:cs typeface="Calibri"/>
                <a:sym typeface="Calibri"/>
              </a:rPr>
              <a:t>References</a:t>
            </a:r>
            <a:endParaRPr/>
          </a:p>
        </p:txBody>
      </p:sp>
      <p:sp>
        <p:nvSpPr>
          <p:cNvPr id="314" name="Google Shape;314;p21"/>
          <p:cNvSpPr/>
          <p:nvPr/>
        </p:nvSpPr>
        <p:spPr>
          <a:xfrm flipH="1">
            <a:off x="397896" y="0"/>
            <a:ext cx="866357" cy="443256"/>
          </a:xfrm>
          <a:custGeom>
            <a:rect b="b" l="l" r="r" t="t"/>
            <a:pathLst>
              <a:path extrusionOk="0" h="591009" w="1155142">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5" name="Google Shape;315;p21"/>
          <p:cNvSpPr/>
          <p:nvPr/>
        </p:nvSpPr>
        <p:spPr>
          <a:xfrm flipH="1">
            <a:off x="2971133" y="0"/>
            <a:ext cx="1303051" cy="719651"/>
          </a:xfrm>
          <a:custGeom>
            <a:rect b="b" l="l" r="r" t="t"/>
            <a:pathLst>
              <a:path extrusionOk="0" h="959536" w="1737401">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6" name="Google Shape;316;p21"/>
          <p:cNvSpPr/>
          <p:nvPr/>
        </p:nvSpPr>
        <p:spPr>
          <a:xfrm flipH="1">
            <a:off x="0" y="2202623"/>
            <a:ext cx="119805" cy="414747"/>
          </a:xfrm>
          <a:custGeom>
            <a:rect b="b" l="l" r="r" t="t"/>
            <a:pathLst>
              <a:path extrusionOk="0" h="552996" w="159741">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7" name="Google Shape;317;p21"/>
          <p:cNvSpPr txBox="1"/>
          <p:nvPr/>
        </p:nvSpPr>
        <p:spPr>
          <a:xfrm>
            <a:off x="4572000" y="615660"/>
            <a:ext cx="3943349" cy="3667012"/>
          </a:xfrm>
          <a:prstGeom prst="rect">
            <a:avLst/>
          </a:prstGeom>
          <a:noFill/>
          <a:ln>
            <a:noFill/>
          </a:ln>
        </p:spPr>
        <p:txBody>
          <a:bodyPr anchorCtr="0" anchor="t" bIns="45700" lIns="91425" spcFirstLastPara="1" rIns="91425" wrap="square" tIns="45700">
            <a:normAutofit lnSpcReduction="10000"/>
          </a:bodyPr>
          <a:lstStyle/>
          <a:p>
            <a:pPr indent="-114300" lvl="0" marL="12700" marR="0" rtl="0" algn="l">
              <a:lnSpc>
                <a:spcPct val="90000"/>
              </a:lnSpc>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MIT sloan </a:t>
            </a:r>
            <a:r>
              <a:rPr b="0" i="0" lang="en-US" sz="1800" u="sng" cap="none" strike="noStrike">
                <a:solidFill>
                  <a:schemeClr val="dk1"/>
                </a:solidFill>
                <a:latin typeface="Calibri"/>
                <a:ea typeface="Calibri"/>
                <a:cs typeface="Calibri"/>
                <a:sym typeface="Calibri"/>
                <a:hlinkClick r:id="rId3">
                  <a:extLst>
                    <a:ext uri="{A12FA001-AC4F-418D-AE19-62706E023703}">
                      <ahyp:hlinkClr val="tx"/>
                    </a:ext>
                  </a:extLst>
                </a:hlinkClick>
              </a:rPr>
              <a:t>https://www.youtube.com/channel/UCtlOAjz5Pn3-nBPDZdLPeLw</a:t>
            </a:r>
            <a:endParaRPr b="0" i="0" sz="1800" u="sng" cap="none" strike="noStrike">
              <a:solidFill>
                <a:schemeClr val="dk1"/>
              </a:solidFill>
              <a:latin typeface="Calibri"/>
              <a:ea typeface="Calibri"/>
              <a:cs typeface="Calibri"/>
              <a:sym typeface="Calibri"/>
            </a:endParaRPr>
          </a:p>
          <a:p>
            <a:pPr indent="0" lvl="0" marL="0" marR="0" rtl="0" algn="l">
              <a:lnSpc>
                <a:spcPct val="90000"/>
              </a:lnSpc>
              <a:spcBef>
                <a:spcPts val="10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114300" lvl="0" marL="12700" marR="796290" rtl="0" algn="l">
              <a:lnSpc>
                <a:spcPct val="90000"/>
              </a:lnSpc>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Ingenius prep </a:t>
            </a:r>
            <a:r>
              <a:rPr b="0" i="0" lang="en-US" sz="1800" u="sng" cap="none" strike="noStrike">
                <a:solidFill>
                  <a:schemeClr val="dk1"/>
                </a:solidFill>
                <a:latin typeface="Calibri"/>
                <a:ea typeface="Calibri"/>
                <a:cs typeface="Calibri"/>
                <a:sym typeface="Calibri"/>
                <a:hlinkClick r:id="rId4">
                  <a:extLst>
                    <a:ext uri="{A12FA001-AC4F-418D-AE19-62706E023703}">
                      <ahyp:hlinkClr val="tx"/>
                    </a:ext>
                  </a:extLst>
                </a:hlinkClick>
              </a:rPr>
              <a:t>https://www.youtube.com/user/InGeniusPrep </a:t>
            </a:r>
            <a:r>
              <a:rPr b="0" i="0" lang="en-US" sz="1800" u="none" cap="none" strike="noStrike">
                <a:solidFill>
                  <a:schemeClr val="dk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114300" lvl="0" marL="12700" marR="796290" rtl="0" algn="l">
              <a:lnSpc>
                <a:spcPct val="90000"/>
              </a:lnSpc>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Solomon Admissions  </a:t>
            </a:r>
            <a:r>
              <a:rPr b="0" i="0" lang="en-US" sz="1800" u="sng" cap="none" strike="noStrike">
                <a:solidFill>
                  <a:schemeClr val="dk1"/>
                </a:solidFill>
                <a:latin typeface="Calibri"/>
                <a:ea typeface="Calibri"/>
                <a:cs typeface="Calibri"/>
                <a:sym typeface="Calibri"/>
                <a:hlinkClick r:id="rId5">
                  <a:extLst>
                    <a:ext uri="{A12FA001-AC4F-418D-AE19-62706E023703}">
                      <ahyp:hlinkClr val="tx"/>
                    </a:ext>
                  </a:extLst>
                </a:hlinkClick>
              </a:rPr>
              <a:t>https://www.youtube.com/channel/UC7XHzRS394_wUivW39kAuDg </a:t>
            </a:r>
            <a:r>
              <a:rPr b="0" i="0" lang="en-US" sz="1800" u="none" cap="none" strike="noStrike">
                <a:solidFill>
                  <a:schemeClr val="dk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114300" lvl="0" marL="12700" marR="796290" rtl="0" algn="l">
              <a:lnSpc>
                <a:spcPct val="90000"/>
              </a:lnSpc>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Admissions blogs and podcasts of the stated schools.</a:t>
            </a:r>
            <a:endParaRPr b="0" i="0" sz="1800" u="none" cap="none" strike="noStrike">
              <a:solidFill>
                <a:schemeClr val="dk1"/>
              </a:solidFill>
              <a:latin typeface="Calibri"/>
              <a:ea typeface="Calibri"/>
              <a:cs typeface="Calibri"/>
              <a:sym typeface="Calibri"/>
            </a:endParaRPr>
          </a:p>
          <a:p>
            <a:pPr indent="-114300" lvl="0" marL="12700" marR="0" rtl="0" algn="l">
              <a:lnSpc>
                <a:spcPct val="90000"/>
              </a:lnSpc>
              <a:spcBef>
                <a:spcPts val="152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All the resources on net.</a:t>
            </a:r>
            <a:endParaRPr b="0" i="0" sz="1800" u="none" cap="none" strike="noStrike">
              <a:solidFill>
                <a:schemeClr val="dk1"/>
              </a:solidFill>
              <a:latin typeface="Calibri"/>
              <a:ea typeface="Calibri"/>
              <a:cs typeface="Calibri"/>
              <a:sym typeface="Calibri"/>
            </a:endParaRPr>
          </a:p>
        </p:txBody>
      </p:sp>
      <p:sp>
        <p:nvSpPr>
          <p:cNvPr id="318" name="Google Shape;318;p21"/>
          <p:cNvSpPr/>
          <p:nvPr/>
        </p:nvSpPr>
        <p:spPr>
          <a:xfrm flipH="1">
            <a:off x="0" y="4376736"/>
            <a:ext cx="1161135" cy="766764"/>
          </a:xfrm>
          <a:custGeom>
            <a:rect b="b" l="l" r="r" t="t"/>
            <a:pathLst>
              <a:path extrusionOk="0" h="1022351" w="1548180">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9" name="Google Shape;319;p21"/>
          <p:cNvSpPr/>
          <p:nvPr/>
        </p:nvSpPr>
        <p:spPr>
          <a:xfrm flipH="1">
            <a:off x="2553792" y="4288428"/>
            <a:ext cx="1328706" cy="855072"/>
          </a:xfrm>
          <a:custGeom>
            <a:rect b="b" l="l" r="r" t="t"/>
            <a:pathLst>
              <a:path extrusionOk="0" h="1140095" w="1771609">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0" name="Google Shape;320;p21"/>
          <p:cNvSpPr/>
          <p:nvPr/>
        </p:nvSpPr>
        <p:spPr>
          <a:xfrm flipH="1">
            <a:off x="3099729" y="4694066"/>
            <a:ext cx="1174455" cy="449434"/>
          </a:xfrm>
          <a:custGeom>
            <a:rect b="b" l="l" r="r" t="t"/>
            <a:pathLst>
              <a:path extrusionOk="0" h="599245" w="1565940">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4" name="Shape 324"/>
        <p:cNvGrpSpPr/>
        <p:nvPr/>
      </p:nvGrpSpPr>
      <p:grpSpPr>
        <a:xfrm>
          <a:off x="0" y="0"/>
          <a:ext cx="0" cy="0"/>
          <a:chOff x="0" y="0"/>
          <a:chExt cx="0" cy="0"/>
        </a:xfrm>
      </p:grpSpPr>
      <p:sp>
        <p:nvSpPr>
          <p:cNvPr id="325" name="Google Shape;325;p22"/>
          <p:cNvSpPr/>
          <p:nvPr/>
        </p:nvSpPr>
        <p:spPr>
          <a:xfrm>
            <a:off x="253746" y="227693"/>
            <a:ext cx="3251495" cy="4422557"/>
          </a:xfrm>
          <a:prstGeom prst="rect">
            <a:avLst/>
          </a:prstGeom>
          <a:solidFill>
            <a:srgbClr val="3F3F3F"/>
          </a:solidFill>
          <a:ln cap="sq" cmpd="thinThick" w="127000">
            <a:solidFill>
              <a:srgbClr val="3F3F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26" name="Google Shape;326;p22"/>
          <p:cNvSpPr txBox="1"/>
          <p:nvPr>
            <p:ph type="title"/>
          </p:nvPr>
        </p:nvSpPr>
        <p:spPr>
          <a:xfrm>
            <a:off x="445770" y="477843"/>
            <a:ext cx="2851707" cy="3942279"/>
          </a:xfrm>
          <a:prstGeom prst="rect">
            <a:avLst/>
          </a:prstGeom>
          <a:noFill/>
          <a:ln>
            <a:noFill/>
          </a:ln>
        </p:spPr>
        <p:txBody>
          <a:bodyPr anchorCtr="0" anchor="ctr" bIns="45700" lIns="91425" spcFirstLastPara="1" rIns="91425" wrap="square" tIns="45700">
            <a:normAutofit/>
          </a:bodyPr>
          <a:lstStyle/>
          <a:p>
            <a:pPr indent="0" lvl="0" marL="12700" rtl="0" algn="l">
              <a:lnSpc>
                <a:spcPct val="90000"/>
              </a:lnSpc>
              <a:spcBef>
                <a:spcPts val="0"/>
              </a:spcBef>
              <a:spcAft>
                <a:spcPts val="0"/>
              </a:spcAft>
              <a:buClr>
                <a:schemeClr val="lt1"/>
              </a:buClr>
              <a:buSzPts val="3600"/>
              <a:buFont typeface="Calibri"/>
              <a:buNone/>
            </a:pPr>
            <a:r>
              <a:rPr lang="en-US" sz="3600">
                <a:solidFill>
                  <a:schemeClr val="lt1"/>
                </a:solidFill>
                <a:latin typeface="Calibri"/>
                <a:ea typeface="Calibri"/>
                <a:cs typeface="Calibri"/>
                <a:sym typeface="Calibri"/>
              </a:rPr>
              <a:t>Take HOME</a:t>
            </a:r>
            <a:endParaRPr/>
          </a:p>
        </p:txBody>
      </p:sp>
      <p:grpSp>
        <p:nvGrpSpPr>
          <p:cNvPr id="327" name="Google Shape;327;p22"/>
          <p:cNvGrpSpPr/>
          <p:nvPr/>
        </p:nvGrpSpPr>
        <p:grpSpPr>
          <a:xfrm>
            <a:off x="3875238" y="229528"/>
            <a:ext cx="4941519" cy="4418885"/>
            <a:chOff x="0" y="1835"/>
            <a:chExt cx="4941519" cy="4418885"/>
          </a:xfrm>
        </p:grpSpPr>
        <p:sp>
          <p:nvSpPr>
            <p:cNvPr id="328" name="Google Shape;328;p22"/>
            <p:cNvSpPr/>
            <p:nvPr/>
          </p:nvSpPr>
          <p:spPr>
            <a:xfrm>
              <a:off x="0" y="1835"/>
              <a:ext cx="4941519" cy="930291"/>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22"/>
            <p:cNvSpPr/>
            <p:nvPr/>
          </p:nvSpPr>
          <p:spPr>
            <a:xfrm>
              <a:off x="281413" y="211151"/>
              <a:ext cx="511660" cy="511660"/>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p22"/>
            <p:cNvSpPr/>
            <p:nvPr/>
          </p:nvSpPr>
          <p:spPr>
            <a:xfrm>
              <a:off x="1074487" y="1835"/>
              <a:ext cx="3867031" cy="930291"/>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p22"/>
            <p:cNvSpPr txBox="1"/>
            <p:nvPr/>
          </p:nvSpPr>
          <p:spPr>
            <a:xfrm>
              <a:off x="1074487" y="1835"/>
              <a:ext cx="3867031" cy="930291"/>
            </a:xfrm>
            <a:prstGeom prst="rect">
              <a:avLst/>
            </a:prstGeom>
            <a:noFill/>
            <a:ln>
              <a:noFill/>
            </a:ln>
          </p:spPr>
          <p:txBody>
            <a:bodyPr anchorCtr="0" anchor="ctr" bIns="98450" lIns="98450" spcFirstLastPara="1" rIns="98450" wrap="square" tIns="98450">
              <a:noAutofit/>
            </a:bodyPr>
            <a:lstStyle/>
            <a:p>
              <a:pPr indent="0" lvl="0" marL="0" marR="0" rtl="0" algn="l">
                <a:lnSpc>
                  <a:spcPct val="90000"/>
                </a:lnSpc>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Think of a brand that you want to show or portray to the school.</a:t>
              </a:r>
              <a:endParaRPr b="0" i="0" sz="1400" u="none" cap="none" strike="noStrike">
                <a:solidFill>
                  <a:srgbClr val="000000"/>
                </a:solidFill>
                <a:latin typeface="Arial"/>
                <a:ea typeface="Arial"/>
                <a:cs typeface="Arial"/>
                <a:sym typeface="Arial"/>
              </a:endParaRPr>
            </a:p>
          </p:txBody>
        </p:sp>
        <p:sp>
          <p:nvSpPr>
            <p:cNvPr id="332" name="Google Shape;332;p22"/>
            <p:cNvSpPr/>
            <p:nvPr/>
          </p:nvSpPr>
          <p:spPr>
            <a:xfrm>
              <a:off x="0" y="1164700"/>
              <a:ext cx="4941519" cy="930291"/>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22"/>
            <p:cNvSpPr/>
            <p:nvPr/>
          </p:nvSpPr>
          <p:spPr>
            <a:xfrm>
              <a:off x="281413" y="1374015"/>
              <a:ext cx="511660" cy="511660"/>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22"/>
            <p:cNvSpPr/>
            <p:nvPr/>
          </p:nvSpPr>
          <p:spPr>
            <a:xfrm>
              <a:off x="1074487" y="1164700"/>
              <a:ext cx="3867031" cy="930291"/>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22"/>
            <p:cNvSpPr txBox="1"/>
            <p:nvPr/>
          </p:nvSpPr>
          <p:spPr>
            <a:xfrm>
              <a:off x="1074487" y="1164700"/>
              <a:ext cx="3867031" cy="930291"/>
            </a:xfrm>
            <a:prstGeom prst="rect">
              <a:avLst/>
            </a:prstGeom>
            <a:noFill/>
            <a:ln>
              <a:noFill/>
            </a:ln>
          </p:spPr>
          <p:txBody>
            <a:bodyPr anchorCtr="0" anchor="ctr" bIns="98450" lIns="98450" spcFirstLastPara="1" rIns="98450" wrap="square" tIns="98450">
              <a:noAutofit/>
            </a:bodyPr>
            <a:lstStyle/>
            <a:p>
              <a:pPr indent="0" lvl="0" marL="0" marR="0" rtl="0" algn="l">
                <a:lnSpc>
                  <a:spcPct val="90000"/>
                </a:lnSpc>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Develop a strategy for your Common App essays.</a:t>
              </a:r>
              <a:endParaRPr b="0" i="0" sz="1400" u="none" cap="none" strike="noStrike">
                <a:solidFill>
                  <a:srgbClr val="000000"/>
                </a:solidFill>
                <a:latin typeface="Arial"/>
                <a:ea typeface="Arial"/>
                <a:cs typeface="Arial"/>
                <a:sym typeface="Arial"/>
              </a:endParaRPr>
            </a:p>
          </p:txBody>
        </p:sp>
        <p:sp>
          <p:nvSpPr>
            <p:cNvPr id="336" name="Google Shape;336;p22"/>
            <p:cNvSpPr/>
            <p:nvPr/>
          </p:nvSpPr>
          <p:spPr>
            <a:xfrm>
              <a:off x="0" y="2327564"/>
              <a:ext cx="4941519" cy="930291"/>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p22"/>
            <p:cNvSpPr/>
            <p:nvPr/>
          </p:nvSpPr>
          <p:spPr>
            <a:xfrm>
              <a:off x="281413" y="2536880"/>
              <a:ext cx="511660" cy="511660"/>
            </a:xfrm>
            <a:prstGeom prst="rect">
              <a:avLst/>
            </a:prstGeom>
            <a:blipFill rotWithShape="1">
              <a:blip r:embed="rId5">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p22"/>
            <p:cNvSpPr/>
            <p:nvPr/>
          </p:nvSpPr>
          <p:spPr>
            <a:xfrm>
              <a:off x="1074487" y="2327564"/>
              <a:ext cx="3867031" cy="930291"/>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 name="Google Shape;339;p22"/>
            <p:cNvSpPr txBox="1"/>
            <p:nvPr/>
          </p:nvSpPr>
          <p:spPr>
            <a:xfrm>
              <a:off x="1074487" y="2327564"/>
              <a:ext cx="3867031" cy="930291"/>
            </a:xfrm>
            <a:prstGeom prst="rect">
              <a:avLst/>
            </a:prstGeom>
            <a:noFill/>
            <a:ln>
              <a:noFill/>
            </a:ln>
          </p:spPr>
          <p:txBody>
            <a:bodyPr anchorCtr="0" anchor="ctr" bIns="98450" lIns="98450" spcFirstLastPara="1" rIns="98450" wrap="square" tIns="98450">
              <a:noAutofit/>
            </a:bodyPr>
            <a:lstStyle/>
            <a:p>
              <a:pPr indent="0" lvl="0" marL="0" marR="0" rtl="0" algn="l">
                <a:lnSpc>
                  <a:spcPct val="90000"/>
                </a:lnSpc>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Start research on your schools early, apply to programs you are a ﬁt and with less  competition where your activities will be recognized.</a:t>
              </a:r>
              <a:endParaRPr b="0" i="0" sz="1400" u="none" cap="none" strike="noStrike">
                <a:solidFill>
                  <a:srgbClr val="000000"/>
                </a:solidFill>
                <a:latin typeface="Arial"/>
                <a:ea typeface="Arial"/>
                <a:cs typeface="Arial"/>
                <a:sym typeface="Arial"/>
              </a:endParaRPr>
            </a:p>
          </p:txBody>
        </p:sp>
        <p:sp>
          <p:nvSpPr>
            <p:cNvPr id="340" name="Google Shape;340;p22"/>
            <p:cNvSpPr/>
            <p:nvPr/>
          </p:nvSpPr>
          <p:spPr>
            <a:xfrm>
              <a:off x="0" y="3490429"/>
              <a:ext cx="4941519" cy="930291"/>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 name="Google Shape;341;p22"/>
            <p:cNvSpPr/>
            <p:nvPr/>
          </p:nvSpPr>
          <p:spPr>
            <a:xfrm>
              <a:off x="281413" y="3699745"/>
              <a:ext cx="511660" cy="511660"/>
            </a:xfrm>
            <a:prstGeom prst="rect">
              <a:avLst/>
            </a:prstGeom>
            <a:blipFill rotWithShape="1">
              <a:blip r:embed="rId6">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p22"/>
            <p:cNvSpPr/>
            <p:nvPr/>
          </p:nvSpPr>
          <p:spPr>
            <a:xfrm>
              <a:off x="1074487" y="3490429"/>
              <a:ext cx="3867031" cy="930291"/>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p22"/>
            <p:cNvSpPr txBox="1"/>
            <p:nvPr/>
          </p:nvSpPr>
          <p:spPr>
            <a:xfrm>
              <a:off x="1074487" y="3490429"/>
              <a:ext cx="3867031" cy="930291"/>
            </a:xfrm>
            <a:prstGeom prst="rect">
              <a:avLst/>
            </a:prstGeom>
            <a:noFill/>
            <a:ln>
              <a:noFill/>
            </a:ln>
          </p:spPr>
          <p:txBody>
            <a:bodyPr anchorCtr="0" anchor="ctr" bIns="98450" lIns="98450" spcFirstLastPara="1" rIns="98450" wrap="square" tIns="98450">
              <a:noAutofit/>
            </a:bodyPr>
            <a:lstStyle/>
            <a:p>
              <a:pPr indent="0" lvl="0" marL="0" marR="0" rtl="0" algn="l">
                <a:lnSpc>
                  <a:spcPct val="90000"/>
                </a:lnSpc>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Demonstrate interest to schools early in advance.</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7" name="Shape 347"/>
        <p:cNvGrpSpPr/>
        <p:nvPr/>
      </p:nvGrpSpPr>
      <p:grpSpPr>
        <a:xfrm>
          <a:off x="0" y="0"/>
          <a:ext cx="0" cy="0"/>
          <a:chOff x="0" y="0"/>
          <a:chExt cx="0" cy="0"/>
        </a:xfrm>
      </p:grpSpPr>
      <p:sp>
        <p:nvSpPr>
          <p:cNvPr id="348" name="Google Shape;348;p23"/>
          <p:cNvSpPr/>
          <p:nvPr/>
        </p:nvSpPr>
        <p:spPr>
          <a:xfrm>
            <a:off x="0" y="3179611"/>
            <a:ext cx="9144000" cy="1963888"/>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49" name="Google Shape;349;p23"/>
          <p:cNvSpPr txBox="1"/>
          <p:nvPr>
            <p:ph type="title"/>
          </p:nvPr>
        </p:nvSpPr>
        <p:spPr>
          <a:xfrm>
            <a:off x="487836" y="3419642"/>
            <a:ext cx="8176104" cy="92733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lt1"/>
              </a:buClr>
              <a:buSzPts val="5000"/>
              <a:buFont typeface="Calibri"/>
              <a:buNone/>
            </a:pPr>
            <a:r>
              <a:rPr lang="en-US" sz="5000">
                <a:solidFill>
                  <a:schemeClr val="lt1"/>
                </a:solidFill>
              </a:rPr>
              <a:t> Thank you </a:t>
            </a:r>
            <a:endParaRPr/>
          </a:p>
        </p:txBody>
      </p:sp>
      <p:pic>
        <p:nvPicPr>
          <p:cNvPr descr="Magnifying glass on clear background" id="350" name="Google Shape;350;p23"/>
          <p:cNvPicPr preferRelativeResize="0"/>
          <p:nvPr/>
        </p:nvPicPr>
        <p:blipFill rotWithShape="1">
          <a:blip r:embed="rId3">
            <a:alphaModFix/>
          </a:blip>
          <a:srcRect b="33057" l="0" r="0" t="14850"/>
          <a:stretch/>
        </p:blipFill>
        <p:spPr>
          <a:xfrm>
            <a:off x="20" y="10"/>
            <a:ext cx="9143979" cy="317960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2023-03-08T18:30:44Z</dcterms:created>
  <dc:creator>Shadrack Kirui</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or">
    <vt:lpwstr>Google</vt:lpwstr>
  </property>
</Properties>
</file>