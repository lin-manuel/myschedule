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Comic Sans MS" panose="030F0702030302020204" pitchFamily="66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e4218da79_2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22e4218da79_2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2e4218da79_2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22e4218da79_2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2e4218da79_2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22e4218da79_2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2e4218da79_2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2e4218da79_2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2e4218da79_2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22e4218da79_2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2e4218da79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22e4218da79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2e4218da79_2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22e4218da79_2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2e4218da79_2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22e4218da79_2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2e4218da79_2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22e4218da79_2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e4218da79_2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22e4218da79_2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2e4218da79_2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g22e4218da79_2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e4218da79_2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22e4218da79_2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2e4218da79_2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2e4218da79_2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2e4218da79_2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2e4218da79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 descr="Droplets-HD-Title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313259" y="2914650"/>
            <a:ext cx="6517482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17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85330" y="1775319"/>
            <a:ext cx="7772870" cy="256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685331" y="621422"/>
            <a:ext cx="7763814" cy="205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wentieth Century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685331" y="1775319"/>
            <a:ext cx="3829520" cy="256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/>
          </p:nvPr>
        </p:nvSpPr>
        <p:spPr>
          <a:xfrm>
            <a:off x="4629150" y="1775319"/>
            <a:ext cx="3829050" cy="256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859746" y="1778264"/>
            <a:ext cx="3655106" cy="509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2"/>
          </p:nvPr>
        </p:nvSpPr>
        <p:spPr>
          <a:xfrm>
            <a:off x="685331" y="2288259"/>
            <a:ext cx="3829520" cy="205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3"/>
          </p:nvPr>
        </p:nvSpPr>
        <p:spPr>
          <a:xfrm>
            <a:off x="4797317" y="1778264"/>
            <a:ext cx="3661353" cy="509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4"/>
          </p:nvPr>
        </p:nvSpPr>
        <p:spPr>
          <a:xfrm>
            <a:off x="4629150" y="2288259"/>
            <a:ext cx="3829051" cy="205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808547" y="457200"/>
            <a:ext cx="4650122" cy="388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2"/>
          </p:nvPr>
        </p:nvSpPr>
        <p:spPr>
          <a:xfrm>
            <a:off x="685330" y="1974639"/>
            <a:ext cx="2951767" cy="236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685331" y="457200"/>
            <a:ext cx="4451227" cy="151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>
            <a:spLocks noGrp="1"/>
          </p:cNvSpPr>
          <p:nvPr>
            <p:ph type="pic" idx="2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 cmpd="sng">
            <a:solidFill>
              <a:srgbClr val="C0D3E4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685345" y="1974639"/>
            <a:ext cx="4451212" cy="236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3"/>
          <p:cNvSpPr>
            <a:spLocks noGrp="1"/>
          </p:cNvSpPr>
          <p:nvPr>
            <p:ph type="pic" idx="2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 cmpd="sng">
            <a:solidFill>
              <a:srgbClr val="C0D3E4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685330" y="3831546"/>
            <a:ext cx="7773339" cy="51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685330" y="457199"/>
            <a:ext cx="7773339" cy="257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685331" y="3153616"/>
            <a:ext cx="7773339" cy="1189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5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1290483" y="2707524"/>
            <a:ext cx="6564224" cy="446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2"/>
          </p:nvPr>
        </p:nvSpPr>
        <p:spPr>
          <a:xfrm>
            <a:off x="685330" y="3279597"/>
            <a:ext cx="7773339" cy="106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</a:pPr>
            <a:r>
              <a:rPr lang="en" sz="6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 sz="1100"/>
          </a:p>
        </p:txBody>
      </p:sp>
      <p:sp>
        <p:nvSpPr>
          <p:cNvPr id="147" name="Google Shape;147;p25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</a:pPr>
            <a:r>
              <a:rPr lang="en" sz="6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 txBox="1"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body" idx="1"/>
          </p:nvPr>
        </p:nvSpPr>
        <p:spPr>
          <a:xfrm>
            <a:off x="685331" y="3496751"/>
            <a:ext cx="7773339" cy="85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685330" y="457200"/>
            <a:ext cx="7773339" cy="1203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body" idx="2"/>
          </p:nvPr>
        </p:nvSpPr>
        <p:spPr>
          <a:xfrm>
            <a:off x="685331" y="2207516"/>
            <a:ext cx="2474232" cy="213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body" idx="3"/>
          </p:nvPr>
        </p:nvSpPr>
        <p:spPr>
          <a:xfrm>
            <a:off x="3339292" y="1775320"/>
            <a:ext cx="2468641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4"/>
          </p:nvPr>
        </p:nvSpPr>
        <p:spPr>
          <a:xfrm>
            <a:off x="3331011" y="2207516"/>
            <a:ext cx="2477513" cy="213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5"/>
          </p:nvPr>
        </p:nvSpPr>
        <p:spPr>
          <a:xfrm>
            <a:off x="5979974" y="1775320"/>
            <a:ext cx="2478696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6"/>
          </p:nvPr>
        </p:nvSpPr>
        <p:spPr>
          <a:xfrm>
            <a:off x="5979974" y="2207516"/>
            <a:ext cx="2478696" cy="213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685330" y="458079"/>
            <a:ext cx="7773339" cy="120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17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28"/>
          <p:cNvSpPr>
            <a:spLocks noGrp="1"/>
          </p:cNvSpPr>
          <p:nvPr>
            <p:ph type="pic" idx="2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 cmpd="sng">
            <a:solidFill>
              <a:srgbClr val="C0D3E4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2" name="Google Shape;172;p28"/>
          <p:cNvSpPr txBox="1">
            <a:spLocks noGrp="1"/>
          </p:cNvSpPr>
          <p:nvPr>
            <p:ph type="body" idx="3"/>
          </p:nvPr>
        </p:nvSpPr>
        <p:spPr>
          <a:xfrm>
            <a:off x="685331" y="3585811"/>
            <a:ext cx="2472307" cy="75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body" idx="4"/>
          </p:nvPr>
        </p:nvSpPr>
        <p:spPr>
          <a:xfrm>
            <a:off x="3332069" y="3153615"/>
            <a:ext cx="2476371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17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4" name="Google Shape;174;p28"/>
          <p:cNvSpPr>
            <a:spLocks noGrp="1"/>
          </p:cNvSpPr>
          <p:nvPr>
            <p:ph type="pic" idx="5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 cmpd="sng">
            <a:solidFill>
              <a:srgbClr val="C0D3E4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5" name="Google Shape;175;p28"/>
          <p:cNvSpPr txBox="1">
            <a:spLocks noGrp="1"/>
          </p:cNvSpPr>
          <p:nvPr>
            <p:ph type="body" idx="6"/>
          </p:nvPr>
        </p:nvSpPr>
        <p:spPr>
          <a:xfrm>
            <a:off x="3331011" y="3585810"/>
            <a:ext cx="2477514" cy="757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7"/>
          </p:nvPr>
        </p:nvSpPr>
        <p:spPr>
          <a:xfrm>
            <a:off x="5979974" y="3153615"/>
            <a:ext cx="2475511" cy="43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ctr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SzPts val="1700"/>
              <a:buNone/>
              <a:defRPr sz="17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 b="1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7" name="Google Shape;177;p28"/>
          <p:cNvSpPr>
            <a:spLocks noGrp="1"/>
          </p:cNvSpPr>
          <p:nvPr>
            <p:ph type="pic" idx="8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 cmpd="sng">
            <a:solidFill>
              <a:srgbClr val="C0D3E4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8" name="Google Shape;178;p28"/>
          <p:cNvSpPr txBox="1">
            <a:spLocks noGrp="1"/>
          </p:cNvSpPr>
          <p:nvPr>
            <p:ph type="body" idx="9"/>
          </p:nvPr>
        </p:nvSpPr>
        <p:spPr>
          <a:xfrm>
            <a:off x="5979880" y="3585809"/>
            <a:ext cx="2478790" cy="757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lvl="1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9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body" idx="1"/>
          </p:nvPr>
        </p:nvSpPr>
        <p:spPr>
          <a:xfrm rot="5400000">
            <a:off x="3287961" y="-827310"/>
            <a:ext cx="2568080" cy="7773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 descr="Droplets-HD-Content-R1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>
            <a:spLocks noGrp="1"/>
          </p:cNvSpPr>
          <p:nvPr>
            <p:ph type="title"/>
          </p:nvPr>
        </p:nvSpPr>
        <p:spPr>
          <a:xfrm rot="5400000">
            <a:off x="5558073" y="1442803"/>
            <a:ext cx="3886199" cy="191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body" idx="1"/>
          </p:nvPr>
        </p:nvSpPr>
        <p:spPr>
          <a:xfrm rot="5400000">
            <a:off x="1614253" y="-471721"/>
            <a:ext cx="3886199" cy="574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0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AEBF5"/>
            </a:gs>
            <a:gs pos="100000">
              <a:srgbClr val="72AADB"/>
            </a:gs>
          </a:gsLst>
          <a:lin ang="5400000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\\DROBO-FS\QuickDrops\JB\PPTX NG\Droplets\LightingOverlay.png"/>
          <p:cNvPicPr preferRelativeResize="0"/>
          <p:nvPr/>
        </p:nvPicPr>
        <p:blipFill rotWithShape="1">
          <a:blip r:embed="rId19">
            <a:alphaModFix amt="70000"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wentieth Century"/>
              <a:buNone/>
              <a:defRPr sz="27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238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175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048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298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298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298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298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298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298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5759053" y="44124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685331" y="4412456"/>
            <a:ext cx="50046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7885508" y="4412456"/>
            <a:ext cx="57316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ctrTitle"/>
          </p:nvPr>
        </p:nvSpPr>
        <p:spPr>
          <a:xfrm rot="-180000">
            <a:off x="252320" y="1256735"/>
            <a:ext cx="7783909" cy="124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omic Sans MS"/>
              <a:buNone/>
            </a:pPr>
            <a:r>
              <a:rPr lang="en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SHORT-RESPONSE ESSAYS</a:t>
            </a:r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subTitle" idx="1"/>
          </p:nvPr>
        </p:nvSpPr>
        <p:spPr>
          <a:xfrm>
            <a:off x="-1945482" y="4484291"/>
            <a:ext cx="6517482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500" b="1" cap="none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by</a:t>
            </a:r>
            <a:r>
              <a:rPr lang="en" sz="1500" b="1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VICTOR TEDDY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mic Sans MS"/>
              <a:buNone/>
            </a:pPr>
            <a:r>
              <a:rPr lang="en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ESSENCE OF SHORT-RESPONSE ESSAYS</a:t>
            </a:r>
            <a:endParaRPr/>
          </a:p>
        </p:txBody>
      </p:sp>
      <p:sp>
        <p:nvSpPr>
          <p:cNvPr id="207" name="Google Shape;207;p32"/>
          <p:cNvSpPr txBox="1">
            <a:spLocks noGrp="1"/>
          </p:cNvSpPr>
          <p:nvPr>
            <p:ph type="body" idx="1"/>
          </p:nvPr>
        </p:nvSpPr>
        <p:spPr>
          <a:xfrm>
            <a:off x="662639" y="1542807"/>
            <a:ext cx="7796030" cy="248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17780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They’re ideally meant to give you room to share </a:t>
            </a:r>
            <a:r>
              <a:rPr lang="en" b="1" cap="none">
                <a:latin typeface="Comic Sans MS"/>
                <a:ea typeface="Comic Sans MS"/>
                <a:cs typeface="Comic Sans MS"/>
                <a:sym typeface="Comic Sans MS"/>
              </a:rPr>
              <a:t>interesting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 aspects about yourself that you didn’t get a chance to share elsewhere in the application.</a:t>
            </a:r>
            <a:endParaRPr/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It’s a chance for you to be spontaneous and show that you’re a </a:t>
            </a:r>
            <a:r>
              <a:rPr lang="en" b="1" cap="none">
                <a:latin typeface="Comic Sans MS"/>
                <a:ea typeface="Comic Sans MS"/>
                <a:cs typeface="Comic Sans MS"/>
                <a:sym typeface="Comic Sans MS"/>
              </a:rPr>
              <a:t>multifaceted person 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– humanize your application!</a:t>
            </a:r>
            <a:endParaRPr/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A gateway to your </a:t>
            </a:r>
            <a:r>
              <a:rPr lang="en" b="1" cap="none">
                <a:latin typeface="Comic Sans MS"/>
                <a:ea typeface="Comic Sans MS"/>
                <a:cs typeface="Comic Sans MS"/>
                <a:sym typeface="Comic Sans MS"/>
              </a:rPr>
              <a:t>personality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 through the mundane things that you’re into – be </a:t>
            </a:r>
            <a:r>
              <a:rPr lang="en" u="sng" cap="none">
                <a:latin typeface="Comic Sans MS"/>
                <a:ea typeface="Comic Sans MS"/>
                <a:cs typeface="Comic Sans MS"/>
                <a:sym typeface="Comic Sans MS"/>
              </a:rPr>
              <a:t>strategic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lang="en" u="sng" cap="none">
                <a:latin typeface="Comic Sans MS"/>
                <a:ea typeface="Comic Sans MS"/>
                <a:cs typeface="Comic Sans MS"/>
                <a:sym typeface="Comic Sans MS"/>
              </a:rPr>
              <a:t>intentional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 with your responses. </a:t>
            </a:r>
            <a:endParaRPr/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They may be short, but hold equal weight as other parts in your application. TAKE YOUR TIME WITH THEM!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/>
          </p:nvPr>
        </p:nvSpPr>
        <p:spPr>
          <a:xfrm>
            <a:off x="485101" y="421685"/>
            <a:ext cx="817379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Comic Sans MS"/>
              <a:buNone/>
            </a:pPr>
            <a:r>
              <a:rPr lang="en" sz="27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SAMPLE ESSAYS (35-50 WORDS OR FEWER)</a:t>
            </a:r>
            <a:br>
              <a:rPr lang="en" sz="41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>
              <a:solidFill>
                <a:srgbClr val="FF0000"/>
              </a:solidFill>
            </a:endParaRPr>
          </a:p>
        </p:txBody>
      </p:sp>
      <p:sp>
        <p:nvSpPr>
          <p:cNvPr id="213" name="Google Shape;213;p33"/>
          <p:cNvSpPr txBox="1">
            <a:spLocks noGrp="1"/>
          </p:cNvSpPr>
          <p:nvPr>
            <p:ph type="body" idx="1"/>
          </p:nvPr>
        </p:nvSpPr>
        <p:spPr>
          <a:xfrm>
            <a:off x="514351" y="1135180"/>
            <a:ext cx="7796030" cy="3749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54000" lvl="0" indent="-254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What inspires you? </a:t>
            </a:r>
            <a:endParaRPr dirty="0"/>
          </a:p>
          <a:p>
            <a:pPr marL="254000" lvl="0" indent="-2540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You are teaching a new yale course. What's it called?</a:t>
            </a:r>
            <a:endParaRPr sz="12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2540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Yale’s residential colleges regularly host conversations with guests representing a wide range of experiences and accomplishments. What person, past or present, would you invite to speak and what would you ask them to discuss?</a:t>
            </a:r>
            <a:endParaRPr sz="12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2540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What is something about you that is not included anywhere else in your application?</a:t>
            </a:r>
            <a:endParaRPr dirty="0"/>
          </a:p>
          <a:p>
            <a:pPr marL="254000" lvl="0" indent="-2540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What is a new skill you would like to learn in college?</a:t>
            </a:r>
            <a:endParaRPr sz="12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2540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What brings you joy? </a:t>
            </a:r>
            <a:endParaRPr sz="12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2540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What song represents the soundtrack of your life at this moment?</a:t>
            </a:r>
            <a:endParaRPr sz="12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2540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What is the most significant challenge that society faces today?</a:t>
            </a:r>
            <a:endParaRPr sz="12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2540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What historical moment or event do you wish you could have witnessed?</a:t>
            </a:r>
            <a:endParaRPr sz="12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2540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Twentieth Century"/>
              <a:buAutoNum type="alphaUcPeriod"/>
            </a:pPr>
            <a:r>
              <a:rPr lang="en" sz="1200" cap="none" dirty="0">
                <a:latin typeface="Comic Sans MS"/>
                <a:ea typeface="Comic Sans MS"/>
                <a:cs typeface="Comic Sans MS"/>
                <a:sym typeface="Comic Sans MS"/>
              </a:rPr>
              <a:t>Name one thing you are looking forward to experiencing at Stanford.</a:t>
            </a:r>
            <a:endParaRPr sz="12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1905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Twentieth Century"/>
              <a:buNone/>
            </a:pPr>
            <a:endParaRPr sz="900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lvl="0" indent="-1143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Twentieth Century"/>
              <a:buNone/>
            </a:pPr>
            <a:endParaRPr sz="9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>
            <a:spLocks noGrp="1"/>
          </p:cNvSpPr>
          <p:nvPr>
            <p:ph type="body" idx="1"/>
          </p:nvPr>
        </p:nvSpPr>
        <p:spPr>
          <a:xfrm>
            <a:off x="685800" y="1660922"/>
            <a:ext cx="7772870" cy="256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35-50 words may sound little (and it low-key is!), but it’s enough to express your thoughts and ideas satisfactorily. </a:t>
            </a:r>
            <a:endParaRPr/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The low word count makes it very likely to submit a generic response that may as well be cliché, or something that hundreds of other applicants might submit.</a:t>
            </a:r>
            <a:endParaRPr/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 cap="none">
                <a:latin typeface="Comic Sans MS"/>
                <a:ea typeface="Comic Sans MS"/>
                <a:cs typeface="Comic Sans MS"/>
                <a:sym typeface="Comic Sans MS"/>
              </a:rPr>
              <a:t>You need to make your responses </a:t>
            </a:r>
            <a:r>
              <a:rPr lang="en" sz="1500" b="1" cap="none">
                <a:latin typeface="Comic Sans MS"/>
                <a:ea typeface="Comic Sans MS"/>
                <a:cs typeface="Comic Sans MS"/>
                <a:sym typeface="Comic Sans MS"/>
              </a:rPr>
              <a:t>stand-out</a:t>
            </a:r>
            <a:r>
              <a:rPr lang="en" sz="1500" cap="none"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endParaRPr cap="none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If you have </a:t>
            </a:r>
            <a:r>
              <a:rPr lang="en" b="1" cap="none">
                <a:latin typeface="Comic Sans MS"/>
                <a:ea typeface="Comic Sans MS"/>
                <a:cs typeface="Comic Sans MS"/>
                <a:sym typeface="Comic Sans MS"/>
              </a:rPr>
              <a:t>fun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 crafting them, there’s high probability your response will be interesting and memorable - Remember the </a:t>
            </a:r>
            <a:r>
              <a:rPr lang="en" i="1" cap="none">
                <a:latin typeface="Comic Sans MS"/>
                <a:ea typeface="Comic Sans MS"/>
                <a:cs typeface="Comic Sans MS"/>
                <a:sym typeface="Comic Sans MS"/>
              </a:rPr>
              <a:t>Tweet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i="1" cap="none">
                <a:latin typeface="Comic Sans MS"/>
                <a:ea typeface="Comic Sans MS"/>
                <a:cs typeface="Comic Sans MS"/>
                <a:sym typeface="Comic Sans MS"/>
              </a:rPr>
              <a:t>essay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/>
          </a:p>
          <a:p>
            <a:pPr marL="177800" lvl="0" indent="-762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endParaRPr cap="none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9" name="Google Shape;219;p34"/>
          <p:cNvSpPr txBox="1">
            <a:spLocks noGrp="1"/>
          </p:cNvSpPr>
          <p:nvPr>
            <p:ph type="title"/>
          </p:nvPr>
        </p:nvSpPr>
        <p:spPr>
          <a:xfrm>
            <a:off x="685800" y="464344"/>
            <a:ext cx="7772400" cy="1196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Comic Sans MS"/>
              <a:buNone/>
            </a:pPr>
            <a:r>
              <a:rPr lang="en" sz="33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HANDLE THEM</a:t>
            </a:r>
            <a:r>
              <a:rPr lang="en" sz="3300"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Comic Sans MS"/>
              <a:buNone/>
            </a:pPr>
            <a:r>
              <a:rPr lang="en" sz="27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STANDING</a:t>
            </a:r>
            <a:r>
              <a:rPr lang="en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-OUT</a:t>
            </a:r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1"/>
          </p:nvPr>
        </p:nvSpPr>
        <p:spPr>
          <a:xfrm>
            <a:off x="1171135" y="1194806"/>
            <a:ext cx="7772870" cy="256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i="0" u="none" strike="noStrike" cap="none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247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wentieth Century"/>
              <a:buAutoNum type="arabicPeriod"/>
            </a:pPr>
            <a:r>
              <a:rPr lang="en" sz="2100" b="0" i="0" u="none" strike="noStrike" cap="none">
                <a:latin typeface="Comic Sans MS"/>
                <a:ea typeface="Comic Sans MS"/>
                <a:cs typeface="Comic Sans MS"/>
                <a:sym typeface="Comic Sans MS"/>
              </a:rPr>
              <a:t>Be straightforward </a:t>
            </a:r>
            <a:r>
              <a:rPr lang="en" sz="2100" b="0" i="0" u="none" strike="noStrike" cap="none"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2100" b="0" i="0" u="none" strike="noStrike" cap="none">
                <a:latin typeface="Comic Sans MS"/>
                <a:ea typeface="Comic Sans MS"/>
                <a:cs typeface="Comic Sans MS"/>
                <a:sym typeface="Comic Sans MS"/>
              </a:rPr>
              <a:t> succinct </a:t>
            </a:r>
            <a:endParaRPr/>
          </a:p>
          <a:p>
            <a:pPr marL="254000" lvl="0" indent="-247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wentieth Century"/>
              <a:buAutoNum type="arabicPeriod"/>
            </a:pPr>
            <a:r>
              <a:rPr lang="en" sz="2100" b="0" i="0" u="none" strike="noStrike" cap="none">
                <a:latin typeface="Comic Sans MS"/>
                <a:ea typeface="Comic Sans MS"/>
                <a:cs typeface="Comic Sans MS"/>
                <a:sym typeface="Comic Sans MS"/>
              </a:rPr>
              <a:t>Show with specificity</a:t>
            </a:r>
            <a:endParaRPr sz="2100" b="0" i="0" u="none" strike="noStrike" cap="none">
              <a:latin typeface="Roboto"/>
              <a:ea typeface="Roboto"/>
              <a:cs typeface="Roboto"/>
              <a:sym typeface="Roboto"/>
            </a:endParaRPr>
          </a:p>
          <a:p>
            <a:pPr marL="254000" lvl="0" indent="-24765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Twentieth Century"/>
              <a:buAutoNum type="arabicPeriod"/>
            </a:pPr>
            <a:r>
              <a:rPr lang="en" sz="2100" b="0" i="0" u="none" strike="noStrike" cap="none">
                <a:latin typeface="Comic Sans MS"/>
                <a:ea typeface="Comic Sans MS"/>
                <a:cs typeface="Comic Sans MS"/>
                <a:sym typeface="Comic Sans MS"/>
              </a:rPr>
              <a:t>Employ creativity</a:t>
            </a:r>
            <a:endParaRPr sz="2100" b="0" i="0" u="none" strike="noStrike" cap="none">
              <a:latin typeface="Roboto"/>
              <a:ea typeface="Roboto"/>
              <a:cs typeface="Roboto"/>
              <a:sym typeface="Roboto"/>
            </a:endParaRPr>
          </a:p>
          <a:p>
            <a:pPr marL="254000" lvl="0" indent="-24765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Twentieth Century"/>
              <a:buAutoNum type="arabicPeriod"/>
            </a:pPr>
            <a:r>
              <a:rPr lang="en" sz="2100" b="0" i="0" u="none" strike="noStrike" cap="none">
                <a:latin typeface="Comic Sans MS"/>
                <a:ea typeface="Comic Sans MS"/>
                <a:cs typeface="Comic Sans MS"/>
                <a:sym typeface="Comic Sans MS"/>
              </a:rPr>
              <a:t>Engage your quirkiness and humor</a:t>
            </a:r>
            <a:endParaRPr sz="2100" b="0" i="0" u="none" strike="noStrike" cap="none">
              <a:latin typeface="Roboto"/>
              <a:ea typeface="Roboto"/>
              <a:cs typeface="Roboto"/>
              <a:sym typeface="Roboto"/>
            </a:endParaRPr>
          </a:p>
          <a:p>
            <a:pPr marL="342900" lvl="0" indent="-2032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2100"/>
              <a:buFont typeface="Twentieth Century"/>
              <a:buNone/>
            </a:pP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>
            <a:spLocks noGrp="1"/>
          </p:cNvSpPr>
          <p:nvPr>
            <p:ph type="body" idx="1"/>
          </p:nvPr>
        </p:nvSpPr>
        <p:spPr>
          <a:xfrm>
            <a:off x="786493" y="593333"/>
            <a:ext cx="7796030" cy="308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 b="1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 Be </a:t>
            </a:r>
            <a:r>
              <a:rPr lang="en" sz="1800" b="1" u="sng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straightforward</a:t>
            </a:r>
            <a:r>
              <a:rPr lang="en" sz="1800" b="1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and as </a:t>
            </a:r>
            <a:r>
              <a:rPr lang="en" sz="1800" b="1" u="sng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succinct</a:t>
            </a:r>
            <a:r>
              <a:rPr lang="en" sz="1800" b="1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as possible</a:t>
            </a:r>
            <a:endParaRPr dirty="0"/>
          </a:p>
          <a:p>
            <a:pPr marL="520700" lvl="1" indent="-1841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" sz="1700" cap="none" dirty="0">
                <a:latin typeface="Comic Sans MS"/>
                <a:ea typeface="Comic Sans MS"/>
                <a:cs typeface="Comic Sans MS"/>
                <a:sym typeface="Comic Sans MS"/>
              </a:rPr>
              <a:t>Anecdotes are irrelevant - </a:t>
            </a:r>
            <a:r>
              <a:rPr lang="en" sz="1500" cap="none" dirty="0">
                <a:latin typeface="Comic Sans MS"/>
                <a:ea typeface="Comic Sans MS"/>
                <a:cs typeface="Comic Sans MS"/>
                <a:sym typeface="Comic Sans MS"/>
              </a:rPr>
              <a:t>verbosity and generic responses will be your downfall.</a:t>
            </a:r>
            <a:endParaRPr sz="17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520700" lvl="1" indent="-1841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" sz="1700" cap="none" dirty="0">
                <a:latin typeface="Comic Sans MS"/>
                <a:ea typeface="Comic Sans MS"/>
                <a:cs typeface="Comic Sans MS"/>
                <a:sym typeface="Comic Sans MS"/>
              </a:rPr>
              <a:t>ANSWER the prompt directly – preferably with a word</a:t>
            </a:r>
            <a:endParaRPr dirty="0"/>
          </a:p>
          <a:p>
            <a:pPr marL="177800" lvl="0" indent="-635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sz="18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1" name="Google Shape;231;p36"/>
          <p:cNvSpPr txBox="1"/>
          <p:nvPr/>
        </p:nvSpPr>
        <p:spPr>
          <a:xfrm>
            <a:off x="141515" y="2863538"/>
            <a:ext cx="6086517" cy="11209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person, past or present, would you invite to speak and what would you ask them to discuss?</a:t>
            </a:r>
            <a:endParaRPr sz="1100"/>
          </a:p>
          <a:p>
            <a:pPr marL="177800" marR="0" lvl="0" indent="-1778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1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rock. What is more challenging, getting a six-pack or maintaining it?</a:t>
            </a:r>
            <a:endParaRPr sz="1100"/>
          </a:p>
          <a:p>
            <a:pPr marL="177800" marR="0" lvl="0" indent="-762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2" name="Google Shape;232;p36"/>
          <p:cNvSpPr txBox="1"/>
          <p:nvPr/>
        </p:nvSpPr>
        <p:spPr>
          <a:xfrm>
            <a:off x="1919927" y="3897770"/>
            <a:ext cx="6228031" cy="112093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92D05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inspires you? </a:t>
            </a:r>
            <a:endParaRPr sz="1100"/>
          </a:p>
          <a:p>
            <a:pPr marL="177800" marR="0" lvl="0" indent="-1778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DCEFE8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Actualization of a world where there is no difference between equity and equality.</a:t>
            </a:r>
            <a:endParaRPr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>
            <a:spLocks noGrp="1"/>
          </p:cNvSpPr>
          <p:nvPr>
            <p:ph type="body" idx="1"/>
          </p:nvPr>
        </p:nvSpPr>
        <p:spPr>
          <a:xfrm>
            <a:off x="837257" y="546648"/>
            <a:ext cx="7772870" cy="256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 b="1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 Show with </a:t>
            </a:r>
            <a:r>
              <a:rPr lang="en" sz="1800" b="1" u="sng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specificity</a:t>
            </a:r>
            <a:endParaRPr dirty="0"/>
          </a:p>
          <a:p>
            <a:pPr marL="520700" lvl="1" indent="-171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 cap="none" dirty="0">
                <a:latin typeface="Comic Sans MS"/>
                <a:ea typeface="Comic Sans MS"/>
                <a:cs typeface="Comic Sans MS"/>
                <a:sym typeface="Comic Sans MS"/>
              </a:rPr>
              <a:t>Chances are a number of other applicants may have a similar response to yours. It’s then up to you to give your reasons ‘why’, cause those will ALWAYS be </a:t>
            </a:r>
            <a:r>
              <a:rPr lang="en" sz="1500" b="1" cap="none" dirty="0">
                <a:latin typeface="Comic Sans MS"/>
                <a:ea typeface="Comic Sans MS"/>
                <a:cs typeface="Comic Sans MS"/>
                <a:sym typeface="Comic Sans MS"/>
              </a:rPr>
              <a:t>unique</a:t>
            </a:r>
            <a:r>
              <a:rPr lang="en" sz="1500" cap="none" dirty="0">
                <a:latin typeface="Comic Sans MS"/>
                <a:ea typeface="Comic Sans MS"/>
                <a:cs typeface="Comic Sans MS"/>
                <a:sym typeface="Comic Sans MS"/>
              </a:rPr>
              <a:t> to you.</a:t>
            </a:r>
            <a:endParaRPr dirty="0"/>
          </a:p>
          <a:p>
            <a:pPr marL="520700" lvl="1" indent="-171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 cap="none" dirty="0">
                <a:latin typeface="Comic Sans MS"/>
                <a:ea typeface="Comic Sans MS"/>
                <a:cs typeface="Comic Sans MS"/>
                <a:sym typeface="Comic Sans MS"/>
              </a:rPr>
              <a:t>Make your response </a:t>
            </a:r>
            <a:r>
              <a:rPr lang="en" sz="1500" b="1" cap="none" dirty="0">
                <a:latin typeface="Comic Sans MS"/>
                <a:ea typeface="Comic Sans MS"/>
                <a:cs typeface="Comic Sans MS"/>
                <a:sym typeface="Comic Sans MS"/>
              </a:rPr>
              <a:t>personal</a:t>
            </a:r>
            <a:endParaRPr dirty="0"/>
          </a:p>
          <a:p>
            <a:pPr marL="520700" lvl="1" indent="-1714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 cap="none" dirty="0">
                <a:latin typeface="Comic Sans MS"/>
                <a:ea typeface="Comic Sans MS"/>
                <a:cs typeface="Comic Sans MS"/>
                <a:sym typeface="Comic Sans MS"/>
              </a:rPr>
              <a:t>Don’t try being someone else. (Unless it’s Achraf Hakimi. He-he! Jk)</a:t>
            </a:r>
            <a:endParaRPr dirty="0"/>
          </a:p>
          <a:p>
            <a:pPr marL="520700" lvl="1" indent="-762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endParaRPr sz="1700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sz="1800" dirty="0"/>
          </a:p>
        </p:txBody>
      </p:sp>
      <p:sp>
        <p:nvSpPr>
          <p:cNvPr id="238" name="Google Shape;238;p37"/>
          <p:cNvSpPr txBox="1"/>
          <p:nvPr/>
        </p:nvSpPr>
        <p:spPr>
          <a:xfrm>
            <a:off x="337716" y="3114727"/>
            <a:ext cx="7273073" cy="18019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inspires you? </a:t>
            </a:r>
            <a:endParaRPr sz="1400" b="1" i="1" u="none" strike="noStrike" cap="non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marR="0" lvl="0" indent="-1778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 b="0" i="1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My vision of a future where every Kenyan’s story will start, “I first saw a computer when i was two!” A future where my struggle of growing up with limited access to computers will be non-existent</a:t>
            </a:r>
            <a:endParaRPr sz="1100"/>
          </a:p>
          <a:p>
            <a:pPr marL="177800" marR="0" lvl="0" indent="-1778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R&amp;B music. The weekend’s R&amp;B music is a magical pathway to my soul. Music is poetry with a melodious beat that provides therapy for my soul and fuel for the mind. Just like the weekend, I am a Starboy.</a:t>
            </a:r>
            <a:endParaRPr sz="1100"/>
          </a:p>
          <a:p>
            <a:pPr marL="177800" marR="0" lvl="0" indent="-1143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1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marR="0" lvl="0" indent="-1143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1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2289517" y="2479430"/>
            <a:ext cx="6699740" cy="9917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400" b="1" i="0" u="none" strike="noStrike" cap="none">
                <a:solidFill>
                  <a:srgbClr val="00B05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a new skill you would like to learn in college?</a:t>
            </a:r>
            <a:endParaRPr sz="1100"/>
          </a:p>
          <a:p>
            <a:pPr marL="177800" marR="0" lvl="0" indent="-177958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1300" b="0" i="1" u="none" strike="noStrike" cap="none">
                <a:solidFill>
                  <a:srgbClr val="0E101A"/>
                </a:solidFill>
                <a:latin typeface="Comic Sans MS"/>
                <a:ea typeface="Comic Sans MS"/>
                <a:cs typeface="Comic Sans MS"/>
                <a:sym typeface="Comic Sans MS"/>
              </a:rPr>
              <a:t>I started writing my bucket list on my 16th birthday, and one of the items on my list is to learn how to speak at least five languages. I speak English, French, Spanish, and Portuguese. While in college, I'd like to learn Italian too.</a:t>
            </a:r>
            <a:endParaRPr sz="1300" b="0" i="0" u="none" strike="noStrike" cap="none">
              <a:solidFill>
                <a:srgbClr val="3A3D4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>
            <a:spLocks noGrp="1"/>
          </p:cNvSpPr>
          <p:nvPr>
            <p:ph type="body" idx="1"/>
          </p:nvPr>
        </p:nvSpPr>
        <p:spPr>
          <a:xfrm>
            <a:off x="798786" y="611615"/>
            <a:ext cx="7883871" cy="25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 b="1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 Employ </a:t>
            </a:r>
            <a:r>
              <a:rPr lang="en" sz="1800" b="1" u="sng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creativity</a:t>
            </a:r>
            <a:endParaRPr dirty="0"/>
          </a:p>
          <a:p>
            <a:pPr marL="520700" lvl="1" indent="-1841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" sz="1700" cap="none" dirty="0">
                <a:latin typeface="Comic Sans MS"/>
                <a:ea typeface="Comic Sans MS"/>
                <a:cs typeface="Comic Sans MS"/>
                <a:sym typeface="Comic Sans MS"/>
              </a:rPr>
              <a:t>You ought to be </a:t>
            </a:r>
            <a:r>
              <a:rPr lang="en" sz="1700" b="1" cap="none" dirty="0">
                <a:latin typeface="Comic Sans MS"/>
                <a:ea typeface="Comic Sans MS"/>
                <a:cs typeface="Comic Sans MS"/>
                <a:sym typeface="Comic Sans MS"/>
              </a:rPr>
              <a:t>original</a:t>
            </a:r>
            <a:r>
              <a:rPr lang="en" sz="1700" cap="none" dirty="0">
                <a:latin typeface="Comic Sans MS"/>
                <a:ea typeface="Comic Sans MS"/>
                <a:cs typeface="Comic Sans MS"/>
                <a:sym typeface="Comic Sans MS"/>
              </a:rPr>
              <a:t> in conveying your response. It could be cliché, but how you bring it out might make it appear unique.</a:t>
            </a:r>
            <a:endParaRPr dirty="0"/>
          </a:p>
          <a:p>
            <a:pPr marL="520700" lvl="1" indent="-1841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" sz="1700" cap="none" dirty="0">
                <a:latin typeface="Comic Sans MS"/>
                <a:ea typeface="Comic Sans MS"/>
                <a:cs typeface="Comic Sans MS"/>
                <a:sym typeface="Comic Sans MS"/>
              </a:rPr>
              <a:t>Keep </a:t>
            </a:r>
            <a:r>
              <a:rPr lang="en" sz="1700" dirty="0">
                <a:latin typeface="Comic Sans MS"/>
                <a:ea typeface="Comic Sans MS"/>
                <a:cs typeface="Comic Sans MS"/>
                <a:sym typeface="Comic Sans MS"/>
              </a:rPr>
              <a:t>your </a:t>
            </a:r>
            <a:r>
              <a:rPr lang="en" sz="1700" cap="none" dirty="0">
                <a:latin typeface="Comic Sans MS"/>
                <a:ea typeface="Comic Sans MS"/>
                <a:cs typeface="Comic Sans MS"/>
                <a:sym typeface="Comic Sans MS"/>
              </a:rPr>
              <a:t>reader anticipating your next move</a:t>
            </a:r>
            <a:r>
              <a:rPr lang="en" sz="1700" dirty="0">
                <a:latin typeface="Comic Sans MS"/>
                <a:ea typeface="Comic Sans MS"/>
                <a:cs typeface="Comic Sans MS"/>
                <a:sym typeface="Comic Sans MS"/>
              </a:rPr>
              <a:t> - Learn from </a:t>
            </a:r>
            <a:r>
              <a:rPr lang="en" sz="1700" b="1" dirty="0">
                <a:latin typeface="Comic Sans MS"/>
                <a:ea typeface="Comic Sans MS"/>
                <a:cs typeface="Comic Sans MS"/>
                <a:sym typeface="Comic Sans MS"/>
              </a:rPr>
              <a:t>Elle Woods</a:t>
            </a:r>
            <a:r>
              <a:rPr lang="en" sz="1700" dirty="0"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dirty="0"/>
          </a:p>
        </p:txBody>
      </p:sp>
      <p:sp>
        <p:nvSpPr>
          <p:cNvPr id="245" name="Google Shape;245;p38"/>
          <p:cNvSpPr txBox="1"/>
          <p:nvPr/>
        </p:nvSpPr>
        <p:spPr>
          <a:xfrm>
            <a:off x="4881000" y="2531143"/>
            <a:ext cx="4263000" cy="1592387"/>
          </a:xfrm>
          <a:prstGeom prst="rect">
            <a:avLst/>
          </a:prstGeom>
          <a:solidFill>
            <a:srgbClr val="D78894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rgbClr val="1D3B7B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 are teaching a new yale course. What's it called?</a:t>
            </a:r>
            <a:endParaRPr sz="1500" b="1" i="0" u="none" strike="noStrike" cap="none" dirty="0">
              <a:solidFill>
                <a:srgbClr val="1D3B7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marR="0" lvl="0" indent="-1778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1" u="none" strike="noStrike" cap="none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Swimming with the  sharks: A pragmatic approach to high risk, high reward, and exhilarating fun in business. </a:t>
            </a:r>
            <a:endParaRPr sz="1800" b="1" i="0" u="none" strike="noStrike" cap="none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21995"/>
            <a:ext cx="4798526" cy="22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>
            <a:spLocks noGrp="1"/>
          </p:cNvSpPr>
          <p:nvPr>
            <p:ph type="body" idx="1"/>
          </p:nvPr>
        </p:nvSpPr>
        <p:spPr>
          <a:xfrm>
            <a:off x="816428" y="525128"/>
            <a:ext cx="5886122" cy="256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 cap="none" dirty="0">
                <a:latin typeface="Comic Sans MS"/>
                <a:ea typeface="Comic Sans MS"/>
                <a:cs typeface="Comic Sans MS"/>
                <a:sym typeface="Comic Sans MS"/>
              </a:rPr>
              <a:t>4.  </a:t>
            </a:r>
            <a:r>
              <a:rPr lang="en" sz="1800" b="1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Engage your </a:t>
            </a:r>
            <a:r>
              <a:rPr lang="en" sz="1800" b="1" u="sng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quirkiness</a:t>
            </a:r>
            <a:r>
              <a:rPr lang="en" sz="1800" b="1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lang="en" sz="1800" b="1" u="sng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humor</a:t>
            </a:r>
            <a:endParaRPr dirty="0"/>
          </a:p>
          <a:p>
            <a:pPr marL="520700" lvl="1" indent="-1841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" sz="1700" cap="none" dirty="0">
                <a:latin typeface="Comic Sans MS"/>
                <a:ea typeface="Comic Sans MS"/>
                <a:cs typeface="Comic Sans MS"/>
                <a:sym typeface="Comic Sans MS"/>
              </a:rPr>
              <a:t>Read your audience - know how to get them hooked.</a:t>
            </a:r>
            <a:endParaRPr dirty="0"/>
          </a:p>
          <a:p>
            <a:pPr marL="520700" lvl="1" indent="-1841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" sz="1700" cap="none" dirty="0">
                <a:latin typeface="Comic Sans MS"/>
                <a:ea typeface="Comic Sans MS"/>
                <a:cs typeface="Comic Sans MS"/>
                <a:sym typeface="Comic Sans MS"/>
              </a:rPr>
              <a:t>Be as </a:t>
            </a:r>
            <a:r>
              <a:rPr lang="en" sz="1700" i="1" cap="none" dirty="0">
                <a:latin typeface="Comic Sans MS"/>
                <a:ea typeface="Comic Sans MS"/>
                <a:cs typeface="Comic Sans MS"/>
                <a:sym typeface="Comic Sans MS"/>
              </a:rPr>
              <a:t>funny/weird/serious/introspective </a:t>
            </a:r>
            <a:r>
              <a:rPr lang="en" sz="1700" cap="none" dirty="0">
                <a:latin typeface="Comic Sans MS"/>
                <a:ea typeface="Comic Sans MS"/>
                <a:cs typeface="Comic Sans MS"/>
                <a:sym typeface="Comic Sans MS"/>
              </a:rPr>
              <a:t>as yourself. Respond ‘freely’, but </a:t>
            </a:r>
            <a:r>
              <a:rPr lang="en" sz="1700" b="1" cap="none" dirty="0">
                <a:latin typeface="Comic Sans MS"/>
                <a:ea typeface="Comic Sans MS"/>
                <a:cs typeface="Comic Sans MS"/>
                <a:sym typeface="Comic Sans MS"/>
              </a:rPr>
              <a:t>don’t cross the line! </a:t>
            </a:r>
            <a:endParaRPr b="1" dirty="0"/>
          </a:p>
          <a:p>
            <a:pPr marL="520700" lvl="1" indent="-1841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700"/>
              <a:buChar char="•"/>
            </a:pPr>
            <a:r>
              <a:rPr lang="en" sz="1700" i="1" cap="none" dirty="0">
                <a:latin typeface="Comic Sans MS"/>
                <a:ea typeface="Comic Sans MS"/>
                <a:cs typeface="Comic Sans MS"/>
                <a:sym typeface="Comic Sans MS"/>
              </a:rPr>
              <a:t>If you aren’t funny, you aren’t funny bruh!</a:t>
            </a:r>
            <a:endParaRPr i="1" u="sng" cap="none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lvl="0" indent="-635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sz="1800" dirty="0"/>
          </a:p>
        </p:txBody>
      </p:sp>
      <p:sp>
        <p:nvSpPr>
          <p:cNvPr id="252" name="Google Shape;252;p39"/>
          <p:cNvSpPr txBox="1"/>
          <p:nvPr/>
        </p:nvSpPr>
        <p:spPr>
          <a:xfrm>
            <a:off x="119750" y="3832934"/>
            <a:ext cx="8305800" cy="11330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700" b="1" i="0" u="none" strike="noStrike" cap="none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person, past or present, would you invite to speak and what would you ask them to discuss?</a:t>
            </a:r>
            <a:endParaRPr sz="1100" dirty="0"/>
          </a:p>
          <a:p>
            <a:pPr marL="177800" marR="0" lvl="0" indent="-171132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1400" b="0" i="1" u="none" strike="noStrike" cap="none" dirty="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German explorer, Johann Ludwig Krapf: you claim that you discovered mt. Kenya yet there were locals living around it before you arrived. So before you discovered it, was it a hill?</a:t>
            </a:r>
            <a:endParaRPr sz="1100" dirty="0"/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500" b="1" i="0" u="none" strike="noStrike" cap="none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2624252" y="2712004"/>
            <a:ext cx="6086517" cy="1120930"/>
          </a:xfrm>
          <a:prstGeom prst="rect">
            <a:avLst/>
          </a:prstGeom>
          <a:solidFill>
            <a:srgbClr val="5C1A7A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500" b="1" i="0" u="none" strike="noStrike" cap="none" dirty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inspires you?</a:t>
            </a:r>
            <a:endParaRPr sz="1100" dirty="0"/>
          </a:p>
          <a:p>
            <a:pPr marL="177800" marR="0" lvl="0" indent="-164465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1400" b="0" i="1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Memes.  </a:t>
            </a:r>
            <a:r>
              <a:rPr lang="en" i="1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" sz="1400" b="0" i="1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sual</a:t>
            </a:r>
            <a:r>
              <a:rPr lang="en" i="1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ly hilarious, often controversial, and sometimes caustic. Memes always brighten my day by making me laugh or atleast crack a smile. That small dose of positivity goes a long way in brightening an otherwise bleak day.</a:t>
            </a:r>
            <a:endParaRPr sz="1500" b="1" i="0" u="none" strike="noStrike" cap="none" dirty="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2550" y="739879"/>
            <a:ext cx="2441450" cy="19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750" y="2378318"/>
            <a:ext cx="2504502" cy="14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100"/>
              <a:buFont typeface="Comic Sans MS"/>
              <a:buNone/>
            </a:pPr>
            <a:r>
              <a:rPr lang="en" sz="41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TO HANDLE THEM: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61" name="Google Shape;261;p40"/>
          <p:cNvSpPr txBox="1">
            <a:spLocks noGrp="1"/>
          </p:cNvSpPr>
          <p:nvPr>
            <p:ph type="body" idx="1"/>
          </p:nvPr>
        </p:nvSpPr>
        <p:spPr>
          <a:xfrm>
            <a:off x="526528" y="1504700"/>
            <a:ext cx="47802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b="1" i="1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NB: </a:t>
            </a:r>
            <a:endParaRPr/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Ultimately, you need to approach the prompt authentically. It’s about YOU!</a:t>
            </a:r>
            <a:endParaRPr/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Also, make sure to </a:t>
            </a:r>
            <a:r>
              <a:rPr lang="en" b="1" cap="none">
                <a:latin typeface="Comic Sans MS"/>
                <a:ea typeface="Comic Sans MS"/>
                <a:cs typeface="Comic Sans MS"/>
                <a:sym typeface="Comic Sans MS"/>
              </a:rPr>
              <a:t>HAVE FUN 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with it</a:t>
            </a: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 - 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You</a:t>
            </a: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’re more likely to give an interesting response that’ll ke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ep your reader engaged. (</a:t>
            </a:r>
            <a:r>
              <a:rPr lang="en" i="1" cap="none">
                <a:latin typeface="Comic Sans MS"/>
                <a:ea typeface="Comic Sans MS"/>
                <a:cs typeface="Comic Sans MS"/>
                <a:sym typeface="Comic Sans MS"/>
              </a:rPr>
              <a:t>Do not be the boring applicant who makes the AO fall asleep☹</a:t>
            </a: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b="1" cap="none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lvl="0" indent="-762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pic>
        <p:nvPicPr>
          <p:cNvPr id="262" name="Google Shape;2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3350" y="1891575"/>
            <a:ext cx="3075325" cy="18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>
            <a:spLocks noGrp="1"/>
          </p:cNvSpPr>
          <p:nvPr>
            <p:ph type="body" idx="1"/>
          </p:nvPr>
        </p:nvSpPr>
        <p:spPr>
          <a:xfrm>
            <a:off x="444682" y="609198"/>
            <a:ext cx="7796100" cy="3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2100"/>
              <a:buFont typeface="Noto Sans Symbols"/>
              <a:buChar char="⮚"/>
            </a:pPr>
            <a:r>
              <a:rPr lang="en" sz="2100" b="1" cap="none" dirty="0">
                <a:latin typeface="Comic Sans MS"/>
                <a:ea typeface="Comic Sans MS"/>
                <a:cs typeface="Comic Sans MS"/>
                <a:sym typeface="Comic Sans MS"/>
              </a:rPr>
              <a:t>What brings you joy?</a:t>
            </a:r>
            <a:endParaRPr dirty="0"/>
          </a:p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</a:pPr>
            <a:r>
              <a:rPr lang="en" cap="none" dirty="0">
                <a:latin typeface="Comic Sans MS"/>
                <a:ea typeface="Comic Sans MS"/>
                <a:cs typeface="Comic Sans MS"/>
                <a:sym typeface="Comic Sans MS"/>
              </a:rPr>
              <a:t>Joy is subjective, which makes this question relative. </a:t>
            </a:r>
            <a:endParaRPr dirty="0"/>
          </a:p>
          <a:p>
            <a:pPr marL="45720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</a:pPr>
            <a:r>
              <a:rPr lang="en" cap="none" dirty="0">
                <a:latin typeface="Comic Sans MS"/>
                <a:ea typeface="Comic Sans MS"/>
                <a:cs typeface="Comic Sans MS"/>
                <a:sym typeface="Comic Sans MS"/>
              </a:rPr>
              <a:t>If it’s open-ended, can you go wrong with any response?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r>
              <a:rPr lang="en" cap="none" dirty="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lvl="0" indent="-254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77800" lvl="0" indent="-254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1651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wentieth Century"/>
              <a:buNone/>
            </a:pPr>
            <a:endParaRPr sz="1400" dirty="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254000" lvl="0" indent="-1651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Twentieth Century"/>
              <a:buNone/>
            </a:pPr>
            <a:endParaRPr sz="14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8" name="Google Shape;268;p41"/>
          <p:cNvSpPr txBox="1">
            <a:spLocks noGrp="1"/>
          </p:cNvSpPr>
          <p:nvPr>
            <p:ph type="title"/>
          </p:nvPr>
        </p:nvSpPr>
        <p:spPr>
          <a:xfrm>
            <a:off x="538482" y="212211"/>
            <a:ext cx="779760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mic Sans MS"/>
              <a:buNone/>
            </a:pPr>
            <a:r>
              <a:rPr lang="en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DISCUSSION…</a:t>
            </a:r>
            <a:endParaRPr/>
          </a:p>
        </p:txBody>
      </p:sp>
      <p:pic>
        <p:nvPicPr>
          <p:cNvPr id="269" name="Google Shape;2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2563" y="2998225"/>
            <a:ext cx="1956160" cy="18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6225" y="2761600"/>
            <a:ext cx="1813950" cy="18139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71" name="Google Shape;271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7638" y="2814774"/>
            <a:ext cx="2319670" cy="21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8750" y="212200"/>
            <a:ext cx="2631425" cy="23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00" y="2454500"/>
            <a:ext cx="2522349" cy="26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>
            <a:spLocks noGrp="1"/>
          </p:cNvSpPr>
          <p:nvPr>
            <p:ph type="title"/>
          </p:nvPr>
        </p:nvSpPr>
        <p:spPr>
          <a:xfrm>
            <a:off x="685331" y="463888"/>
            <a:ext cx="7773338" cy="119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Comic Sans MS"/>
              <a:buNone/>
            </a:pPr>
            <a:r>
              <a:rPr lang="en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CONCLUSION:</a:t>
            </a:r>
            <a:endParaRPr/>
          </a:p>
        </p:txBody>
      </p:sp>
      <p:sp>
        <p:nvSpPr>
          <p:cNvPr id="279" name="Google Shape;279;p42"/>
          <p:cNvSpPr txBox="1">
            <a:spLocks noGrp="1"/>
          </p:cNvSpPr>
          <p:nvPr>
            <p:ph type="body" idx="1"/>
          </p:nvPr>
        </p:nvSpPr>
        <p:spPr>
          <a:xfrm>
            <a:off x="515982" y="1330054"/>
            <a:ext cx="7796030" cy="248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Now that you’ve seen how others did it, get your freak on.</a:t>
            </a:r>
            <a:endParaRPr/>
          </a:p>
          <a:p>
            <a:pPr marL="177800" lvl="0" indent="-17145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cap="none">
                <a:latin typeface="Comic Sans MS"/>
                <a:ea typeface="Comic Sans MS"/>
                <a:cs typeface="Comic Sans MS"/>
                <a:sym typeface="Comic Sans MS"/>
              </a:rPr>
              <a:t>Unleash your inner beast!</a:t>
            </a:r>
            <a:endParaRPr/>
          </a:p>
          <a:p>
            <a:pPr marL="177800" lvl="0" indent="-7620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pic>
        <p:nvPicPr>
          <p:cNvPr id="280" name="Google Shape;2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325" y="2173100"/>
            <a:ext cx="4922922" cy="248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>
            <a:spLocks noGrp="1"/>
          </p:cNvSpPr>
          <p:nvPr>
            <p:ph type="body" idx="1"/>
          </p:nvPr>
        </p:nvSpPr>
        <p:spPr>
          <a:xfrm>
            <a:off x="4653194" y="1330054"/>
            <a:ext cx="4803084" cy="248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ANY QUESTIONS?</a:t>
            </a:r>
            <a:endParaRPr/>
          </a:p>
        </p:txBody>
      </p:sp>
      <p:pic>
        <p:nvPicPr>
          <p:cNvPr id="286" name="Google Shape;286;p43" descr="&lt;strong&gt;Question&lt;/strong&gt; mark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8680" y="2224111"/>
            <a:ext cx="3571875" cy="2364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4074" y="865858"/>
            <a:ext cx="1908672" cy="1867359"/>
          </a:xfrm>
          <a:prstGeom prst="ellipse">
            <a:avLst/>
          </a:prstGeom>
          <a:noFill/>
          <a:ln>
            <a:noFill/>
          </a:ln>
        </p:spPr>
      </p:pic>
      <p:sp>
        <p:nvSpPr>
          <p:cNvPr id="288" name="Google Shape;288;p43"/>
          <p:cNvSpPr txBox="1"/>
          <p:nvPr/>
        </p:nvSpPr>
        <p:spPr>
          <a:xfrm>
            <a:off x="4061421" y="-259281"/>
            <a:ext cx="3730457" cy="248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300"/>
              <a:buFont typeface="Arial"/>
              <a:buNone/>
            </a:pPr>
            <a:endParaRPr sz="2700" b="0" i="0" u="none" strike="noStrike" cap="non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>
            <a:spLocks noGrp="1"/>
          </p:cNvSpPr>
          <p:nvPr>
            <p:ph type="body" idx="1"/>
          </p:nvPr>
        </p:nvSpPr>
        <p:spPr>
          <a:xfrm>
            <a:off x="1572064" y="474784"/>
            <a:ext cx="485631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100" b="1" dirty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 THE GAMES BEGIN…</a:t>
            </a:r>
            <a:endParaRPr dirty="0"/>
          </a:p>
        </p:txBody>
      </p:sp>
      <p:pic>
        <p:nvPicPr>
          <p:cNvPr id="294" name="Google Shape;294;p44"/>
          <p:cNvPicPr preferRelativeResize="0"/>
          <p:nvPr/>
        </p:nvPicPr>
        <p:blipFill rotWithShape="1">
          <a:blip r:embed="rId3">
            <a:alphaModFix/>
          </a:blip>
          <a:srcRect t="2279"/>
          <a:stretch/>
        </p:blipFill>
        <p:spPr>
          <a:xfrm>
            <a:off x="928468" y="1160584"/>
            <a:ext cx="6913506" cy="3618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roplet">
  <a:themeElements>
    <a:clrScheme name="Droplet">
      <a:dk1>
        <a:srgbClr val="000000"/>
      </a:dk1>
      <a:lt1>
        <a:srgbClr val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2959</TotalTime>
  <Words>1000</Words>
  <Application>Microsoft Office PowerPoint</Application>
  <PresentationFormat>On-screen Show (16:9)</PresentationFormat>
  <Paragraphs>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Comic Sans MS</vt:lpstr>
      <vt:lpstr>Roboto</vt:lpstr>
      <vt:lpstr>Arial</vt:lpstr>
      <vt:lpstr>Twentieth Century</vt:lpstr>
      <vt:lpstr>Noto Sans Symbols</vt:lpstr>
      <vt:lpstr>Simple Light</vt:lpstr>
      <vt:lpstr>Droplet</vt:lpstr>
      <vt:lpstr>SHORT-RESPONSE ESSAYS</vt:lpstr>
      <vt:lpstr>THE ESSENCE OF SHORT-RESPONSE ESSAYS</vt:lpstr>
      <vt:lpstr>SAMPLE ESSAYS (35-50 WORDS OR FEWER) </vt:lpstr>
      <vt:lpstr>HOW TO HANDLE THEM:</vt:lpstr>
      <vt:lpstr>STANDING-OUT</vt:lpstr>
      <vt:lpstr>PowerPoint Presentation</vt:lpstr>
      <vt:lpstr>PowerPoint Presentation</vt:lpstr>
      <vt:lpstr>PowerPoint Presentation</vt:lpstr>
      <vt:lpstr>PowerPoint Presentation</vt:lpstr>
      <vt:lpstr>HOW TO HANDLE THEM:</vt:lpstr>
      <vt:lpstr>DISCUSSION…</vt:lpstr>
      <vt:lpstr>CONCLUSION: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SHORT-RESPONSE ESSAYS</dc:title>
  <cp:lastModifiedBy>Victor Mutinda</cp:lastModifiedBy>
  <cp:revision>2</cp:revision>
  <dcterms:modified xsi:type="dcterms:W3CDTF">2023-04-17T12:01:59Z</dcterms:modified>
</cp:coreProperties>
</file>