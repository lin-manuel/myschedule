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44dfa199ff32c3d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44dfa199ff32c3d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43694e0135a0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43694e0135a0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7bb9df8350a1a0d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7bb9df8350a1a0d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504093546d22fb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504093546d22fb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504093546d22fb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504093546d22fb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504093546d22fb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504093546d22fb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504093546d22fb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504093546d22fb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7bb9df8350a1a0d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7bb9df8350a1a0d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10b3a31da2c12b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10b3a31da2c12b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0b3a31da2c12b7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0b3a31da2c12b7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0b3a31da2c12b7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0b3a31da2c12b7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4770e997a421eef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4770e997a421eef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4770e997a421eef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4770e997a421eef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4770e997a421eef7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4770e997a421eef7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770e997a421eef7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770e997a421eef7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4770e997a421eef7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4770e997a421eef7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4770e997a421eef7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4770e997a421eef7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4770e997a421eef7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4770e997a421eef7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lnSpcReduction="10000"/>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SUPPLEMENTAL ESSAYS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By Lilian Atawoi and Isaac Oketch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a:t>
            </a:r>
            <a:r>
              <a:rPr lang="en-GB"/>
              <a:t>t are supplemental essays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Supplemental essays are additional pieces of writing required by many highly-selective universities, and they can be just as revealing and important as your personal statement.</a:t>
            </a:r>
            <a:endParaRPr/>
          </a:p>
          <a:p>
            <a:pPr indent="0" lvl="0" marL="0" rtl="0" algn="l">
              <a:spcBef>
                <a:spcPts val="1200"/>
              </a:spcBef>
              <a:spcAft>
                <a:spcPts val="0"/>
              </a:spcAft>
              <a:buNone/>
            </a:pPr>
            <a:r>
              <a:rPr lang="en-GB"/>
              <a:t>The prompts vary for each school therefore unlike the personal statement we have different types of supplemental Essays;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Are </a:t>
            </a:r>
            <a:r>
              <a:rPr lang="en-GB"/>
              <a:t>they important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YESS!!</a:t>
            </a:r>
            <a:endParaRPr/>
          </a:p>
          <a:p>
            <a:pPr indent="0" lvl="0" marL="0" rtl="0" algn="l">
              <a:spcBef>
                <a:spcPts val="1200"/>
              </a:spcBef>
              <a:spcAft>
                <a:spcPts val="0"/>
              </a:spcAft>
              <a:buNone/>
            </a:pPr>
            <a:r>
              <a:rPr lang="en-GB"/>
              <a:t>They're your chance to demonstrate that you know what makes the school special and that you're excited to attend that particular institution. Good supplementary essays both highlight what a good fit you are for a college and flatter the college by discussing its unique strengths.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of supplemental Essays </a:t>
            </a:r>
            <a:endParaRPr/>
          </a:p>
        </p:txBody>
      </p:sp>
      <p:sp>
        <p:nvSpPr>
          <p:cNvPr id="73" name="Google Shape;73;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2.Why major essay</a:t>
            </a:r>
            <a:endParaRPr/>
          </a:p>
          <a:p>
            <a:pPr indent="0" lvl="0" marL="0" rtl="0" algn="l">
              <a:spcBef>
                <a:spcPts val="1200"/>
              </a:spcBef>
              <a:spcAft>
                <a:spcPts val="0"/>
              </a:spcAft>
              <a:buNone/>
            </a:pPr>
            <a:r>
              <a:rPr lang="en-GB"/>
              <a:t>3.Community Essay </a:t>
            </a:r>
            <a:endParaRPr/>
          </a:p>
          <a:p>
            <a:pPr indent="0" lvl="0" marL="0" rtl="0" algn="l">
              <a:spcBef>
                <a:spcPts val="1200"/>
              </a:spcBef>
              <a:spcAft>
                <a:spcPts val="0"/>
              </a:spcAft>
              <a:buNone/>
            </a:pPr>
            <a:r>
              <a:rPr lang="en-GB"/>
              <a:t>4.Leadership essay</a:t>
            </a:r>
            <a:endParaRPr/>
          </a:p>
          <a:p>
            <a:pPr indent="0" lvl="0" marL="0" rtl="0" algn="l">
              <a:spcBef>
                <a:spcPts val="1200"/>
              </a:spcBef>
              <a:spcAft>
                <a:spcPts val="0"/>
              </a:spcAft>
              <a:buNone/>
            </a:pPr>
            <a:r>
              <a:rPr lang="en-GB"/>
              <a:t>5.Diversity essay</a:t>
            </a:r>
            <a:endParaRPr/>
          </a:p>
          <a:p>
            <a:pPr indent="0" lvl="0" marL="0" rtl="0" algn="l">
              <a:spcBef>
                <a:spcPts val="1200"/>
              </a:spcBef>
              <a:spcAft>
                <a:spcPts val="0"/>
              </a:spcAft>
              <a:buNone/>
            </a:pPr>
            <a:r>
              <a:rPr lang="en-GB"/>
              <a:t>6.Extracurricular essay</a:t>
            </a:r>
            <a:endParaRPr/>
          </a:p>
          <a:p>
            <a:pPr indent="0" lvl="0" marL="0" rtl="0" algn="l">
              <a:spcBef>
                <a:spcPts val="1200"/>
              </a:spcBef>
              <a:spcAft>
                <a:spcPts val="1200"/>
              </a:spcAft>
              <a:buNone/>
            </a:pPr>
            <a:r>
              <a:t/>
            </a:r>
            <a:endParaRPr/>
          </a:p>
        </p:txBody>
      </p:sp>
      <p:sp>
        <p:nvSpPr>
          <p:cNvPr id="74" name="Google Shape;74;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7.Quotation</a:t>
            </a:r>
            <a:endParaRPr/>
          </a:p>
          <a:p>
            <a:pPr indent="0" lvl="0" marL="0" rtl="0" algn="l">
              <a:spcBef>
                <a:spcPts val="1200"/>
              </a:spcBef>
              <a:spcAft>
                <a:spcPts val="0"/>
              </a:spcAft>
              <a:buNone/>
            </a:pPr>
            <a:r>
              <a:rPr lang="en-GB"/>
              <a:t>8.Intellectual vitality essay</a:t>
            </a:r>
            <a:endParaRPr/>
          </a:p>
          <a:p>
            <a:pPr indent="0" lvl="0" marL="0" rtl="0" algn="l">
              <a:spcBef>
                <a:spcPts val="1200"/>
              </a:spcBef>
              <a:spcAft>
                <a:spcPts val="0"/>
              </a:spcAft>
              <a:buNone/>
            </a:pPr>
            <a:r>
              <a:rPr lang="en-GB"/>
              <a:t>9.Short answer essays</a:t>
            </a:r>
            <a:endParaRPr/>
          </a:p>
          <a:p>
            <a:pPr indent="0" lvl="0" marL="0" rtl="0" algn="l">
              <a:spcBef>
                <a:spcPts val="1200"/>
              </a:spcBef>
              <a:spcAft>
                <a:spcPts val="0"/>
              </a:spcAft>
              <a:buNone/>
            </a:pPr>
            <a:r>
              <a:rPr lang="en-GB"/>
              <a:t>10.Zany/Vague/Quirky Essays</a:t>
            </a:r>
            <a:endParaRPr/>
          </a:p>
          <a:p>
            <a:pPr indent="0" lvl="0" marL="0" rtl="0" algn="l">
              <a:spcBef>
                <a:spcPts val="1200"/>
              </a:spcBef>
              <a:spcAft>
                <a:spcPts val="0"/>
              </a:spcAft>
              <a:buNone/>
            </a:pPr>
            <a:r>
              <a:rPr lang="en-GB"/>
              <a:t>11.Roommate essay</a:t>
            </a:r>
            <a:endParaRPr/>
          </a:p>
          <a:p>
            <a:pPr indent="0" lvl="0" marL="0" rtl="0" algn="l">
              <a:spcBef>
                <a:spcPts val="1200"/>
              </a:spcBef>
              <a:spcAft>
                <a:spcPts val="1200"/>
              </a:spcAft>
              <a:buNone/>
            </a:pPr>
            <a:r>
              <a:rPr lang="en-GB"/>
              <a:t>12.Argumentative Essay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UNDERSTANDING THE DIFFERENT TYPES OF SUPPLEMENTAL ESSAYS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US essay</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GB"/>
              <a:t>Example: Northwestern Essay Prompt</a:t>
            </a:r>
            <a:endParaRPr/>
          </a:p>
          <a:p>
            <a:pPr indent="0" lvl="0" marL="0" rtl="0" algn="l">
              <a:spcBef>
                <a:spcPts val="1200"/>
              </a:spcBef>
              <a:spcAft>
                <a:spcPts val="0"/>
              </a:spcAft>
              <a:buNone/>
            </a:pPr>
            <a:r>
              <a:rPr lang="en-GB"/>
              <a:t>“Other parts of your application give us a sense of how you might contribute to Northwestern. But we also want to consider how Northwestern will contribute to your interests and goals. In 300 words or less, help us understand what aspects of Northwestern appeal most to you, and how you’ll make use of specific resources and opportunities here.”</a:t>
            </a:r>
            <a:endParaRPr/>
          </a:p>
          <a:p>
            <a:pPr indent="0" lvl="0" marL="0" rtl="0" algn="l">
              <a:spcBef>
                <a:spcPts val="1200"/>
              </a:spcBef>
              <a:spcAft>
                <a:spcPts val="0"/>
              </a:spcAft>
              <a:buNone/>
            </a:pPr>
            <a:r>
              <a:rPr lang="en-GB"/>
              <a:t>This is the most common supplemental question asked by universities. The point of this essay isn’t just to tell the college how great they are (they presumably already know that), but to explain why you would be a great fit for this particular college.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To illustrate your compatibility, first determine what makes a college a good fit for you, beginning with academics. What specific programs do they offer? What majors? Are there specific faculty members with which you might want to work? What research opportunities does the school provide? </a:t>
            </a:r>
            <a:endParaRPr/>
          </a:p>
          <a:p>
            <a:pPr indent="0" lvl="0" marL="0" rtl="0" algn="l">
              <a:spcBef>
                <a:spcPts val="1200"/>
              </a:spcBef>
              <a:spcAft>
                <a:spcPts val="0"/>
              </a:spcAft>
              <a:buNone/>
            </a:pPr>
            <a:r>
              <a:rPr lang="en-GB"/>
              <a:t>After you determine the answers to these questions, you have the first piece of the essay, and can then add in the second: how does the school fill your specific needs and how you as a person will contribute to the school.</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major Essay</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GB"/>
              <a:t>Example: UT Austin Essay Prompt</a:t>
            </a:r>
            <a:endParaRPr/>
          </a:p>
          <a:p>
            <a:pPr indent="0" lvl="0" marL="0" rtl="0" algn="l">
              <a:spcBef>
                <a:spcPts val="1200"/>
              </a:spcBef>
              <a:spcAft>
                <a:spcPts val="0"/>
              </a:spcAft>
              <a:buNone/>
            </a:pPr>
            <a:r>
              <a:rPr lang="en-GB"/>
              <a:t>“Why are you interested in the major you indicated as your first-</a:t>
            </a:r>
            <a:endParaRPr/>
          </a:p>
          <a:p>
            <a:pPr indent="0" lvl="0" marL="0" rtl="0" algn="l">
              <a:spcBef>
                <a:spcPts val="1200"/>
              </a:spcBef>
              <a:spcAft>
                <a:spcPts val="0"/>
              </a:spcAft>
              <a:buNone/>
            </a:pPr>
            <a:r>
              <a:rPr lang="en-GB"/>
              <a:t>The key to this essay is to avoid cliché and banality, while also not lying or doctoring your own personal experiences. </a:t>
            </a:r>
            <a:endParaRPr/>
          </a:p>
          <a:p>
            <a:pPr indent="0" lvl="0" marL="0" rtl="0" algn="l">
              <a:spcBef>
                <a:spcPts val="1200"/>
              </a:spcBef>
              <a:spcAft>
                <a:spcPts val="0"/>
              </a:spcAft>
              <a:buNone/>
            </a:pPr>
            <a:r>
              <a:rPr lang="en-GB"/>
              <a:t>This essay requires introspection. What led you to desire what you want to do? What were the formative events that caused you to want to enter a certain field, or study a particular topic?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The strongest ‘Why Major’ essays give a unique answer that could only be written by the applicant, clearly demonstrating to the reader an utterly personal reason for the choice of prospective major.</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Community Essay</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a:t>Example: Yale Essay Prompt</a:t>
            </a:r>
            <a:endParaRPr/>
          </a:p>
          <a:p>
            <a:pPr indent="0" lvl="0" marL="0" rtl="0" algn="l">
              <a:spcBef>
                <a:spcPts val="1200"/>
              </a:spcBef>
              <a:spcAft>
                <a:spcPts val="0"/>
              </a:spcAft>
              <a:buNone/>
            </a:pPr>
            <a:r>
              <a:rPr lang="en-GB"/>
              <a:t>“Reflect on your membership in a community. Why is your involvement important to you? How has it shaped you?  You may define community however you like.”</a:t>
            </a:r>
            <a:endParaRPr/>
          </a:p>
          <a:p>
            <a:pPr indent="0" lvl="0" marL="0" rtl="0" algn="l">
              <a:spcBef>
                <a:spcPts val="1200"/>
              </a:spcBef>
              <a:spcAft>
                <a:spcPts val="0"/>
              </a:spcAft>
              <a:buNone/>
            </a:pPr>
            <a:r>
              <a:rPr lang="en-GB"/>
              <a:t>For a community essay, describe how you impacted a community, and how it impacted you. Did founding a chess club, for example, teach you the joy of mentoring others to success? Or, perhaps, did being a part of a minority group give you a unique perspective that allowed you to make a difference in the world around you?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This essay should describe your growth as an individual through your contributions to the greater whole, and how you improved the group as well. Admissions officers are trying to build a community in their admitted class, and want to be sure you will be a strong part of that community.</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Diversity </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GB"/>
              <a:t>New York University prompt:-</a:t>
            </a:r>
            <a:endParaRPr/>
          </a:p>
          <a:p>
            <a:pPr indent="0" lvl="0" marL="0" rtl="0" algn="l">
              <a:spcBef>
                <a:spcPts val="1200"/>
              </a:spcBef>
              <a:spcAft>
                <a:spcPts val="0"/>
              </a:spcAft>
              <a:buNone/>
            </a:pPr>
            <a:r>
              <a:rPr lang="en-GB"/>
              <a:t>NYU was founded on the belief that a student’s identity should not dictate the ability for them to access higher education. That sense of opportunity for all students, of all backgrounds, remains a part of who we are today and a critical part of what makes us a world class university. Our community embraces diversity, in all its forms, as a cornerstone of the NYU experience.</a:t>
            </a:r>
            <a:endParaRPr/>
          </a:p>
          <a:p>
            <a:pPr indent="0" lvl="0" marL="0" rtl="0" algn="l">
              <a:spcBef>
                <a:spcPts val="1200"/>
              </a:spcBef>
              <a:spcAft>
                <a:spcPts val="0"/>
              </a:spcAft>
              <a:buNone/>
            </a:pPr>
            <a:r>
              <a:rPr lang="en-GB"/>
              <a:t>We would like to better understand how your experiences would help us to shape and grow our diverse community.</a:t>
            </a:r>
            <a:endParaRPr/>
          </a:p>
          <a:p>
            <a:pPr indent="0" lvl="0" marL="0" rtl="0" algn="l">
              <a:spcBef>
                <a:spcPts val="1200"/>
              </a:spcBef>
              <a:spcAft>
                <a:spcPts val="0"/>
              </a:spcAft>
              <a:buNone/>
            </a:pPr>
            <a:r>
              <a:rPr lang="en-GB"/>
              <a:t>This essay asks students about diversity, and how they might fit into or contribute to a diverse community</a:t>
            </a:r>
            <a:endParaRPr/>
          </a:p>
          <a:p>
            <a:pPr indent="0" lvl="0" marL="0" rtl="0" algn="l">
              <a:spcBef>
                <a:spcPts val="1200"/>
              </a:spcBef>
              <a:spcAft>
                <a:spcPts val="0"/>
              </a:spcAft>
              <a:buNone/>
            </a:pPr>
            <a:r>
              <a:rPr lang="en-GB"/>
              <a:t>Diversity comes not just from ethnicity, but from nationality, socio-economic position, geographic location, intellectual positions, religious identity, and personal circumstances of all stripes. </a:t>
            </a:r>
            <a:endParaRPr/>
          </a:p>
          <a:p>
            <a:pPr indent="0" lvl="0" marL="0" rtl="0" algn="l">
              <a:spcBef>
                <a:spcPts val="1200"/>
              </a:spcBef>
              <a:spcAft>
                <a:spcPts val="0"/>
              </a:spcAft>
              <a:buNone/>
            </a:pPr>
            <a:r>
              <a:rPr lang="en-GB"/>
              <a:t>Once you have determined what form of diversity applies to you, think about how your lived experience has shaped you: how you view the world, react to it, and operate within a broader picture because of who you are. This essay is meant to describe how you are unique, and how your unique experiences and viewpoints will contribute to the campus community as a whole.</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Leadership </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a:t>Example: University of California Essay Prompt</a:t>
            </a:r>
            <a:endParaRPr/>
          </a:p>
          <a:p>
            <a:pPr indent="0" lvl="0" marL="0" rtl="0" algn="l">
              <a:spcBef>
                <a:spcPts val="1200"/>
              </a:spcBef>
              <a:spcAft>
                <a:spcPts val="0"/>
              </a:spcAft>
              <a:buNone/>
            </a:pPr>
            <a:r>
              <a:rPr lang="en-GB"/>
              <a:t>“Describe an example of your leadership experience in which you have positively influenced others, helped resolve disputes, or contributed to group efforts over time.”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In this essay type;</a:t>
            </a:r>
            <a:endParaRPr/>
          </a:p>
          <a:p>
            <a:pPr indent="0" lvl="0" marL="0" rtl="0" algn="l">
              <a:spcBef>
                <a:spcPts val="1200"/>
              </a:spcBef>
              <a:spcAft>
                <a:spcPts val="0"/>
              </a:spcAft>
              <a:buNone/>
            </a:pPr>
            <a:r>
              <a:rPr lang="en-GB"/>
              <a:t>First, determine for yourself what happened. What was the background? What were the stakes? What did you do specifically? What outcome did your involvement bring? This essay is meant to highlight one of your accomplishments by showing what precisely you have done. Avoid generalities, and give enough details to paint a vivid picture without overwhelming the reader. </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Extracurricular Essa</a:t>
            </a:r>
            <a:r>
              <a:rPr lang="en-GB"/>
              <a:t>y </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Example:- Harvard:- Briefly Elaborate on one of your extracurricular activities </a:t>
            </a:r>
            <a:endParaRPr/>
          </a:p>
          <a:p>
            <a:pPr indent="0" lvl="0" marL="0" rtl="0" algn="l">
              <a:spcBef>
                <a:spcPts val="1200"/>
              </a:spcBef>
              <a:spcAft>
                <a:spcPts val="0"/>
              </a:spcAft>
              <a:buNone/>
            </a:pPr>
            <a:r>
              <a:rPr lang="en-GB"/>
              <a:t>These essays ask you specifically about an extracurricular you have participated in. While your personal statement and other essays can and should draw from the experiences you had in extracurriculars, this essay focuses exclusively on one.</a:t>
            </a:r>
            <a:endParaRPr/>
          </a:p>
          <a:p>
            <a:pPr indent="0" lvl="0" marL="0" rtl="0" algn="l">
              <a:spcBef>
                <a:spcPts val="1200"/>
              </a:spcBef>
              <a:spcAft>
                <a:spcPts val="0"/>
              </a:spcAft>
              <a:buNone/>
            </a:pPr>
            <a:r>
              <a:rPr lang="en-GB"/>
              <a:t>As with the rest of the essays, the college wants to learn something about you, so the extracurricular should be used as a lens through which one of your facets is displayed. </a:t>
            </a:r>
            <a:endParaRPr/>
          </a:p>
          <a:p>
            <a:pPr indent="0" lvl="0" marL="0" rtl="0" algn="l">
              <a:spcBef>
                <a:spcPts val="1200"/>
              </a:spcBef>
              <a:spcAft>
                <a:spcPts val="0"/>
              </a:spcAft>
              <a:buNone/>
            </a:pPr>
            <a:r>
              <a:rPr lang="en-GB"/>
              <a:t>As a final note, if you already talked about an extracurricular in your personal statement or another supplemental essay, then avoid using it again, unless you have something truly unique to say about it for another essay.</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Quotation </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GB"/>
              <a:t>Example: Dartmouth prompt-Labor leader and civil rights activist Dolores Huerta recommended a life of purpose. "We must use our lives to make the world a better place to live, not just to acquire things," she said. "That is what we are put on the earth for." In what ways do you hope to make—or are you making—an impact?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These essays ask students to interact with and respond to a quote. The quote in question will (usually) relate to the school, its mission, or its values in some way. The goal of this essay is to use the quote as a lens to discuss yourself and your possible ties to the school community.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This essay, like all supplemental essays, should say something about you in particular. Through your discussion of and interaction with the quote, bring some aspect of yourself to light. Good topics to use? Leadership, Community, and Extracurricular essays are usually good prompts to cross apply here.</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Intellectual Vitality Essay</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Stanford prompt:- Reflect on an idea or experience that makes you genuinely excited about learning</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So what is intellectual vitality? It’s a love of learning for the sake of knowledge alone, rather than its pursuit for grades, prestige, admissions chances, or external expectations. This is what top schools look for in a student, as these schools take pride in being beacons of knowledge and learning, and look for students who will contribute to that end.</a:t>
            </a:r>
            <a:endParaRPr/>
          </a:p>
          <a:p>
            <a:pPr indent="0" lvl="0" marL="0" rtl="0" algn="l">
              <a:spcBef>
                <a:spcPts val="1200"/>
              </a:spcBef>
              <a:spcAft>
                <a:spcPts val="0"/>
              </a:spcAft>
              <a:buNone/>
            </a:pPr>
            <a:r>
              <a:rPr lang="en-GB"/>
              <a:t>It’s important to remember that whatever you decide to write about, be honest. Talk about real-life events and show your intellectual vitality by showing how you applied it. Don’t try to make something up — it will almost always come across as unauthentic.</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Short Answer Essays </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Example: Columbia Essay prompts :-Example</a:t>
            </a:r>
            <a:endParaRPr/>
          </a:p>
          <a:p>
            <a:pPr indent="0" lvl="0" marL="0" rtl="0" algn="l">
              <a:spcBef>
                <a:spcPts val="1200"/>
              </a:spcBef>
              <a:spcAft>
                <a:spcPts val="0"/>
              </a:spcAft>
              <a:buNone/>
            </a:pPr>
            <a:r>
              <a:rPr lang="en-GB"/>
              <a:t>List five books you have read that intrigued you. (Spaces have been left for you to include each book’s title and author and mark whether the selection was required or not required.)”</a:t>
            </a:r>
            <a:endParaRPr/>
          </a:p>
          <a:p>
            <a:pPr indent="0" lvl="0" marL="0" rtl="0" algn="l">
              <a:spcBef>
                <a:spcPts val="1200"/>
              </a:spcBef>
              <a:spcAft>
                <a:spcPts val="0"/>
              </a:spcAft>
              <a:buNone/>
            </a:pPr>
            <a:r>
              <a:rPr lang="en-GB"/>
              <a:t>These questions are more varied, and can cover any number of topics. When answering these questions, look first at the available word count, as this will shape how you should go about answering the question. A question asking you for your favorite book, and giving 50 words of space, probably wants more than the title alone</a:t>
            </a:r>
            <a:endParaRPr/>
          </a:p>
          <a:p>
            <a:pPr indent="0" lvl="0" marL="0" rtl="0" algn="l">
              <a:spcBef>
                <a:spcPts val="1200"/>
              </a:spcBef>
              <a:spcAft>
                <a:spcPts val="0"/>
              </a:spcAft>
              <a:buNone/>
            </a:pPr>
            <a:r>
              <a:rPr lang="en-GB"/>
              <a:t>These questions seek to fill out details, and get a fuller sense of the applicant as a person and scholar. Oblige them by offering insight into your life and how you think about and react to the world</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Zany/Vague/Quirky Essays </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GB"/>
              <a:t>Example: University of Chicago Essay Prompt</a:t>
            </a:r>
            <a:endParaRPr/>
          </a:p>
          <a:p>
            <a:pPr indent="0" lvl="0" marL="0" rtl="0" algn="l">
              <a:spcBef>
                <a:spcPts val="1200"/>
              </a:spcBef>
              <a:spcAft>
                <a:spcPts val="0"/>
              </a:spcAft>
              <a:buNone/>
            </a:pPr>
            <a:r>
              <a:rPr lang="en-GB"/>
              <a:t>“Cats have nine lives, Pac-Man has 3 lives, and radioactive isotopes have half-lives. How many lives does something else—conceptual or actual—have, and why?” </a:t>
            </a:r>
            <a:endParaRPr/>
          </a:p>
          <a:p>
            <a:pPr indent="0" lvl="0" marL="0" rtl="0" algn="l">
              <a:spcBef>
                <a:spcPts val="1200"/>
              </a:spcBef>
              <a:spcAft>
                <a:spcPts val="0"/>
              </a:spcAft>
              <a:buNone/>
            </a:pPr>
            <a:r>
              <a:rPr lang="en-GB"/>
              <a:t>Find x promp</a:t>
            </a:r>
            <a:endParaRPr/>
          </a:p>
          <a:p>
            <a:pPr indent="0" lvl="0" marL="0" rtl="0" algn="l">
              <a:spcBef>
                <a:spcPts val="1200"/>
              </a:spcBef>
              <a:spcAft>
                <a:spcPts val="0"/>
              </a:spcAft>
              <a:buNone/>
            </a:pPr>
            <a:r>
              <a:rPr lang="en-GB"/>
              <a:t>These are the rarest form of question, but are some of the most difficult to answer. The primary perpetrators of such questions are Stanford and UChicago, both of whom pride themselves on occasionally preposterous prompts.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The trick with these prompts is to lean in, and embrace the weirdness. Many of these schools have a strong culture of idiosyncratic thinkers, these prompts target by forcing applicants to think outside the box.  Each of these prompts must be approached on their own, and most will not be able to overlap with other prompts. </a:t>
            </a:r>
            <a:endParaRPr/>
          </a:p>
          <a:p>
            <a:pPr indent="0" lvl="0" marL="0" rtl="0" algn="l">
              <a:spcBef>
                <a:spcPts val="1200"/>
              </a:spcBef>
              <a:spcAft>
                <a:spcPts val="0"/>
              </a:spcAft>
              <a:buNone/>
            </a:pPr>
            <a:r>
              <a:rPr lang="en-GB"/>
              <a:t>Still, the same general guidelines apply; the essay should tell the college something they don’t already know about you, and give them deeper insight into how you think and approach problems.</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Roomm</a:t>
            </a:r>
            <a:r>
              <a:rPr lang="en-GB"/>
              <a:t>ate Essay</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GB"/>
              <a:t>Stanford prompt:-Virtually all of Stanford’s undergraduates live on campus. Write a note to your future roommate that reveals something about you or that will help your roommate—and us—know you better.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This essay question allows a lot of room for brainstorming. Think about it—you can tell your future roommate anything. Questions like this aren’t meant to be taken too seriously. They’re meant to show your fun and creative side.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Telling Stanford might sound daunting, but what would your response be if your friend asked you this? Reframing your audience is a great way to approach this question because you would give your friend an authentic answer. This is a great tip to help get the ideas flowing. Of course, the Stanford admission’s committee will be the ones reading your response, so make sure it is appropriate. </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Argumentative essay </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GB"/>
              <a:t>Yale prompt:-</a:t>
            </a:r>
            <a:endParaRPr/>
          </a:p>
          <a:p>
            <a:pPr indent="0" lvl="0" marL="0" rtl="0" algn="l">
              <a:spcBef>
                <a:spcPts val="1200"/>
              </a:spcBef>
              <a:spcAft>
                <a:spcPts val="0"/>
              </a:spcAft>
              <a:buNone/>
            </a:pPr>
            <a:r>
              <a:rPr lang="en-GB"/>
              <a:t>Yale carries out its mission “through the free exchange of ideas in an ethical, interdependent, and diverse community.” Reflect on a time when you exchanged ideas about an important issue with someone holding an opposing view. How did the experience lead you either to change your opinion or to sharpen your reasons for holding onto it?</a:t>
            </a:r>
            <a:endParaRPr/>
          </a:p>
          <a:p>
            <a:pPr indent="0" lvl="0" marL="0" rtl="0" algn="l">
              <a:spcBef>
                <a:spcPts val="1200"/>
              </a:spcBef>
              <a:spcAft>
                <a:spcPts val="0"/>
              </a:spcAft>
              <a:buNone/>
            </a:pPr>
            <a:r>
              <a:rPr lang="en-GB"/>
              <a:t>We disagree with people often, often multiple times a day, so there’s plenty of material to brainstorm from. This may be especially pertinent for members of argument-based extracurriculars, like debate, Mock Trial, and Model UN students. Activists and researchers, too. But remember— it doesn’t have to be an argument, just a discussion with a dissenter. </a:t>
            </a:r>
            <a:endParaRPr/>
          </a:p>
          <a:p>
            <a:pPr indent="0" lvl="0" marL="0" rtl="0" algn="l">
              <a:spcBef>
                <a:spcPts val="1200"/>
              </a:spcBef>
              <a:spcAft>
                <a:spcPts val="0"/>
              </a:spcAft>
              <a:buNone/>
            </a:pPr>
            <a:r>
              <a:rPr lang="en-GB"/>
              <a:t>Write down a list of possible topics, and don’t worry too much about the context of the discussion so much as its content and impact. When this essay is well-written, quarrels with the woman in front of you in line for grocery checkout can be just as fascinating as a national debate closing argument. </a:t>
            </a:r>
            <a:endParaRPr/>
          </a:p>
          <a:p>
            <a:pPr indent="0" lvl="0" marL="0" rtl="0" algn="l">
              <a:spcBef>
                <a:spcPts val="1200"/>
              </a:spcBef>
              <a:spcAft>
                <a:spcPts val="0"/>
              </a:spcAft>
              <a:buNone/>
            </a:pPr>
            <a:r>
              <a:rPr lang="en-GB"/>
              <a:t>Also, determining whether an issue is “important” or not can be a subjective matter. Your essay doesn’t necessarily need to be about traditional political debate topics, such as abortion or gun control. In fact, we encourage you to write about issues that will be a little less common, if you can think of some relevant experiences (local issues can be especially promising). Topics such as cultural appropriation, the ethics of thrifting and reselling, or whether your school district should get rid of its gifted program are all fair game.</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QUESTIONS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gracìoùs….THaNGk,yōō..!!!</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