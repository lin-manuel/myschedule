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media1.m4a" ContentType="audio/unknown"/>
  <Override PartName="/ppt/media/image3.jpeg" ContentType="image/jpeg"/>
  <Override PartName="/ppt/media/image4.jpeg" ContentType="image/jpeg"/>
  <Override PartName="/ppt/media/media2.m4a" ContentType="audio/unknown"/>
  <Override PartName="/ppt/media/image5.jpeg" ContentType="image/jpeg"/>
  <Override PartName="/ppt/media/media3.m4a" ContentType="audio/unknown"/>
  <Override PartName="/ppt/media/media4.m4a" ContentType="audio/unknown"/>
  <Override PartName="/ppt/media/image6.jpeg" ContentType="image/jpeg"/>
  <Override PartName="/ppt/media/image7.jpeg" ContentType="image/jpeg"/>
  <Override PartName="/ppt/media/media5.m4a" ContentType="audio/unknown"/>
  <Override PartName="/ppt/media/image8.jpeg" ContentType="image/jpeg"/>
  <Override PartName="/ppt/media/image9.jpeg" ContentType="image/jpeg"/>
  <Override PartName="/ppt/media/media6.m4a" ContentType="audio/unknown"/>
  <Override PartName="/ppt/media/image10.jpeg" ContentType="image/jpeg"/>
  <Override PartName="/ppt/media/image11.jpeg" ContentType="image/jpeg"/>
  <Override PartName="/ppt/media/media7.m4a" ContentType="audio/unknown"/>
  <Override PartName="/ppt/media/image12.jpeg" ContentType="image/jpeg"/>
  <Override PartName="/ppt/media/media8.m4a" ContentType="audio/unknown"/>
  <Override PartName="/ppt/media/image13.jpeg" ContentType="image/jpeg"/>
  <Override PartName="/ppt/media/image14.jpeg" ContentType="image/jpeg"/>
  <Override PartName="/ppt/media/media9.m4a" ContentType="audio/unknown"/>
  <Override PartName="/ppt/media/image15.jpeg" ContentType="image/jpeg"/>
  <Override PartName="/ppt/media/media10.m4a" ContentType="audio/unknown"/>
  <Override PartName="/ppt/media/image16.jpeg" ContentType="image/jpeg"/>
  <Override PartName="/ppt/media/image17.jpeg" ContentType="image/jpeg"/>
  <Override PartName="/ppt/media/media11.m4a" ContentType="audio/unknown"/>
  <Override PartName="/ppt/media/image1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1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8A1AEF2E-A8BC-43E1-99F0-FED694B41BB1-L0-001.jpeg"/>
          <p:cNvSpPr/>
          <p:nvPr>
            <p:ph type="pic" idx="13"/>
          </p:nvPr>
        </p:nvSpPr>
        <p:spPr>
          <a:xfrm>
            <a:off x="4786274" y="-924695"/>
            <a:ext cx="6966029" cy="87075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 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3" name="8A1AEF2E-A8BC-43E1-99F0-FED694B41BB1-L0-001.jpeg"/>
          <p:cNvSpPr/>
          <p:nvPr>
            <p:ph type="pic" idx="13"/>
          </p:nvPr>
        </p:nvSpPr>
        <p:spPr>
          <a:xfrm>
            <a:off x="4786274" y="-924695"/>
            <a:ext cx="6966029" cy="87075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audio" Target="../media/media1.m4a"/><Relationship Id="rId5" Type="http://schemas.microsoft.com/office/2007/relationships/media" Target="../media/media1.m4a"/><Relationship Id="rId6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audio" Target="../media/media2.m4a"/><Relationship Id="rId5" Type="http://schemas.microsoft.com/office/2007/relationships/media" Target="../media/media2.m4a"/><Relationship Id="rId6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3" Type="http://schemas.openxmlformats.org/officeDocument/2006/relationships/audio" Target="../media/media3.m4a"/><Relationship Id="rId4" Type="http://schemas.microsoft.com/office/2007/relationships/media" Target="../media/media3.m4a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3" Type="http://schemas.microsoft.com/office/2007/relationships/media" Target="../media/media4.m4a"/><Relationship Id="rId4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jpeg"/><Relationship Id="rId8" Type="http://schemas.openxmlformats.org/officeDocument/2006/relationships/audio" Target="../media/media5.m4a"/><Relationship Id="rId9" Type="http://schemas.microsoft.com/office/2007/relationships/media" Target="../media/media5.m4a"/><Relationship Id="rId10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audio" Target="../media/media6.m4a"/><Relationship Id="rId5" Type="http://schemas.microsoft.com/office/2007/relationships/media" Target="../media/media6.m4a"/><Relationship Id="rId6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11.jpeg"/><Relationship Id="rId4" Type="http://schemas.openxmlformats.org/officeDocument/2006/relationships/audio" Target="../media/media7.m4a"/><Relationship Id="rId5" Type="http://schemas.microsoft.com/office/2007/relationships/media" Target="../media/media7.m4a"/><Relationship Id="rId6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audio" Target="../media/media8.m4a"/><Relationship Id="rId4" Type="http://schemas.microsoft.com/office/2007/relationships/media" Target="../media/media8.m4a"/><Relationship Id="rId5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audio" Target="../media/media9.m4a"/><Relationship Id="rId6" Type="http://schemas.microsoft.com/office/2007/relationships/media" Target="../media/media9.m4a"/><Relationship Id="rId7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Relationship Id="rId3" Type="http://schemas.openxmlformats.org/officeDocument/2006/relationships/audio" Target="../media/media10.m4a"/><Relationship Id="rId4" Type="http://schemas.microsoft.com/office/2007/relationships/media" Target="../media/media10.m4a"/><Relationship Id="rId5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3" Type="http://schemas.openxmlformats.org/officeDocument/2006/relationships/hyperlink" Target="http://blog.prepscholar.com" TargetMode="External"/><Relationship Id="rId4" Type="http://schemas.openxmlformats.org/officeDocument/2006/relationships/hyperlink" Target="https://apply.jhu.edu/application-process/essays-that-worked/" TargetMode="External"/><Relationship Id="rId5" Type="http://schemas.openxmlformats.org/officeDocument/2006/relationships/hyperlink" Target="http://blog.collegevine.com" TargetMode="External"/><Relationship Id="rId6" Type="http://schemas.openxmlformats.org/officeDocument/2006/relationships/image" Target="../media/image17.jpeg"/><Relationship Id="rId7" Type="http://schemas.openxmlformats.org/officeDocument/2006/relationships/audio" Target="../media/media11.m4a"/><Relationship Id="rId8" Type="http://schemas.microsoft.com/office/2007/relationships/media" Target="../media/media11.m4a"/><Relationship Id="rId9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ctrTitle"/>
          </p:nvPr>
        </p:nvSpPr>
        <p:spPr>
          <a:xfrm>
            <a:off x="415021" y="857172"/>
            <a:ext cx="5310799" cy="1326841"/>
          </a:xfrm>
          <a:prstGeom prst="rect">
            <a:avLst/>
          </a:prstGeom>
          <a:gradFill>
            <a:gsLst>
              <a:gs pos="0">
                <a:srgbClr val="70A6DB"/>
              </a:gs>
              <a:gs pos="50000">
                <a:srgbClr val="559BDB"/>
              </a:gs>
              <a:gs pos="100000">
                <a:srgbClr val="448AC9"/>
              </a:gs>
            </a:gsLst>
            <a:lin ang="5400000"/>
          </a:gradFill>
          <a:ln>
            <a:solidFill>
              <a:schemeClr val="accent5"/>
            </a:solidFill>
            <a:miter lim="800000"/>
          </a:ln>
          <a:effectLst>
            <a:outerShdw sx="100000" sy="100000" kx="0" ky="0" algn="b" rotWithShape="0" blurRad="381000" dist="119618" dir="0">
              <a:srgbClr val="000000">
                <a:alpha val="75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  <p:txBody>
          <a:bodyPr/>
          <a:lstStyle/>
          <a:p>
            <a:pPr algn="l">
              <a:defRPr b="1" sz="4400">
                <a:latin typeface="+mn-lt"/>
                <a:ea typeface="+mn-ea"/>
                <a:cs typeface="+mn-cs"/>
                <a:sym typeface="Helvetica"/>
              </a:defRPr>
            </a:pPr>
            <a:r>
              <a:t>ESSAY WRITING</a:t>
            </a:r>
            <a:r>
              <a:rPr b="0">
                <a:latin typeface="Calibri Light"/>
                <a:ea typeface="Calibri Light"/>
                <a:cs typeface="Calibri Light"/>
                <a:sym typeface="Calibri Light"/>
              </a:rPr>
              <a:t> </a:t>
            </a:r>
          </a:p>
        </p:txBody>
      </p:sp>
      <p:sp>
        <p:nvSpPr>
          <p:cNvPr id="105" name="Subtitle 2"/>
          <p:cNvSpPr txBox="1"/>
          <p:nvPr>
            <p:ph type="subTitle" sz="quarter" idx="1"/>
          </p:nvPr>
        </p:nvSpPr>
        <p:spPr>
          <a:xfrm>
            <a:off x="1222727" y="4825098"/>
            <a:ext cx="4418795" cy="932517"/>
          </a:xfrm>
          <a:prstGeom prst="rect">
            <a:avLst/>
          </a:prstGeom>
          <a:effectLst>
            <a:outerShdw sx="100000" sy="100000" kx="0" ky="0" algn="b" rotWithShape="0" blurRad="190500" dist="12700" dir="5400000">
              <a:srgbClr val="000000">
                <a:alpha val="75000"/>
              </a:srgbClr>
            </a:outerShdw>
          </a:effectLst>
        </p:spPr>
        <p:txBody>
          <a:bodyPr/>
          <a:lstStyle>
            <a:lvl1pPr algn="l">
              <a:defRPr b="1">
                <a:blipFill rotWithShape="1">
                  <a:blip r:embed="rId2"/>
                  <a:srcRect l="0" t="0" r="0" b="0"/>
                  <a:tile tx="0" ty="0" sx="100000" sy="100000" flip="none" algn="tl"/>
                </a:blipFill>
              </a:defRPr>
            </a:lvl1pPr>
          </a:lstStyle>
          <a:p>
            <a:pPr/>
            <a:r>
              <a:t>By Kaluna and Wamalwa</a:t>
            </a:r>
          </a:p>
        </p:txBody>
      </p:sp>
      <p:pic>
        <p:nvPicPr>
          <p:cNvPr id="106" name="8A1AEF2E-A8BC-43E1-99F0-FED694B41BB1-L0-001.jpeg" descr="8A1AEF2E-A8BC-43E1-99F0-FED694B41BB1-L0-00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92365" y="233306"/>
            <a:ext cx="5113112" cy="6391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Audio Recording.m4a" descr="Audio Recording.m4a"/>
          <p:cNvPicPr>
            <a:picLocks noChangeAspect="0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4999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0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xfrm>
            <a:off x="163170" y="569037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b="1">
                <a:blipFill rotWithShape="1">
                  <a:blip r:embed="rId2"/>
                  <a:srcRect l="0" t="0" r="0" b="0"/>
                  <a:tile tx="0" ty="0" sx="100000" sy="100000" flip="none" algn="tl"/>
                </a:blip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Purpose of College Essays</a:t>
            </a:r>
          </a:p>
        </p:txBody>
      </p:sp>
      <p:sp>
        <p:nvSpPr>
          <p:cNvPr id="110" name="Content Placeholder 2"/>
          <p:cNvSpPr txBox="1"/>
          <p:nvPr>
            <p:ph type="body" sz="half" idx="1"/>
          </p:nvPr>
        </p:nvSpPr>
        <p:spPr>
          <a:xfrm>
            <a:off x="375078" y="2427187"/>
            <a:ext cx="10515601" cy="237446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Just like test scores, essays play a pivotal role in ensuring you secure admission into the institution of your dreams.</a:t>
            </a:r>
          </a:p>
          <a:p>
            <a:pPr>
              <a:lnSpc>
                <a:spcPct val="81000"/>
              </a:lnSpc>
              <a:defRPr sz="2500"/>
            </a:pPr>
            <a:r>
              <a:t>Key in getting admissions councils to know you better</a:t>
            </a:r>
          </a:p>
          <a:p>
            <a:pPr>
              <a:lnSpc>
                <a:spcPct val="81000"/>
              </a:lnSpc>
              <a:defRPr sz="2500"/>
            </a:pPr>
            <a:r>
              <a:t>Gauging your writing skills        </a:t>
            </a:r>
          </a:p>
        </p:txBody>
      </p:sp>
      <p:pic>
        <p:nvPicPr>
          <p:cNvPr id="111" name="18B7ED85-3C09-4CDF-8AB6-3BBCC15FF178-L0-001.jpeg" descr="18B7ED85-3C09-4CDF-8AB6-3BBCC15FF178-L0-00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52019" y="200713"/>
            <a:ext cx="3722041" cy="20622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Audio Recording.m4a" descr="Audio Recording.m4a"/>
          <p:cNvPicPr>
            <a:picLocks noChangeAspect="0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warp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811655" fill="hold"/>
                                        <p:tgtEl>
                                          <p:spTgt spid="1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Essay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190500" dist="12700" dir="5400000">
              <a:srgbClr val="000000">
                <a:alpha val="75000"/>
              </a:srgbClr>
            </a:outerShdw>
          </a:effectLst>
        </p:spPr>
        <p:txBody>
          <a:bodyPr/>
          <a:lstStyle>
            <a:lvl1pPr>
              <a:defRPr b="1">
                <a:solidFill>
                  <a:srgbClr val="FF401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Essay</a:t>
            </a:r>
          </a:p>
        </p:txBody>
      </p:sp>
      <p:sp>
        <p:nvSpPr>
          <p:cNvPr id="115" name="The essays include but are not limited to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The essays include but are not limited to: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   1.  Common app essay/ personal</a:t>
            </a:r>
            <a:r>
              <a:t>  </a:t>
            </a:r>
            <a:r>
              <a:t>statement.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   2.   Supplements.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   3.   Gap Year essays. 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   4.   Scholarship essays.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   5.   ACT and SAT Essays </a:t>
            </a:r>
          </a:p>
        </p:txBody>
      </p:sp>
      <p:pic>
        <p:nvPicPr>
          <p:cNvPr id="116" name="13BD1A7F-F7D1-40D6-8840-87E93BB5401C-L0-001.jpeg" descr="13BD1A7F-F7D1-40D6-8840-87E93BB5401C-L0-0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5354" y="414025"/>
            <a:ext cx="2273383" cy="1276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Audio Recording.m4a" descr="Audio Recording.m4a"/>
          <p:cNvPicPr>
            <a:picLocks noChangeAspect="0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blinds dir="horz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46666" fill="hold"/>
                                        <p:tgtEl>
                                          <p:spTgt spid="1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/>
          <a:lstStyle>
            <a:lvl1pPr defTabSz="868680">
              <a:defRPr b="1" sz="4180">
                <a:solidFill>
                  <a:srgbClr val="4E7A27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Common App Essay/ Personal statement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get an insight of who you are outside of your statistics (activities, academic honors, scores etc.) </a:t>
            </a:r>
          </a:p>
          <a:p>
            <a:pPr/>
            <a:r>
              <a:t>To know your personality and voice.</a:t>
            </a:r>
          </a:p>
          <a:p>
            <a:pPr/>
            <a:r>
              <a:t>Portray how your personal experiences and interactions have shaped your identity, values and beliefs.   </a:t>
            </a:r>
          </a:p>
        </p:txBody>
      </p:sp>
      <p:pic>
        <p:nvPicPr>
          <p:cNvPr id="121" name="Audio Recording.m4a" descr="Audio Recording.m4a"/>
          <p:cNvPicPr>
            <a:picLocks noChangeAspect="0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103988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4">
                    <a:lumOff val="12500"/>
                  </a:schemeClr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💡Tips for the Common app essay💡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838200" y="1488110"/>
            <a:ext cx="10515600" cy="4351340"/>
          </a:xfrm>
          <a:prstGeom prst="rect">
            <a:avLst/>
          </a:prstGeom>
        </p:spPr>
        <p:txBody>
          <a:bodyPr/>
          <a:lstStyle/>
          <a:p>
            <a:pPr/>
            <a:r>
              <a:t>Be very personal (vulnerable ) in your essays</a:t>
            </a:r>
            <a:r>
              <a:t> </a:t>
            </a:r>
            <a:r>
              <a:t>-</a:t>
            </a:r>
            <a:r>
              <a:t> </a:t>
            </a:r>
            <a:r>
              <a:t>stand out</a:t>
            </a:r>
          </a:p>
          <a:p>
            <a:pPr/>
            <a:r>
              <a:t>Avoid writing about other people. </a:t>
            </a:r>
          </a:p>
          <a:p>
            <a:pPr/>
            <a:r>
              <a:t>Be very vivid in your description and avoid ambiguity. </a:t>
            </a:r>
          </a:p>
          <a:p>
            <a:pPr/>
            <a:r>
              <a:t>Have a defined voice.</a:t>
            </a:r>
          </a:p>
        </p:txBody>
      </p:sp>
      <p:pic>
        <p:nvPicPr>
          <p:cNvPr id="125" name="D12EDEAC-0534-4713-AB4C-58D7FF2680BE-L0-001.jpeg" descr="D12EDEAC-0534-4713-AB4C-58D7FF2680BE-L0-0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49" y="4005329"/>
            <a:ext cx="5209215" cy="17325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0" name="Drawing"/>
          <p:cNvGrpSpPr/>
          <p:nvPr/>
        </p:nvGrpSpPr>
        <p:grpSpPr>
          <a:xfrm>
            <a:off x="5603217" y="3409371"/>
            <a:ext cx="2631672" cy="1528999"/>
            <a:chOff x="-1" y="-1"/>
            <a:chExt cx="2631671" cy="1528997"/>
          </a:xfrm>
        </p:grpSpPr>
        <p:pic>
          <p:nvPicPr>
            <p:cNvPr id="126" name="Line Shape" descr="Line Shap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2" y="506271"/>
              <a:ext cx="752237" cy="102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" name="Line Shape" descr="Line Shap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95569" y="650920"/>
              <a:ext cx="992314" cy="654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" name="Line Shape" descr="Line Shape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639356" y="-2"/>
              <a:ext cx="992315" cy="9964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" name="Line Line" descr="Line Line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615248" y="144648"/>
              <a:ext cx="703016" cy="510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31" name="97255348-1051-4E7F-A55B-CFA9180DCEF1-L0-001.jpeg" descr="97255348-1051-4E7F-A55B-CFA9180DCEF1-L0-001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43210" y="4512545"/>
            <a:ext cx="3330906" cy="22206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Audio Recording.m4a" descr="Audio Recording.m4a"/>
          <p:cNvPicPr>
            <a:picLocks noChangeAspect="0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65670" fill="hold"/>
                                        <p:tgtEl>
                                          <p:spTgt spid="1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3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/>
          <a:lstStyle/>
          <a:p>
            <a:pPr>
              <a:defRPr b="1">
                <a:blipFill rotWithShape="1">
                  <a:blip r:embed="rId2"/>
                  <a:srcRect l="0" t="0" r="0" b="0"/>
                  <a:tile tx="0" ty="0" sx="100000" sy="100000" flip="none" algn="tl"/>
                </a:blipFill>
                <a:latin typeface="+mn-lt"/>
                <a:ea typeface="+mn-ea"/>
                <a:cs typeface="+mn-cs"/>
                <a:sym typeface="Helvetica"/>
              </a:defRPr>
            </a:pPr>
            <a:r>
              <a:t>Supplements</a:t>
            </a:r>
            <a:r>
              <a:rPr b="0"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 </a:t>
            </a:r>
          </a:p>
        </p:txBody>
      </p:sp>
      <p:sp>
        <p:nvSpPr>
          <p:cNvPr id="13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Additional essays to your personal essay.</a:t>
            </a:r>
          </a:p>
          <a:p>
            <a:pPr/>
            <a:r>
              <a:t>School-specific and vary from school to school.</a:t>
            </a:r>
          </a:p>
          <a:p>
            <a:pPr/>
            <a:r>
              <a:t>Meant to capture elements of your community, personality and intellectual vitality.</a:t>
            </a:r>
          </a:p>
          <a:p>
            <a:pPr/>
            <a:r>
              <a:t>May require you to state reasons for wanting to attend a specific school, or taking a specific major. </a:t>
            </a:r>
          </a:p>
          <a:p>
            <a:pPr/>
            <a:r>
              <a:t>May drive to a certain core value of a school.</a:t>
            </a:r>
          </a:p>
          <a:p>
            <a:pPr/>
            <a:r>
              <a:t>Be clear and precise in your response.</a:t>
            </a:r>
          </a:p>
        </p:txBody>
      </p:sp>
      <p:pic>
        <p:nvPicPr>
          <p:cNvPr id="136" name="BEA81E77-8C21-4CC9-821A-9E16B518CB07-L0-001.jpeg" descr="BEA81E77-8C21-4CC9-821A-9E16B518CB07-L0-00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38623" y="374931"/>
            <a:ext cx="1315845" cy="1305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Audio Recording.m4a" descr="Audio Recording.m4a"/>
          <p:cNvPicPr>
            <a:picLocks noChangeAspect="0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doors dir="ver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153333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3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A6987112-F4A0-4FA2-8A42-380D51164A07-L0-001.jpeg" descr="A6987112-F4A0-4FA2-8A42-380D51164A07-L0-001.jpeg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3279" t="25605" r="16772" b="12438"/>
          <a:stretch>
            <a:fillRect/>
          </a:stretch>
        </p:blipFill>
        <p:spPr>
          <a:xfrm>
            <a:off x="3718093" y="-405408"/>
            <a:ext cx="5569187" cy="7668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  <a:reflection blurRad="0" stA="50000" stPos="0" endA="0" endPos="40000" dist="0" dir="5400000" fadeDir="5400000" sx="100000" sy="-100000" kx="0" ky="0" algn="bl" rotWithShape="0"/>
          </a:effectLst>
        </p:spPr>
        <p:txBody>
          <a:bodyPr/>
          <a:lstStyle>
            <a:lvl1pPr>
              <a:defRPr b="1">
                <a:blipFill rotWithShape="1">
                  <a:blip r:embed="rId2"/>
                  <a:srcRect l="0" t="0" r="0" b="0"/>
                  <a:tile tx="0" ty="0" sx="100000" sy="100000" flip="none" algn="tl"/>
                </a:blip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Why school essay</a:t>
            </a:r>
          </a:p>
        </p:txBody>
      </p:sp>
      <p:sp>
        <p:nvSpPr>
          <p:cNvPr id="142" name="Content Placeholder 2"/>
          <p:cNvSpPr txBox="1"/>
          <p:nvPr>
            <p:ph type="body" idx="1"/>
          </p:nvPr>
        </p:nvSpPr>
        <p:spPr>
          <a:xfrm>
            <a:off x="211386" y="2259571"/>
            <a:ext cx="10515601" cy="4351341"/>
          </a:xfrm>
          <a:prstGeom prst="rect">
            <a:avLst/>
          </a:prstGeom>
        </p:spPr>
        <p:txBody>
          <a:bodyPr/>
          <a:lstStyle/>
          <a:p>
            <a:pPr/>
            <a:r>
              <a:t>Requires that you state reasons for wanting to attend a specific school.</a:t>
            </a:r>
          </a:p>
          <a:p>
            <a:pPr/>
            <a:r>
              <a:t>Finds out if you’re a good fit.</a:t>
            </a:r>
          </a:p>
          <a:p>
            <a:pPr/>
            <a:r>
              <a:t>Show what the school is </a:t>
            </a:r>
            <a:r>
              <a:rPr>
                <a:solidFill>
                  <a:srgbClr val="FF6A00"/>
                </a:solidFill>
              </a:rPr>
              <a:t>going to do for you</a:t>
            </a:r>
            <a:r>
              <a:t> and </a:t>
            </a:r>
            <a:r>
              <a:rPr>
                <a:solidFill>
                  <a:srgbClr val="DA5100"/>
                </a:solidFill>
              </a:rPr>
              <a:t>how you will  contribute </a:t>
            </a:r>
            <a:r>
              <a:t>to the school community.</a:t>
            </a:r>
          </a:p>
          <a:p>
            <a:pPr/>
            <a:r>
              <a:t>Avoid being superficial in your response.</a:t>
            </a:r>
          </a:p>
          <a:p>
            <a:pPr/>
            <a:r>
              <a:t>Show you’re well researched. </a:t>
            </a:r>
          </a:p>
        </p:txBody>
      </p:sp>
      <p:pic>
        <p:nvPicPr>
          <p:cNvPr id="143" name="194A1574-F1F2-4556-AACA-E01201E5C61A-L0-001.jpeg" descr="194A1574-F1F2-4556-AACA-E01201E5C61A-L0-00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76096" y="0"/>
            <a:ext cx="3048326" cy="23331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Audio Recording.m4a" descr="Audio Recording.m4a"/>
          <p:cNvPicPr>
            <a:picLocks noChangeAspect="0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07323" fill="hold"/>
                                        <p:tgtEl>
                                          <p:spTgt spid="1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4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xfrm>
            <a:off x="838200" y="217296"/>
            <a:ext cx="10515600" cy="1325564"/>
          </a:xfrm>
          <a:prstGeom prst="rect">
            <a:avLst/>
          </a:prstGeom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 b="1">
                <a:solidFill>
                  <a:srgbClr val="5C07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Gap Year Essays</a:t>
            </a:r>
            <a:r>
              <a:rPr b="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 </a:t>
            </a:r>
          </a:p>
        </p:txBody>
      </p:sp>
      <p:sp>
        <p:nvSpPr>
          <p:cNvPr id="147" name="Content Placeholder 2"/>
          <p:cNvSpPr txBox="1"/>
          <p:nvPr>
            <p:ph type="body" sz="half" idx="1"/>
          </p:nvPr>
        </p:nvSpPr>
        <p:spPr>
          <a:xfrm>
            <a:off x="838200" y="1565527"/>
            <a:ext cx="10515600" cy="204298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•Ask for your engagement after high school.</a:t>
            </a:r>
          </a:p>
          <a:p>
            <a:pPr marL="0" indent="0">
              <a:buSzTx/>
              <a:buNone/>
            </a:pPr>
            <a:r>
              <a:t>•Great chance to portray your intellectual curiosities e.g research work or community engagement.</a:t>
            </a:r>
          </a:p>
          <a:p>
            <a:pPr marL="0" indent="0">
              <a:buSzTx/>
              <a:buNone/>
            </a:pPr>
            <a:r>
              <a:t>•Write about the activity, even if ordinary, extraordinarily. </a:t>
            </a:r>
          </a:p>
        </p:txBody>
      </p:sp>
      <p:pic>
        <p:nvPicPr>
          <p:cNvPr id="148" name="144BDCA0-2A78-43DE-BB6E-07D974BADB59-L0-001.jpeg" descr="144BDCA0-2A78-43DE-BB6E-07D974BADB59-L0-0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93644" y="3631184"/>
            <a:ext cx="4757929" cy="3171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Audio Recording.m4a" descr="Audio Recording.m4a"/>
          <p:cNvPicPr>
            <a:picLocks noChangeAspect="0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blinds dir="ver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05669" fill="hold"/>
                                        <p:tgtEl>
                                          <p:spTgt spid="1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4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xfrm>
            <a:off x="2073655" y="267588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General tips for essay writing</a:t>
            </a:r>
          </a:p>
        </p:txBody>
      </p:sp>
      <p:sp>
        <p:nvSpPr>
          <p:cNvPr id="15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Practice- you’ve to start from somewhere</a:t>
            </a:r>
          </a:p>
          <a:p>
            <a:pPr/>
            <a:r>
              <a:t>Read viz. successful essays</a:t>
            </a:r>
          </a:p>
          <a:p>
            <a:pPr/>
            <a:r>
              <a:t>Research esp. college specific essays</a:t>
            </a:r>
          </a:p>
          <a:p>
            <a:pPr/>
            <a:r>
              <a:t>Grammarly</a:t>
            </a:r>
          </a:p>
          <a:p>
            <a:pPr/>
            <a:r>
              <a:t>Answer the question </a:t>
            </a:r>
          </a:p>
          <a:p>
            <a:pPr/>
            <a:r>
              <a:t>Get it done way before deadline ⌛️</a:t>
            </a:r>
          </a:p>
          <a:p>
            <a:pPr/>
            <a:r>
              <a:t>🚫 </a:t>
            </a:r>
            <a:r>
              <a:rPr>
                <a:solidFill>
                  <a:srgbClr val="E22400"/>
                </a:solidFill>
              </a:rPr>
              <a:t>DON’T PLAGIARIZE</a:t>
            </a:r>
            <a:r>
              <a:t> ❌</a:t>
            </a:r>
          </a:p>
          <a:p>
            <a:pPr>
              <a:defRPr>
                <a:blipFill rotWithShape="1">
                  <a:blip r:embed="rId2"/>
                  <a:srcRect l="0" t="0" r="0" b="0"/>
                  <a:tile tx="0" ty="0" sx="100000" sy="100000" flip="none" algn="tl"/>
                </a:blipFill>
              </a:defRPr>
            </a:pPr>
            <a:r>
              <a:t>Relax! You can ace it!</a:t>
            </a:r>
          </a:p>
        </p:txBody>
      </p:sp>
      <p:pic>
        <p:nvPicPr>
          <p:cNvPr id="153" name="60D09CCE-AC07-42DB-9296-308DF5801313-L0-001.jpeg" descr="60D09CCE-AC07-42DB-9296-308DF5801313-L0-00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0018" y="217178"/>
            <a:ext cx="1120731" cy="14263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8963B58B-DD87-4907-9B2F-125E2DA21513-L0-001.jpeg" descr="8963B58B-DD87-4907-9B2F-125E2DA21513-L0-001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99514" y="1209827"/>
            <a:ext cx="4824077" cy="48240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Audio Recording.m4a" descr="Audio Recording.m4a"/>
          <p:cNvPicPr>
            <a:picLocks noChangeAspect="0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460678" fill="hold"/>
                                        <p:tgtEl>
                                          <p:spTgt spid="1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5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When the admissions find out you plagiarized..."/>
          <p:cNvSpPr txBox="1"/>
          <p:nvPr>
            <p:ph type="title"/>
          </p:nvPr>
        </p:nvSpPr>
        <p:spPr>
          <a:xfrm>
            <a:off x="839786" y="457200"/>
            <a:ext cx="9907932" cy="1289541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Bahnschrift"/>
                <a:ea typeface="Bahnschrift"/>
                <a:cs typeface="Bahnschrift"/>
                <a:sym typeface="Bahnschrift"/>
              </a:defRPr>
            </a:pPr>
            <a:r>
              <a:t>When the admissions</a:t>
            </a:r>
            <a:r>
              <a:t> officer</a:t>
            </a:r>
            <a:r>
              <a:t> find</a:t>
            </a:r>
            <a:r>
              <a:t>s</a:t>
            </a:r>
            <a:r>
              <a:t> out you plagiarized</a:t>
            </a:r>
            <a:r>
              <a:t> your essays</a:t>
            </a:r>
            <a:r>
              <a:t>...</a:t>
            </a:r>
          </a:p>
        </p:txBody>
      </p:sp>
      <p:pic>
        <p:nvPicPr>
          <p:cNvPr id="158" name="EB07F7FF-6041-480C-B007-CA142519110F-L0-001.jpeg" descr="EB07F7FF-6041-480C-B007-CA142519110F-L0-001.jpeg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6045" t="32359" r="0" b="23224"/>
          <a:stretch>
            <a:fillRect/>
          </a:stretch>
        </p:blipFill>
        <p:spPr>
          <a:xfrm>
            <a:off x="824483" y="2012370"/>
            <a:ext cx="10505607" cy="4627581"/>
          </a:xfrm>
          <a:prstGeom prst="rect">
            <a:avLst/>
          </a:prstGeom>
        </p:spPr>
      </p:pic>
      <p:sp>
        <p:nvSpPr>
          <p:cNvPr id="159" name="Double-tap to edit"/>
          <p:cNvSpPr txBox="1"/>
          <p:nvPr>
            <p:ph type="body" sz="quarter" idx="1"/>
          </p:nvPr>
        </p:nvSpPr>
        <p:spPr>
          <a:xfrm>
            <a:off x="839787" y="2562731"/>
            <a:ext cx="3932240" cy="381159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0" name="Audio Recording.m4a" descr="Audio Recording.m4a"/>
          <p:cNvPicPr>
            <a:picLocks noChangeAspect="0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6096000" y="3429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738332" fill="hold"/>
                                        <p:tgtEl>
                                          <p:spTgt spid="1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6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  <a:reflection blurRad="0" stA="50000" stPos="0" endA="0" endPos="40000" dist="0" dir="5400000" fadeDir="5400000" sx="100000" sy="-100000" kx="0" ky="0" algn="bl" rotWithShape="0"/>
          </a:effectLst>
        </p:spPr>
        <p:txBody>
          <a:bodyPr/>
          <a:lstStyle/>
          <a:p>
            <a:pPr defTabSz="868680">
              <a:defRPr b="1" sz="4180">
                <a:blipFill rotWithShape="1">
                  <a:blip r:embed="rId2"/>
                  <a:srcRect l="0" t="0" r="0" b="0"/>
                  <a:tile tx="0" ty="0" sx="100000" sy="100000" flip="none" algn="tl"/>
                </a:blipFill>
                <a:latin typeface="+mn-lt"/>
                <a:ea typeface="+mn-ea"/>
                <a:cs typeface="+mn-cs"/>
                <a:sym typeface="Helvetica"/>
              </a:defRPr>
            </a:pPr>
            <a:r>
              <a:t>Resources</a:t>
            </a:r>
            <a:r>
              <a:rPr b="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 </a:t>
            </a:r>
            <a:br>
              <a:rPr b="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YouTube</a:t>
            </a:r>
          </a:p>
          <a:p>
            <a:pPr>
              <a:def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blog.prepscholar.com</a:t>
            </a:r>
            <a:r>
              <a:rPr u="none">
                <a:solidFill>
                  <a:srgbClr val="000000"/>
                </a:solidFill>
                <a:uFillTx/>
              </a:rPr>
              <a:t> </a:t>
            </a:r>
            <a:endParaRPr u="none">
              <a:solidFill>
                <a:srgbClr val="000000"/>
              </a:solidFill>
              <a:uFillTx/>
            </a:endParaRPr>
          </a:p>
          <a:p>
            <a:pPr>
              <a:def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https://apply.jhu.edu/application-process/essays-that-worked/</a:t>
            </a:r>
          </a:p>
          <a:p>
            <a:pPr/>
            <a:r>
              <a:t>The Princeton Review</a:t>
            </a:r>
          </a:p>
          <a:p>
            <a:pPr>
              <a:def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blog.collegevine.com</a:t>
            </a:r>
          </a:p>
        </p:txBody>
      </p:sp>
      <p:pic>
        <p:nvPicPr>
          <p:cNvPr id="164" name="D60C68CC-8B1F-4D93-AA1B-4FA6FC5A16FB-L0-001.jpeg" descr="D60C68CC-8B1F-4D93-AA1B-4FA6FC5A16FB-L0-001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304536" y="86944"/>
            <a:ext cx="2522168" cy="18819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Audio Recording.m4a" descr="Audio Recording.m4a"/>
          <p:cNvPicPr>
            <a:picLocks noChangeAspect="0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>
            <a:extLst/>
          </a:blip>
          <a:stretch>
            <a:fillRect/>
          </a:stretch>
        </p:blipFill>
        <p:spPr>
          <a:xfrm>
            <a:off x="6223000" y="3556000"/>
            <a:ext cx="571500" cy="57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advClick="1" p14:dur="1200">
        <p15:prstTrans prst="pageCurlDouble"/>
      </p:transition>
    </mc:Choice>
    <mc:Choice xmlns:p14="http://schemas.microsoft.com/office/powerpoint/2010/main" Requires="p14">
      <p:transition spd="slow" advClick="1" p14:dur="1200">
        <p14:prism dir="l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038321" fill="hold"/>
                                        <p:tgtEl>
                                          <p:spTgt spid="1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mute="0" showWhenStopped="0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6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Well, if you don’t listen to this,"/>
          <p:cNvSpPr txBox="1"/>
          <p:nvPr>
            <p:ph type="title"/>
          </p:nvPr>
        </p:nvSpPr>
        <p:spPr>
          <a:xfrm>
            <a:off x="839787" y="457198"/>
            <a:ext cx="9026588" cy="107618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andara"/>
                <a:ea typeface="Candara"/>
                <a:cs typeface="Candara"/>
                <a:sym typeface="Candara"/>
              </a:defRPr>
            </a:pPr>
            <a:r>
              <a:t>Well, if you </a:t>
            </a:r>
            <a:r>
              <a:t>refuse to</a:t>
            </a:r>
            <a:r>
              <a:t> </a:t>
            </a:r>
            <a:r>
              <a:t>take our advice…</a:t>
            </a:r>
          </a:p>
        </p:txBody>
      </p:sp>
      <p:sp>
        <p:nvSpPr>
          <p:cNvPr id="168" name="Double-tap to edi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9" name="C94787C0-4250-4B1A-8C95-F5A915069324-L0-001.jpeg" descr="C94787C0-4250-4B1A-8C95-F5A915069324-L0-0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1181" y="2054126"/>
            <a:ext cx="9225193" cy="46444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