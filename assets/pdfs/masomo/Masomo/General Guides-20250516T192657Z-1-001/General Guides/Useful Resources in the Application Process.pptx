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4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D1F68-D3BC-4B63-8883-66D538C204A8}" v="30" dt="2022-06-10T16:56:52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70" d="100"/>
          <a:sy n="70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ts val="32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D965B-87A4-4F43-BE02-800BCCDF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 anchor="ctr" anchorCtr="0"/>
          <a:lstStyle/>
          <a:p>
            <a:fld id="{403CB87E-4591-47A1-9046-CF63F17215EF}" type="datetime2">
              <a:rPr lang="en-US" smtClean="0"/>
              <a:t>Tuesday, June 14,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ED35B-CBF1-40D9-BAA7-CF9E1E22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7328" y="6217920"/>
            <a:ext cx="7196328" cy="640080"/>
          </a:xfrm>
        </p:spPr>
        <p:txBody>
          <a:bodyPr anchor="ctr" anchorCtr="0"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653A-450D-4BDE-8718-99F2D931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>
            <a:lvl1pPr algn="ctr">
              <a:defRPr/>
            </a:lvl1pPr>
          </a:lstStyle>
          <a:p>
            <a:fld id="{3A4F6043-7A67-491B-98BC-F933DED72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8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825625"/>
            <a:ext cx="10543031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1A7D4-E57E-4789-896B-B2A051BF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3DE70B-B772-416E-A790-995760B1742E}" type="datetime2">
              <a:rPr lang="en-US" smtClean="0"/>
              <a:t>Tuesday, June 14,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B63EE-3B35-4F8A-BDA3-E778BFE1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39EF2-7937-4C30-A883-7F7BD028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38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43032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43032" cy="1500187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4E2B4-314C-4D4F-8938-E437A2EF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0CDE-A6F1-4138-AF12-ED09E8E5FB6B}" type="datetime2">
              <a:rPr lang="en-US" smtClean="0"/>
              <a:t>Tuesday, June 14,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2F23-6986-4A36-97F0-13F305A2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BA1B9-2423-42BD-A553-DC5703F6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28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599176" cy="4206382"/>
          </a:xfrm>
        </p:spPr>
        <p:txBody>
          <a:bodyPr/>
          <a:lstStyle>
            <a:lvl1pPr marL="457200" indent="-457200">
              <a:buFont typeface="Wingdings 2" panose="05020102010507070707" pitchFamily="18" charset="2"/>
              <a:buChar char="¬"/>
              <a:defRPr/>
            </a:lvl1pPr>
            <a:lvl2pPr marL="800100" indent="-342900">
              <a:buFont typeface="Wingdings 2" panose="05020102010507070707" pitchFamily="18" charset="2"/>
              <a:buChar char="¬"/>
              <a:defRPr/>
            </a:lvl2pPr>
            <a:lvl3pPr marL="1257300" indent="-342900">
              <a:buFont typeface="Wingdings 2" panose="05020102010507070707" pitchFamily="18" charset="2"/>
              <a:buChar char="¬"/>
              <a:defRPr/>
            </a:lvl3pPr>
            <a:lvl4pPr marL="1657350" indent="-285750">
              <a:buFont typeface="Wingdings 2" panose="05020102010507070707" pitchFamily="18" charset="2"/>
              <a:buChar char="¬"/>
              <a:defRPr/>
            </a:lvl4pPr>
            <a:lvl5pPr marL="2114550" indent="-28575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79145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A1B49-6AAA-4DA7-970F-B75899F1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F8B1-DB7B-4D28-A97D-40FB2DD1EF78}" type="datetime2">
              <a:rPr lang="en-US" smtClean="0"/>
              <a:t>Tuesday, June 14,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3649A-B9A2-4737-B47E-758DC140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C1407-C705-451C-878E-8175DCCD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88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681163"/>
            <a:ext cx="554969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624" y="2505075"/>
            <a:ext cx="554969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70321" y="1681163"/>
            <a:ext cx="4993335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70321" y="2505075"/>
            <a:ext cx="4993335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298F3-0AEC-4811-99A4-B78AE3A7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14039161-23B8-4738-9069-73EBE8884FDD}" type="datetime2">
              <a:rPr lang="en-US" smtClean="0"/>
              <a:t>Tuesday, June 14, 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690B4-8A9A-4717-8B0B-2C921292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8F00A-44BE-4E0A-B1CE-1FC48965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44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43032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3A871-5A76-4349-99F0-C46C7738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4D44-7693-499F-AC6C-11696134FE3F}" type="datetime2">
              <a:rPr lang="en-US" smtClean="0"/>
              <a:t>Tuesday, June 14, 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2E803-8BD9-40A2-8389-C19DA114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414ED-B772-4B84-813E-E34C9A9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46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62BDD-CBFF-4046-A6B2-A9ECCB7E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F2AE-472C-4EF3-ABB2-24BAA9AE3CF7}" type="datetime2">
              <a:rPr lang="en-US" smtClean="0"/>
              <a:t>Tuesday, June 14, 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0B5F6-6C28-4A86-AFD0-D7F93D46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10D5C-1634-451B-8D99-4D47EB3A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9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43032" cy="1600200"/>
          </a:xfrm>
        </p:spPr>
        <p:txBody>
          <a:bodyPr anchor="b">
            <a:no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199340"/>
            <a:ext cx="5780468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4813E-250B-4422-AE46-5E1AB964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EAEA162C-A7C1-4263-9453-1BAFF8C39559}" type="datetime2">
              <a:rPr lang="en-US" smtClean="0"/>
              <a:t>Tuesday, June 14,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B5B81-E9CC-45F3-8EF1-35D2C8FF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A7E97-5A73-4602-9582-6CDACB91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8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4489180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4489180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F6305-9768-4792-866C-91238D45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624" y="6217920"/>
            <a:ext cx="2743200" cy="640080"/>
          </a:xfrm>
        </p:spPr>
        <p:txBody>
          <a:bodyPr/>
          <a:lstStyle/>
          <a:p>
            <a:fld id="{64DF6793-3458-4587-8168-65F0C37A92D2}" type="datetime2">
              <a:rPr lang="en-US" smtClean="0"/>
              <a:t>Tuesday, June 14,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BF050-0FF1-499F-936E-FAAE50DC3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02C2E-1542-46B4-85B1-7A4B3F77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6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B8191-8A0C-4077-9A2D-0255BF81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17F0E-8070-4DFE-A821-9A699EDBAD7E}" type="datetime2">
              <a:rPr lang="en-US" smtClean="0"/>
              <a:t>Tuesday, June 14,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41B40-57AC-45F3-9AAC-DC2BEBB1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D65F4-29FA-451A-878F-768E426A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9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141D6-1E1A-4A54-A9B4-57F86865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34AE-C7BF-46E5-A968-01C6641F6476}" type="datetime2">
              <a:rPr lang="en-US" smtClean="0"/>
              <a:t>Tuesday, June 14,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41D6-4702-4421-AEB2-D6CA3AAD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C9F43-CD60-4C38-94C9-0E6D3B72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1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86836B-C327-49CB-ADF2-2E730C4A91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10F61-136C-42B3-981B-FDE3DD0A8135}"/>
              </a:ext>
            </a:extLst>
          </p:cNvPr>
          <p:cNvSpPr/>
          <p:nvPr/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430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8352ED3-3C46-4C9A-9738-67B2D875E7E2}" type="datetime2">
              <a:rPr lang="en-US" smtClean="0"/>
              <a:pPr/>
              <a:t>Tuesday, June 14, 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2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hanacademy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collegeboard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pply.commonapp.org/logi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reddit.com/r/ApplyingToColleg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llege-admissions.quora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dmissions.yale.edu/podcas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youvisit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testglider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nglishtest.duolingo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education.govmu.org/Pages/Mauritius-Africa-Scholarships-2020.aspx" TargetMode="External"/><Relationship Id="rId7" Type="http://schemas.openxmlformats.org/officeDocument/2006/relationships/hyperlink" Target="https://studyinitaly.esteri.it/en/call-for-procedure" TargetMode="External"/><Relationship Id="rId2" Type="http://schemas.openxmlformats.org/officeDocument/2006/relationships/hyperlink" Target="https://stipendiumhungaricum.hu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inedu.sk/scholarships-of-the-government-of-the-slovak-republic/" TargetMode="External"/><Relationship Id="rId5" Type="http://schemas.openxmlformats.org/officeDocument/2006/relationships/hyperlink" Target="https://studyinrussia.ru/en/study-in-russia/scholarships/" TargetMode="External"/><Relationship Id="rId4" Type="http://schemas.openxmlformats.org/officeDocument/2006/relationships/hyperlink" Target="https://www.studyinkorea.go.kr/en/sub/gks/allnew_invite.do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TGuTEQCsZY&amp;list=PL0o_zxa4K1BWLRgHW2i8diQ359U5FbKnI" TargetMode="External"/><Relationship Id="rId2" Type="http://schemas.openxmlformats.org/officeDocument/2006/relationships/hyperlink" Target="https://www.cracksat.net/index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llegeessay.org/blog/college-application-essay-examples" TargetMode="External"/><Relationship Id="rId2" Type="http://schemas.openxmlformats.org/officeDocument/2006/relationships/hyperlink" Target="https://www.collegeessayguy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llegevine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oJGerrhT8M" TargetMode="External"/><Relationship Id="rId2" Type="http://schemas.openxmlformats.org/officeDocument/2006/relationships/hyperlink" Target="https://www.youtube.com/watch?v=8WeJwBCq5Q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NW8Yxy9abMY" TargetMode="External"/><Relationship Id="rId5" Type="http://schemas.openxmlformats.org/officeDocument/2006/relationships/hyperlink" Target="https://www.youtube.com/watch?v=mfrxARf5hXo" TargetMode="External"/><Relationship Id="rId4" Type="http://schemas.openxmlformats.org/officeDocument/2006/relationships/hyperlink" Target="https://www.youtube.com/watch?v=mhR-c2vAIp0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8">
            <a:extLst>
              <a:ext uri="{FF2B5EF4-FFF2-40B4-BE49-F238E27FC236}">
                <a16:creationId xmlns:a16="http://schemas.microsoft.com/office/drawing/2014/main" id="{75955B3A-C08D-43E6-ABEF-A4F616FB6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C719694A-8B4E-4127-9C08-9B8F39B6F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52D36E6B-D7EF-409B-B48D-1628C06EE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D6BE4-2D8D-B893-4FE8-A88E87DB9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899" y="3854831"/>
            <a:ext cx="5278995" cy="2156581"/>
          </a:xfrm>
        </p:spPr>
        <p:txBody>
          <a:bodyPr anchor="t">
            <a:normAutofit/>
          </a:bodyPr>
          <a:lstStyle/>
          <a:p>
            <a:pPr algn="l"/>
            <a:r>
              <a:rPr lang="en-US" sz="4800" cap="none" dirty="0"/>
              <a:t>Useful Resources </a:t>
            </a:r>
            <a:r>
              <a:rPr lang="en-US" sz="4800" dirty="0"/>
              <a:t>in The </a:t>
            </a:r>
            <a:r>
              <a:rPr lang="en-US" sz="4800" cap="none" dirty="0"/>
              <a:t>Application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F8630-FE69-E936-3090-9E23364D7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182" y="3854830"/>
            <a:ext cx="4700133" cy="2156579"/>
          </a:xfrm>
        </p:spPr>
        <p:txBody>
          <a:bodyPr anchor="t">
            <a:normAutofit/>
          </a:bodyPr>
          <a:lstStyle/>
          <a:p>
            <a:pPr algn="l"/>
            <a:r>
              <a:rPr lang="en-US" sz="2200" cap="none"/>
              <a:t>Jadis Azade Aganda- Ashesi University, Ghana</a:t>
            </a: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816D2053-BB10-4615-A38D-86EEC0D8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422144" cy="3599020"/>
          </a:xfrm>
          <a:prstGeom prst="rect">
            <a:avLst/>
          </a:prstGeom>
          <a:solidFill>
            <a:srgbClr val="E9EC70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4" name="Picture 3">
            <a:extLst>
              <a:ext uri="{FF2B5EF4-FFF2-40B4-BE49-F238E27FC236}">
                <a16:creationId xmlns:a16="http://schemas.microsoft.com/office/drawing/2014/main" id="{750D9FCB-597F-7E64-5911-BCA6A83B89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597" r="-1" b="23858"/>
          <a:stretch/>
        </p:blipFill>
        <p:spPr>
          <a:xfrm>
            <a:off x="422145" y="10"/>
            <a:ext cx="11082529" cy="3599011"/>
          </a:xfrm>
          <a:prstGeom prst="rect">
            <a:avLst/>
          </a:prstGeom>
        </p:spPr>
      </p:pic>
      <p:cxnSp>
        <p:nvCxnSpPr>
          <p:cNvPr id="35" name="Straight Connector 16">
            <a:extLst>
              <a:ext uri="{FF2B5EF4-FFF2-40B4-BE49-F238E27FC236}">
                <a16:creationId xmlns:a16="http://schemas.microsoft.com/office/drawing/2014/main" id="{CF2CC60F-C99A-48C5-856F-3C79856E9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E9EC7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18">
            <a:extLst>
              <a:ext uri="{FF2B5EF4-FFF2-40B4-BE49-F238E27FC236}">
                <a16:creationId xmlns:a16="http://schemas.microsoft.com/office/drawing/2014/main" id="{D8A2ED1C-4B10-41E7-9BF6-7447B99B9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E9EC7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04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49E2-935F-52C7-8976-870BA5201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642" y="0"/>
            <a:ext cx="10543032" cy="1325563"/>
          </a:xfrm>
        </p:spPr>
        <p:txBody>
          <a:bodyPr>
            <a:normAutofit/>
          </a:bodyPr>
          <a:lstStyle/>
          <a:p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Content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EB13C-BC45-7758-B310-1693D66FF9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Khan Academy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College Board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Common Application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Reddit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Quora-College Admissions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Inside the Yale Admissions Office</a:t>
            </a:r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287F0-3F2D-8C4E-E828-F4ABEA90BF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You Visit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TOEFL and IELTS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Duolingo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Financial aid resources-Government 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Additional Resources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7678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F79A-1ED7-C1A8-8EBA-CD95AA59C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Khan Academy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6DC2A-8876-0484-45D9-CEC2CC16D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Non-profit educational organization.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Provides online learning tools that make learning easier and more interesting.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Consists of various academic content, including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Maths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Chemistry, Physics, Programming etc.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content may be accessed on YouTube or their platform.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platform is better as one can track their progress and more interactive.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Khan Academy partners with College Board to offer official SAT practice tests.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https://www.khanacademy.org/</a:t>
            </a: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9F732BBD-1234-9B92-0B3F-856A66616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509" y="0"/>
            <a:ext cx="1953491" cy="195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4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F172-42BC-C74F-C941-FF9232EA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College 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FFE4-E5C9-BC2D-1541-3EBDBECD3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430215"/>
            <a:ext cx="10543031" cy="5076093"/>
          </a:xfrm>
        </p:spPr>
        <p:txBody>
          <a:bodyPr>
            <a:normAutofit fontScale="85000" lnSpcReduction="20000"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American organization formed in 1899 as a College Entrance Examination Board.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Register for SAT and receive test scores.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 information on SAT registration deadlines and testing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centres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Send SAT scores to schools.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 college list.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Complete the College Scholarship Service Profile.(CSS Profile)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CSS Profile is an online platform used to collect financial aid related information of applicants.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information is used in awarding scholarships to deserving applicants.</a:t>
            </a:r>
            <a:endParaRPr lang="en-US" b="0" dirty="0">
              <a:effectLst/>
            </a:endParaRPr>
          </a:p>
          <a:p>
            <a:r>
              <a:rPr lang="en-US" sz="2400" b="1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https://www.collegeboard.org/</a:t>
            </a: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E17BA7A-7348-9909-0AFF-7EAA770D4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532" y="0"/>
            <a:ext cx="2364468" cy="14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3C19-CB56-A114-4347-6F042008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Common Application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95158-017B-6384-4972-D131F363C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652955"/>
            <a:ext cx="10543031" cy="4379054"/>
          </a:xfrm>
        </p:spPr>
        <p:txBody>
          <a:bodyPr>
            <a:normAutofit fontScale="92500"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 is an admission application that students use to submit applications to universities.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universities have to be members of the Common App for you to submit the application to them through this application.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platform allows you to apply to more than one university at once.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Allows access to application requirements, virtual tours, student life, and available academic programs.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There’s a common application version for recommenders and counsellors. 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submit recommendations to your school through this app if the school requires so.</a:t>
            </a:r>
            <a:endParaRPr lang="en-US" b="0" dirty="0">
              <a:effectLst/>
            </a:endParaRPr>
          </a:p>
          <a:p>
            <a:r>
              <a:rPr lang="en-US" sz="24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https://apply.commonapp.org/login</a:t>
            </a:r>
            <a:br>
              <a:rPr lang="en-US" b="0" dirty="0">
                <a:effectLst/>
              </a:rPr>
            </a:br>
            <a:endParaRPr lang="en-US" dirty="0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23BE8040-B4DB-62C2-AE17-044B72459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400" y="0"/>
            <a:ext cx="2641600" cy="155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0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F24EA-0D48-265D-EA19-905CA8DC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Reddit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BB8D-5D6F-0C64-3475-FCD39CE59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Platform for college admission questions, advice and discussions.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Content on SAT/ ACT, essays, college life, the application process etc.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Filtered content hence ensuring relevance to you.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1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https://www.reddit.com/r/ApplyingToCollege/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DDE5386-56C4-565C-C35B-741915D04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258" y="0"/>
            <a:ext cx="2278742" cy="159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65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D24E-0759-08D1-E16A-0101C94F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Quora-College Admissions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2713F-F686-748C-C1B3-F93296568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Everything concerning college admissions. 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Admins who manage submissions and content and can add content.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Relevant questions and answers about the application process.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answers are provided by College admission officers, Recruiting officers…</a:t>
            </a:r>
            <a:endParaRPr lang="en-US" b="0" dirty="0">
              <a:effectLst/>
            </a:endParaRPr>
          </a:p>
          <a:p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https://college-admissions.quora.com/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3D3B90A-1908-514E-467F-5AC23F47F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491" y="0"/>
            <a:ext cx="2618508" cy="94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89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F4B3-F7A2-D1F9-F2C5-93BEA0611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79" y="254289"/>
            <a:ext cx="10543032" cy="992620"/>
          </a:xfrm>
        </p:spPr>
        <p:txBody>
          <a:bodyPr>
            <a:normAutofit/>
          </a:bodyPr>
          <a:lstStyle/>
          <a:p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Inside the Yale Admissions Office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B3D36-60FD-D8E2-EB8D-837E5FDBB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509487"/>
            <a:ext cx="10543031" cy="4522522"/>
          </a:xfrm>
        </p:spPr>
        <p:txBody>
          <a:bodyPr>
            <a:norm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Contains information on the Yale application process and what happens inside the admissions office.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Guidelines on the essays that work.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Choosing where to apply.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Preparing for interviews. 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recommendations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common app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tours…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"/>
              </a:rPr>
              <a:t>https://admissions.yale.edu/podcast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2E8B825B-2C17-F045-C8FB-83399593F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571" y="0"/>
            <a:ext cx="1959429" cy="13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79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A5C1-BE0F-6AC6-23B2-0D6E1E9E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88" y="0"/>
            <a:ext cx="10543032" cy="926646"/>
          </a:xfrm>
        </p:spPr>
        <p:txBody>
          <a:bodyPr/>
          <a:lstStyle/>
          <a:p>
            <a:r>
              <a:rPr lang="en-US" dirty="0"/>
              <a:t>You Visit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67754-6DE9-F090-C6EE-4A507CA15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virtual school tours site.</a:t>
            </a:r>
          </a:p>
          <a:p>
            <a:r>
              <a:rPr lang="en-US" dirty="0"/>
              <a:t>Contains maps of schools and videos of tours.</a:t>
            </a:r>
          </a:p>
          <a:p>
            <a:r>
              <a:rPr lang="en-US" dirty="0"/>
              <a:t>Information on application and deadlines.</a:t>
            </a:r>
          </a:p>
          <a:p>
            <a:r>
              <a:rPr lang="en-US" dirty="0"/>
              <a:t>Helps make informed decisions.</a:t>
            </a:r>
          </a:p>
          <a:p>
            <a:r>
              <a:rPr lang="en-US" dirty="0">
                <a:hlinkClick r:id="rId2"/>
              </a:rPr>
              <a:t>https://www.youvisit.com/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39137DD-CF42-A33A-E230-5C3497045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570" y="0"/>
            <a:ext cx="3483429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58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BF2D-FFF4-4F90-5883-3EE421C0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52" y="0"/>
            <a:ext cx="10543032" cy="826366"/>
          </a:xfrm>
        </p:spPr>
        <p:txBody>
          <a:bodyPr>
            <a:normAutofit/>
          </a:bodyPr>
          <a:lstStyle/>
          <a:p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TOEFL and IELTS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53D2C-EF1E-078F-2A8E-0212AAA84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39" y="1448790"/>
            <a:ext cx="10543031" cy="4757390"/>
          </a:xfrm>
        </p:spPr>
        <p:txBody>
          <a:bodyPr>
            <a:norm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TOEFL- Test of English as a Foreign Language.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IELTS-International English Language Testing System.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Questions, answers and explanations.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Pop up quizzes with 1 question at a time, 20 free pop-up quizzes.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Section quizzes, 4 free section quizzes.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full test, one free full test.</a:t>
            </a:r>
            <a:endParaRPr lang="en-US" b="0" dirty="0">
              <a:effectLst/>
            </a:endParaRPr>
          </a:p>
          <a:p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https://www.testglider.com/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16D37B08-B492-B337-7B4F-3C8F55941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886" y="1"/>
            <a:ext cx="2148114" cy="13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87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83A2-FC41-89D0-DCB3-262111F3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97" y="0"/>
            <a:ext cx="10543032" cy="784802"/>
          </a:xfrm>
        </p:spPr>
        <p:txBody>
          <a:bodyPr>
            <a:normAutofit/>
          </a:bodyPr>
          <a:lstStyle/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Duolingo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F89D1-F8A1-FEA4-826D-8F6B1E007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061" y="1229879"/>
            <a:ext cx="10543031" cy="4206383"/>
          </a:xfrm>
        </p:spPr>
        <p:txBody>
          <a:bodyPr>
            <a:normAutofit lnSpcReduction="10000"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 American company that produces language learning applications.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Also provides language certification.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Offers a free practice test.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Find a list of schools that accept the Duolingo tests.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Test requirements and guidelines.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b="0" dirty="0">
                <a:solidFill>
                  <a:schemeClr val="bg2">
                    <a:lumMod val="10000"/>
                  </a:schemeClr>
                </a:solidFill>
                <a:effectLst/>
              </a:rPr>
              <a:t>Free Duolingo apps in play/apple stores</a:t>
            </a:r>
          </a:p>
          <a:p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https://englishtest.duolingo.com/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green frog with orange eyes&#10;&#10;Description automatically generated with low confidence">
            <a:extLst>
              <a:ext uri="{FF2B5EF4-FFF2-40B4-BE49-F238E27FC236}">
                <a16:creationId xmlns:a16="http://schemas.microsoft.com/office/drawing/2014/main" id="{55A19EE9-EF95-DD4D-1E32-99BD41428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9028" y="0"/>
            <a:ext cx="2002971" cy="150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49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EDC8F-FDB2-975B-FF3D-5C7A793E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43032" cy="984704"/>
          </a:xfrm>
        </p:spPr>
        <p:txBody>
          <a:bodyPr>
            <a:normAutofit/>
          </a:bodyPr>
          <a:lstStyle/>
          <a:p>
            <a:r>
              <a:rPr lang="en-US" sz="3200" b="1" dirty="0"/>
              <a:t>Financial Aid- Government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05A5B-4073-7D56-2F19-46CAC10CC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330037"/>
            <a:ext cx="11466575" cy="5043054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Most scholarship applications will be done alongside the college applications.</a:t>
            </a:r>
          </a:p>
          <a:p>
            <a:r>
              <a:rPr lang="en-US" sz="9600" dirty="0"/>
              <a:t>Other source of financial aid is government scholarships.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sv-SE" sz="9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Hungary Scholarships</a:t>
            </a:r>
            <a:r>
              <a:rPr lang="sv-SE" sz="9600" dirty="0"/>
              <a:t>-</a:t>
            </a:r>
            <a:r>
              <a:rPr lang="sv-SE" sz="96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"/>
              </a:rPr>
              <a:t>https://stipendiumhungaricum.hu/</a:t>
            </a:r>
            <a:endParaRPr lang="sv-SE" sz="96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9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Mauritius</a:t>
            </a:r>
            <a:r>
              <a:rPr lang="en-US" sz="9600" dirty="0"/>
              <a:t>-</a:t>
            </a:r>
            <a:r>
              <a:rPr lang="en-US" sz="96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3"/>
              </a:rPr>
              <a:t>https://education.govmu.org/Pages/Mauritius-Africa-Scholarships-2020.aspx</a:t>
            </a:r>
            <a:endParaRPr lang="en-US" sz="9600" b="0" i="0" u="sng" strike="noStrike" dirty="0">
              <a:solidFill>
                <a:srgbClr val="1155CC"/>
              </a:solidFill>
              <a:effectLst/>
              <a:latin typeface="Times New Roman" panose="02020603050405020304" pitchFamily="18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9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Korea- </a:t>
            </a:r>
            <a:r>
              <a:rPr lang="en-US" sz="96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4"/>
              </a:rPr>
              <a:t>https://www.studyinkorea.go.kr/en/sub/gks/allnew_invite.do</a:t>
            </a:r>
            <a:endParaRPr lang="en-US" sz="96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9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Russia- </a:t>
            </a:r>
            <a:r>
              <a:rPr lang="en-US" sz="96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5"/>
              </a:rPr>
              <a:t>https://studyinrussia.ru/en/study-in-russia/scholarships/</a:t>
            </a:r>
            <a:endParaRPr lang="en-US" sz="96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9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Slovak- </a:t>
            </a:r>
            <a:r>
              <a:rPr lang="en-US" sz="96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6"/>
              </a:rPr>
              <a:t>https://www.minedu.sk/scholarships-of-the-government-of-the-slovak-republic/</a:t>
            </a:r>
            <a:endParaRPr lang="en-US" sz="96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9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Italy-</a:t>
            </a:r>
            <a:r>
              <a:rPr lang="en-US" sz="96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7"/>
              </a:rPr>
              <a:t>https://studyinitaly.esteri.it/en/call-for-procedure</a:t>
            </a:r>
            <a:endParaRPr lang="en-US" sz="9600" i="0" u="sng" strike="noStrike" dirty="0">
              <a:solidFill>
                <a:srgbClr val="1155CC"/>
              </a:solidFill>
              <a:latin typeface="Times New Roman" panose="02020603050405020304" pitchFamily="18" charset="0"/>
            </a:endParaRPr>
          </a:p>
          <a:p>
            <a:pPr marL="0" indent="0" rtl="0">
              <a:spcBef>
                <a:spcPts val="1200"/>
              </a:spcBef>
              <a:spcAft>
                <a:spcPts val="1200"/>
              </a:spcAft>
              <a:buNone/>
            </a:pPr>
            <a:br>
              <a:rPr lang="en-US" sz="9600" dirty="0"/>
            </a:br>
            <a:r>
              <a:rPr lang="en-US" sz="9600" dirty="0"/>
              <a:t>And many more…</a:t>
            </a:r>
            <a:br>
              <a:rPr lang="en-US" sz="9600" dirty="0"/>
            </a:br>
            <a:br>
              <a:rPr lang="en-US" sz="9600" dirty="0"/>
            </a:br>
            <a:br>
              <a:rPr lang="en-US" sz="14400" dirty="0"/>
            </a:br>
            <a:br>
              <a:rPr lang="en-US" dirty="0"/>
            </a:b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br>
              <a:rPr lang="sv-SE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CA8BC5F-1C51-10ED-2BA8-AEF40ECDF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0171" y="1"/>
            <a:ext cx="3381829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34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931D-1720-CBD1-9CD8-C02AF771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SAT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BD8C8-A57C-3F8A-13E2-DD962CD18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Books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b="0" i="0" u="none" strike="noStrike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Barron's "SAT Study Guide KALLIS' SAT Pattern Strategy, 3rd Edition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b="0" i="0" u="none" strike="noStrike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Kaplan's "SAT Prep Plus 2022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b="0" i="0" u="none" strike="noStrike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McGraw Hill Education's SAT Elite 2022...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b="0" i="0" u="none" strike="noStrike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SAT Prep Black Book, 2nd Edition</a:t>
            </a:r>
          </a:p>
          <a:p>
            <a:pPr rtl="0" fontAlgn="base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1800" b="0" i="0" u="none" strike="noStrike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Princeton Review's SAT Premium Prep, 2022</a:t>
            </a:r>
          </a:p>
          <a:p>
            <a:pPr rtl="0" fontAlgn="base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endParaRPr lang="en-US" sz="18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marL="0" indent="0" rtl="0" fontAlgn="base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u="none" strike="noStrike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Links</a:t>
            </a:r>
          </a:p>
          <a:p>
            <a:pPr marL="0" indent="0" rtl="0" fontAlgn="base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Cracksat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"/>
              </a:rPr>
              <a:t>https://www.cracksat.net/index.html</a:t>
            </a:r>
            <a:endParaRPr lang="en-US" sz="1800" b="0" i="0" u="sng" strike="noStrike" dirty="0">
              <a:solidFill>
                <a:srgbClr val="1155CC"/>
              </a:solidFill>
              <a:effectLst/>
              <a:latin typeface="Times New Roman" panose="02020603050405020304" pitchFamily="18" charset="0"/>
            </a:endParaRPr>
          </a:p>
          <a:p>
            <a:pPr marL="0" indent="0" rtl="0" fontAlgn="base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Organic Chemistry Tutor</a:t>
            </a:r>
            <a:r>
              <a:rPr lang="en-US" sz="1800" u="sng" dirty="0">
                <a:solidFill>
                  <a:srgbClr val="1155CC"/>
                </a:solidFill>
                <a:latin typeface="Times New Roman" panose="02020603050405020304" pitchFamily="18" charset="0"/>
              </a:rPr>
              <a:t>-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3"/>
              </a:rPr>
              <a:t>https://www.youtube.com/watch?v=fTGuTEQCsZY&amp;list=PL0o_zxa4K1BWLRgHW2i8diQ359U5FbKnI</a:t>
            </a:r>
            <a:endParaRPr lang="en-US" sz="1800" i="0" u="none" strike="noStrike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5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B870-6714-251A-D830-7AA58A2F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33" y="0"/>
            <a:ext cx="10543032" cy="992620"/>
          </a:xfrm>
        </p:spPr>
        <p:txBody>
          <a:bodyPr/>
          <a:lstStyle/>
          <a:p>
            <a:r>
              <a:rPr lang="en-US" dirty="0"/>
              <a:t>More on Essays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A7D35-0D42-37F2-229A-F9CE39C05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206" y="1219201"/>
            <a:ext cx="10543031" cy="5403272"/>
          </a:xfrm>
        </p:spPr>
        <p:txBody>
          <a:bodyPr>
            <a:norm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Information on essay writing.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School-specific essay examples and reviews on the essays 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https://www.collegeessayguy.com/</a:t>
            </a:r>
            <a:endParaRPr lang="en-US" sz="1800" b="0" i="0" u="sng" strike="noStrike" dirty="0">
              <a:solidFill>
                <a:srgbClr val="1155CC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3"/>
              </a:rPr>
              <a:t>https://www.collegeessay.org/blog/college-application-essay-examples</a:t>
            </a:r>
            <a:endParaRPr lang="en-US" sz="1800" u="sng" dirty="0">
              <a:solidFill>
                <a:srgbClr val="1155CC"/>
              </a:solidFill>
              <a:latin typeface="Arial" panose="020B0604020202020204" pitchFamily="34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4"/>
              </a:rPr>
              <a:t>https://www.collegevine.com/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0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6889E-E28D-0279-FB6F-1D6AC4EC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6"/>
            <a:ext cx="10344358" cy="715530"/>
          </a:xfrm>
        </p:spPr>
        <p:txBody>
          <a:bodyPr>
            <a:normAutofit/>
          </a:bodyPr>
          <a:lstStyle/>
          <a:p>
            <a:r>
              <a:rPr lang="en-US" sz="4400" dirty="0"/>
              <a:t>More on Common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EF95-8DED-890D-2441-C92AF10F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5" y="1399309"/>
            <a:ext cx="10543031" cy="4632699"/>
          </a:xfrm>
        </p:spPr>
        <p:txBody>
          <a:bodyPr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2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"/>
              </a:rPr>
              <a:t>https://www.youtube.com/watch?v=8WeJwBCq5QY</a:t>
            </a:r>
            <a:endParaRPr lang="en-US" sz="20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2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3"/>
              </a:rPr>
              <a:t>https://www.youtube.com/watch?v=hoJGerrhT8M</a:t>
            </a:r>
            <a:endParaRPr lang="en-US" sz="20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2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4"/>
              </a:rPr>
              <a:t>https://www.youtube.com/watch?v=mhR-c2vAIp0</a:t>
            </a:r>
            <a:endParaRPr lang="en-US" sz="20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2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5"/>
              </a:rPr>
              <a:t>https://www.youtube.com/watch?v=mfrxARf5hXo</a:t>
            </a:r>
            <a:endParaRPr lang="en-US" sz="2000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2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6"/>
              </a:rPr>
              <a:t>https://youtu.be/NW8Yxy9abMY</a:t>
            </a:r>
            <a:endParaRPr lang="en-US" sz="2000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317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35D9B3-B2C5-40E1-BFF9-E01D0DB42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8D0203-3A6C-FE90-917E-4DCA5D83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00" y="540167"/>
            <a:ext cx="4018471" cy="1404747"/>
          </a:xfrm>
        </p:spPr>
        <p:txBody>
          <a:bodyPr anchor="b">
            <a:normAutofit fontScale="90000"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Other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4C1A-14B0-19B5-0EB6-DB6B84C89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446" y="2395542"/>
            <a:ext cx="4028783" cy="3095445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Current students/ Mentors/College Counsellors</a:t>
            </a:r>
          </a:p>
          <a:p>
            <a:r>
              <a:rPr lang="en-US" sz="1800" dirty="0">
                <a:solidFill>
                  <a:schemeClr val="tx1"/>
                </a:solidFill>
              </a:rPr>
              <a:t>Social media platforms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Snapchat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YouTube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Instagram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Facebook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95061B-ADFC-4592-8BB1-0D542F6F6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042523" y="6081915"/>
            <a:ext cx="6460098" cy="781696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AB94AE4F-9CD9-266D-72EB-77CD9E4B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01" y="1489102"/>
            <a:ext cx="6460089" cy="4673776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67C3E3-D148-40AD-9F4C-431AA28A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FF0E6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30DD030-ACB5-4C2C-AD03-51D52E27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FF0E6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93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Gray Rectangle">
            <a:extLst>
              <a:ext uri="{FF2B5EF4-FFF2-40B4-BE49-F238E27FC236}">
                <a16:creationId xmlns:a16="http://schemas.microsoft.com/office/drawing/2014/main" id="{BFAEB124-5ACC-4FB9-80E1-0F26DC3C1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Background Gray Rectangle">
            <a:extLst>
              <a:ext uri="{FF2B5EF4-FFF2-40B4-BE49-F238E27FC236}">
                <a16:creationId xmlns:a16="http://schemas.microsoft.com/office/drawing/2014/main" id="{5E4B973A-8BBF-4048-AFEE-C6E3088C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White Rectangle">
            <a:extLst>
              <a:ext uri="{FF2B5EF4-FFF2-40B4-BE49-F238E27FC236}">
                <a16:creationId xmlns:a16="http://schemas.microsoft.com/office/drawing/2014/main" id="{F8B9E1F5-B063-4315-A954-F340478D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ext, whiteboard&#10;&#10;Description automatically generated">
            <a:extLst>
              <a:ext uri="{FF2B5EF4-FFF2-40B4-BE49-F238E27FC236}">
                <a16:creationId xmlns:a16="http://schemas.microsoft.com/office/drawing/2014/main" id="{AADD4204-E80D-4057-2FB5-45145745F9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7" r="493"/>
          <a:stretch/>
        </p:blipFill>
        <p:spPr>
          <a:xfrm>
            <a:off x="776939" y="691410"/>
            <a:ext cx="10716192" cy="6160980"/>
          </a:xfrm>
          <a:prstGeom prst="rect">
            <a:avLst/>
          </a:prstGeom>
        </p:spPr>
      </p:pic>
      <p:cxnSp>
        <p:nvCxnSpPr>
          <p:cNvPr id="14" name="Vertical Connector">
            <a:extLst>
              <a:ext uri="{FF2B5EF4-FFF2-40B4-BE49-F238E27FC236}">
                <a16:creationId xmlns:a16="http://schemas.microsoft.com/office/drawing/2014/main" id="{BC285879-A8BE-48EA-B72D-8D4135047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D0901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Horizontal Connector 2">
            <a:extLst>
              <a:ext uri="{FF2B5EF4-FFF2-40B4-BE49-F238E27FC236}">
                <a16:creationId xmlns:a16="http://schemas.microsoft.com/office/drawing/2014/main" id="{5D0002A5-5632-4B3D-9D26-3CDEACAF8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85800"/>
            <a:ext cx="12192000" cy="0"/>
          </a:xfrm>
          <a:prstGeom prst="line">
            <a:avLst/>
          </a:prstGeom>
          <a:ln w="9525" cap="rnd">
            <a:solidFill>
              <a:srgbClr val="D0901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573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51C3B6-A0D6-43F6-9F68-13666CDA5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EF3E42-675E-4E84-AA5A-E233060C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3B65B4-B443-446A-9981-E6E89B0B7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04562227-0E02-7272-0966-AA9ABCB5B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A9CD935-5B3A-44F4-9F19-CFFDBD2A8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0"/>
            <a:ext cx="12188952" cy="2780581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4A6C8-29BC-7052-5C0E-91E2DB583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501" y="298443"/>
            <a:ext cx="9916996" cy="132318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Q&amp;A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D6C387B-06BE-490B-A22D-8EA8A67AA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rgbClr val="FDE50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DCE841-D2A0-408E-8F2F-990D0105E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FDE50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067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Gallery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495</TotalTime>
  <Words>942</Words>
  <Application>Microsoft Office PowerPoint</Application>
  <PresentationFormat>Widescreen</PresentationFormat>
  <Paragraphs>129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Dante</vt:lpstr>
      <vt:lpstr>Dante (Headings)2</vt:lpstr>
      <vt:lpstr>Helvetica Neue Medium</vt:lpstr>
      <vt:lpstr>Times New Roman</vt:lpstr>
      <vt:lpstr>Wingdings</vt:lpstr>
      <vt:lpstr>Wingdings 2</vt:lpstr>
      <vt:lpstr>OffsetVTI</vt:lpstr>
      <vt:lpstr>Useful Resources in The Application Process</vt:lpstr>
      <vt:lpstr>Content</vt:lpstr>
      <vt:lpstr>Khan Academy</vt:lpstr>
      <vt:lpstr>The College Board</vt:lpstr>
      <vt:lpstr>The Common Application</vt:lpstr>
      <vt:lpstr>Reddit</vt:lpstr>
      <vt:lpstr>Quora-College Admissions</vt:lpstr>
      <vt:lpstr>Inside the Yale Admissions Office</vt:lpstr>
      <vt:lpstr>You Visit</vt:lpstr>
      <vt:lpstr>TOEFL and IELTS</vt:lpstr>
      <vt:lpstr>Duolingo</vt:lpstr>
      <vt:lpstr>Financial Aid- Government</vt:lpstr>
      <vt:lpstr>More on SAT</vt:lpstr>
      <vt:lpstr>More on Essays</vt:lpstr>
      <vt:lpstr>More on Common Application</vt:lpstr>
      <vt:lpstr>Other Resources</vt:lpstr>
      <vt:lpstr>PowerPoint Presentation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Manono Allan Nyaanga</cp:lastModifiedBy>
  <cp:revision>3</cp:revision>
  <dcterms:created xsi:type="dcterms:W3CDTF">2022-06-09T16:26:15Z</dcterms:created>
  <dcterms:modified xsi:type="dcterms:W3CDTF">2022-06-14T06:50:18Z</dcterms:modified>
</cp:coreProperties>
</file>