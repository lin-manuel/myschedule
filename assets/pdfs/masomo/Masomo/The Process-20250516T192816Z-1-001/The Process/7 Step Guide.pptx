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63" r:id="rId2"/>
    <p:sldId id="257" r:id="rId3"/>
    <p:sldId id="284" r:id="rId4"/>
    <p:sldId id="285" r:id="rId5"/>
    <p:sldId id="258" r:id="rId6"/>
    <p:sldId id="291" r:id="rId7"/>
    <p:sldId id="259" r:id="rId8"/>
    <p:sldId id="260" r:id="rId9"/>
    <p:sldId id="261" r:id="rId10"/>
    <p:sldId id="262" r:id="rId11"/>
    <p:sldId id="265" r:id="rId12"/>
    <p:sldId id="266" r:id="rId13"/>
    <p:sldId id="268" r:id="rId14"/>
    <p:sldId id="269" r:id="rId15"/>
    <p:sldId id="286" r:id="rId16"/>
    <p:sldId id="270" r:id="rId17"/>
    <p:sldId id="287" r:id="rId18"/>
    <p:sldId id="272" r:id="rId19"/>
    <p:sldId id="273" r:id="rId20"/>
    <p:sldId id="274" r:id="rId21"/>
    <p:sldId id="275" r:id="rId22"/>
    <p:sldId id="288" r:id="rId23"/>
    <p:sldId id="289" r:id="rId24"/>
    <p:sldId id="276" r:id="rId25"/>
    <p:sldId id="290" r:id="rId26"/>
    <p:sldId id="277" r:id="rId27"/>
    <p:sldId id="278" r:id="rId28"/>
    <p:sldId id="283" r:id="rId29"/>
    <p:sldId id="279" r:id="rId30"/>
    <p:sldId id="282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060" autoAdjust="0"/>
  </p:normalViewPr>
  <p:slideViewPr>
    <p:cSldViewPr>
      <p:cViewPr>
        <p:scale>
          <a:sx n="70" d="100"/>
          <a:sy n="70" d="100"/>
        </p:scale>
        <p:origin x="-1350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744C02D7-4091-4965-81EB-21194F3D5B91}" type="datetimeFigureOut">
              <a:rPr lang="en-US" smtClean="0"/>
              <a:t>6/7/2019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7FBCB903-0BA9-482D-87F5-A33A35E87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111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02D7-4091-4965-81EB-21194F3D5B91}" type="datetimeFigureOut">
              <a:rPr lang="en-US" smtClean="0"/>
              <a:t>6/7/2019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CB903-0BA9-482D-87F5-A33A35E87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5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744C02D7-4091-4965-81EB-21194F3D5B91}" type="datetimeFigureOut">
              <a:rPr lang="en-US" smtClean="0"/>
              <a:t>6/7/2019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7FBCB903-0BA9-482D-87F5-A33A35E87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366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02D7-4091-4965-81EB-21194F3D5B91}" type="datetimeFigureOut">
              <a:rPr lang="en-US" smtClean="0"/>
              <a:t>6/7/2019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CB903-0BA9-482D-87F5-A33A35E87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874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02D7-4091-4965-81EB-21194F3D5B91}" type="datetimeFigureOut">
              <a:rPr lang="en-US" smtClean="0"/>
              <a:t>6/7/2019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CB903-0BA9-482D-87F5-A33A35E87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170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02D7-4091-4965-81EB-21194F3D5B91}" type="datetimeFigureOut">
              <a:rPr lang="en-US" smtClean="0"/>
              <a:t>6/7/2019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CB903-0BA9-482D-87F5-A33A35E87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209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02D7-4091-4965-81EB-21194F3D5B91}" type="datetimeFigureOut">
              <a:rPr lang="en-US" smtClean="0"/>
              <a:t>6/7/2019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CB903-0BA9-482D-87F5-A33A35E87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556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02D7-4091-4965-81EB-21194F3D5B91}" type="datetimeFigureOut">
              <a:rPr lang="en-US" smtClean="0"/>
              <a:t>6/7/2019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CB903-0BA9-482D-87F5-A33A35E87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825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02D7-4091-4965-81EB-21194F3D5B91}" type="datetimeFigureOut">
              <a:rPr lang="en-US" smtClean="0"/>
              <a:t>6/7/2019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CB903-0BA9-482D-87F5-A33A35E87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828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02D7-4091-4965-81EB-21194F3D5B91}" type="datetimeFigureOut">
              <a:rPr lang="en-US" smtClean="0"/>
              <a:t>6/7/2019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7FBCB903-0BA9-482D-87F5-A33A35E87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285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02D7-4091-4965-81EB-21194F3D5B91}" type="datetimeFigureOut">
              <a:rPr lang="en-US" smtClean="0"/>
              <a:t>6/7/2019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7FBCB903-0BA9-482D-87F5-A33A35E87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619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02D7-4091-4965-81EB-21194F3D5B91}" type="datetimeFigureOut">
              <a:rPr lang="en-US" smtClean="0"/>
              <a:t>6/7/2019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7FBCB903-0BA9-482D-87F5-A33A35E87DD5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2453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02D7-4091-4965-81EB-21194F3D5B91}" type="datetimeFigureOut">
              <a:rPr lang="en-US" smtClean="0"/>
              <a:t>6/7/2019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7FBCB903-0BA9-482D-87F5-A33A35E87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666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02D7-4091-4965-81EB-21194F3D5B91}" type="datetimeFigureOut">
              <a:rPr lang="en-US" smtClean="0"/>
              <a:t>6/7/2019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CB903-0BA9-482D-87F5-A33A35E87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9115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02D7-4091-4965-81EB-21194F3D5B91}" type="datetimeFigureOut">
              <a:rPr lang="en-US" smtClean="0"/>
              <a:t>6/7/2019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CB903-0BA9-482D-87F5-A33A35E87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9246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02D7-4091-4965-81EB-21194F3D5B91}" type="datetimeFigureOut">
              <a:rPr lang="en-US" smtClean="0"/>
              <a:t>6/7/2019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CB903-0BA9-482D-87F5-A33A35E87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41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744C02D7-4091-4965-81EB-21194F3D5B91}" type="datetimeFigureOut">
              <a:rPr lang="en-US" smtClean="0"/>
              <a:t>6/7/2019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7FBCB903-0BA9-482D-87F5-A33A35E87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534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C02D7-4091-4965-81EB-21194F3D5B91}" type="datetimeFigureOut">
              <a:rPr lang="en-US" smtClean="0"/>
              <a:t>6/7/2019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BCB903-0BA9-482D-87F5-A33A35E87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571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collegereadiness.collegeboard.org/sat/register" TargetMode="External"/><Relationship Id="rId2" Type="http://schemas.openxmlformats.org/officeDocument/2006/relationships/hyperlink" Target="https://apply.commonapp.org/Login?sto=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llegereadiness.collegeboard.org/sat/register/dates-deadlines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SEVEN STEP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074" y="2590800"/>
            <a:ext cx="6345260" cy="3530600"/>
          </a:xfrm>
        </p:spPr>
        <p:txBody>
          <a:bodyPr/>
          <a:lstStyle/>
          <a:p>
            <a:pPr marL="0" indent="0">
              <a:buNone/>
            </a:pPr>
            <a:r>
              <a:rPr lang="en-US" sz="4800" dirty="0"/>
              <a:t>      PRESENTERS :</a:t>
            </a:r>
          </a:p>
          <a:p>
            <a:r>
              <a:rPr lang="en-US" sz="4800" dirty="0"/>
              <a:t>Paul Opiyo</a:t>
            </a:r>
          </a:p>
          <a:p>
            <a:r>
              <a:rPr lang="en-US" sz="4800" dirty="0"/>
              <a:t>Benjamin Mumasi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443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latin typeface="Algerian" panose="04020705040A02060702" pitchFamily="82" charset="0"/>
              </a:rPr>
              <a:t>						</a:t>
            </a:r>
            <a:r>
              <a:rPr lang="en-US" sz="16600" dirty="0">
                <a:latin typeface="Algerian" panose="04020705040A02060702" pitchFamily="82" charset="0"/>
              </a:rPr>
              <a:t>1.</a:t>
            </a:r>
            <a:endParaRPr lang="en-US" sz="4400" dirty="0">
              <a:latin typeface="Algerian" panose="04020705040A02060702" pitchFamily="82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		</a:t>
            </a:r>
            <a:r>
              <a:rPr lang="en-US" sz="4800" dirty="0">
                <a:latin typeface="Algerian" panose="04020705040A02060702" pitchFamily="82" charset="0"/>
              </a:rPr>
              <a:t>WHY ABROAD???</a:t>
            </a:r>
            <a:endParaRPr lang="en-US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9EBB78D-EE93-415C-B86E-BB3931380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09600"/>
            <a:ext cx="88392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763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C8B8F25-FE31-4ADE-BD72-4823CCB6FA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417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" y="76200"/>
            <a:ext cx="8741230" cy="3276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6730E78-9BA4-434F-AC44-2641379B5E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" y="3810000"/>
            <a:ext cx="8381999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3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		Things to consider.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sz="3200" dirty="0"/>
              <a:t>Academic </a:t>
            </a:r>
            <a:r>
              <a:rPr lang="en-US" sz="3200" dirty="0" smtClean="0"/>
              <a:t>interests: Medicine, Law, African Studies </a:t>
            </a:r>
            <a:endParaRPr lang="en-US" sz="3200" dirty="0"/>
          </a:p>
          <a:p>
            <a:r>
              <a:rPr lang="en-US" sz="3200" dirty="0"/>
              <a:t>Types of </a:t>
            </a:r>
            <a:r>
              <a:rPr lang="en-US" sz="3200" dirty="0" smtClean="0"/>
              <a:t>schools and their curricular structures</a:t>
            </a:r>
          </a:p>
          <a:p>
            <a:r>
              <a:rPr lang="en-US" sz="3200" dirty="0" smtClean="0"/>
              <a:t>Financial aid</a:t>
            </a:r>
          </a:p>
          <a:p>
            <a:r>
              <a:rPr lang="en-US" sz="3200" dirty="0" smtClean="0"/>
              <a:t>Opportunities: Internships, Work experiences</a:t>
            </a: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Things to consider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Environment: climate, culture, foreign laws for students </a:t>
            </a:r>
            <a:r>
              <a:rPr lang="en-US" sz="3200" dirty="0" err="1" smtClean="0"/>
              <a:t>e.g</a:t>
            </a:r>
            <a:r>
              <a:rPr lang="en-US" sz="3200" dirty="0" smtClean="0"/>
              <a:t> Curricular Practical Training (CPT), Optional Practical Training (OPT) for students on work study</a:t>
            </a:r>
          </a:p>
          <a:p>
            <a:r>
              <a:rPr lang="en-US" sz="3200" dirty="0" smtClean="0"/>
              <a:t>Problem-solving approach</a:t>
            </a:r>
          </a:p>
          <a:p>
            <a:r>
              <a:rPr lang="en-US" sz="3200" dirty="0" smtClean="0"/>
              <a:t>Extensive Research</a:t>
            </a:r>
          </a:p>
          <a:p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285595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						</a:t>
            </a:r>
            <a:r>
              <a:rPr lang="en-US" sz="16600" dirty="0">
                <a:latin typeface="Algerian" panose="04020705040A02060702" pitchFamily="82" charset="0"/>
              </a:rPr>
              <a:t>2.</a:t>
            </a:r>
            <a:r>
              <a:rPr lang="en-US" dirty="0">
                <a:latin typeface="Algerian" panose="04020705040A02060702" pitchFamily="82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2590800"/>
            <a:ext cx="6345260" cy="353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                </a:t>
            </a:r>
          </a:p>
          <a:p>
            <a:pPr marL="0" indent="0">
              <a:buNone/>
            </a:pPr>
            <a:r>
              <a:rPr lang="en-US" dirty="0"/>
              <a:t>                 </a:t>
            </a:r>
            <a:r>
              <a:rPr lang="en-US" sz="7200" dirty="0">
                <a:latin typeface="Algerian" panose="04020705040A02060702" pitchFamily="82" charset="0"/>
              </a:rPr>
              <a:t>THE APPLICATION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COMMON APPLICATION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28E6223-8DB4-4D23-8220-12B4D185F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0"/>
            <a:ext cx="9067800" cy="5181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Sections 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CAF149C-87FC-4764-BEEB-2E8ED46B2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771" y="1703614"/>
            <a:ext cx="9144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SCHOOL SPECIFIC 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4300" dirty="0"/>
              <a:t>MIT</a:t>
            </a:r>
          </a:p>
          <a:p>
            <a:r>
              <a:rPr lang="en-US" sz="4300" dirty="0" err="1" smtClean="0"/>
              <a:t>Uchicago</a:t>
            </a:r>
            <a:endParaRPr lang="en-US" sz="4300" dirty="0" smtClean="0"/>
          </a:p>
          <a:p>
            <a:r>
              <a:rPr lang="en-US" sz="4300" dirty="0" smtClean="0"/>
              <a:t>University of Cape Town</a:t>
            </a:r>
          </a:p>
          <a:p>
            <a:r>
              <a:rPr lang="en-US" sz="4300" dirty="0" smtClean="0"/>
              <a:t>University of Edinburgh</a:t>
            </a:r>
            <a:endParaRPr lang="en-US" sz="4300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  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						</a:t>
            </a:r>
            <a:r>
              <a:rPr lang="en-US" sz="16600" dirty="0">
                <a:latin typeface="Algerian" panose="04020705040A02060702" pitchFamily="82" charset="0"/>
              </a:rPr>
              <a:t>3.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                   </a:t>
            </a:r>
            <a:r>
              <a:rPr lang="en-US" sz="4800" dirty="0">
                <a:latin typeface="Algerian" panose="04020705040A02060702" pitchFamily="82" charset="0"/>
              </a:rPr>
              <a:t>				DOCUMENTATION</a:t>
            </a:r>
            <a:endParaRPr lang="en-US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870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common app: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200" dirty="0"/>
              <a:t>KCSE result slip.</a:t>
            </a:r>
          </a:p>
          <a:p>
            <a:r>
              <a:rPr lang="en-US" sz="3200" dirty="0"/>
              <a:t>Transcripts.</a:t>
            </a:r>
          </a:p>
          <a:p>
            <a:r>
              <a:rPr lang="en-US" sz="3200" dirty="0"/>
              <a:t>Recommendation letters </a:t>
            </a:r>
          </a:p>
          <a:p>
            <a:r>
              <a:rPr lang="en-US" sz="3200" dirty="0"/>
              <a:t>School Report</a:t>
            </a:r>
          </a:p>
          <a:p>
            <a:r>
              <a:rPr lang="en-US" sz="3200" dirty="0"/>
              <a:t>Fee waiver form and a supporting letter.</a:t>
            </a:r>
          </a:p>
          <a:p>
            <a:r>
              <a:rPr lang="en-US" sz="3200" dirty="0"/>
              <a:t>Early Decision Agreement.</a:t>
            </a:r>
          </a:p>
          <a:p>
            <a:r>
              <a:rPr lang="en-US" sz="3200" dirty="0"/>
              <a:t>School  </a:t>
            </a:r>
            <a:r>
              <a:rPr lang="en-US" sz="3300" dirty="0"/>
              <a:t>Profile</a:t>
            </a:r>
          </a:p>
          <a:p>
            <a:pPr marL="0" indent="0">
              <a:buNone/>
            </a:pP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297074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						</a:t>
            </a:r>
            <a:r>
              <a:rPr lang="en-US" sz="16600" dirty="0">
                <a:latin typeface="Algerian" panose="04020705040A02060702" pitchFamily="82" charset="0"/>
              </a:rPr>
              <a:t>4.</a:t>
            </a:r>
            <a:r>
              <a:rPr lang="en-US" dirty="0"/>
              <a:t>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         </a:t>
            </a:r>
          </a:p>
          <a:p>
            <a:pPr marL="0" indent="0">
              <a:buNone/>
            </a:pPr>
            <a:r>
              <a:rPr lang="en-US" dirty="0"/>
              <a:t>      			      </a:t>
            </a:r>
            <a:r>
              <a:rPr lang="en-US" sz="7200" dirty="0">
                <a:latin typeface="Algerian" panose="04020705040A02060702" pitchFamily="82" charset="0"/>
              </a:rPr>
              <a:t>ESSAYS</a:t>
            </a:r>
            <a:endParaRPr lang="en-US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452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You’ll need to write: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3048000"/>
            <a:ext cx="6345260" cy="3530600"/>
          </a:xfrm>
        </p:spPr>
        <p:txBody>
          <a:bodyPr>
            <a:normAutofit/>
          </a:bodyPr>
          <a:lstStyle/>
          <a:p>
            <a:r>
              <a:rPr lang="en-US" sz="4000" dirty="0"/>
              <a:t>Common App essay </a:t>
            </a:r>
          </a:p>
          <a:p>
            <a:r>
              <a:rPr lang="en-US" sz="4000" dirty="0"/>
              <a:t>Supplementary essays</a:t>
            </a:r>
          </a:p>
          <a:p>
            <a:r>
              <a:rPr lang="en-US" sz="4000" dirty="0"/>
              <a:t>Additional information</a:t>
            </a:r>
          </a:p>
        </p:txBody>
      </p:sp>
    </p:spTree>
    <p:extLst>
      <p:ext uri="{BB962C8B-B14F-4D97-AF65-F5344CB8AC3E}">
        <p14:creationId xmlns:p14="http://schemas.microsoft.com/office/powerpoint/2010/main" val="3309591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2FFF587-904E-4289-8B7E-6FEA17F51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981200"/>
            <a:ext cx="54864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009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						</a:t>
            </a:r>
            <a:r>
              <a:rPr lang="en-US" sz="16600" dirty="0">
                <a:latin typeface="Algerian" panose="04020705040A02060702" pitchFamily="82" charset="0"/>
              </a:rPr>
              <a:t>5.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            </a:t>
            </a:r>
          </a:p>
          <a:p>
            <a:pPr marL="0" indent="0">
              <a:buNone/>
            </a:pPr>
            <a:r>
              <a:rPr lang="en-US" sz="4000" dirty="0">
                <a:latin typeface="Algerian" panose="04020705040A02060702" pitchFamily="82" charset="0"/>
              </a:rPr>
              <a:t>              </a:t>
            </a:r>
            <a:r>
              <a:rPr lang="en-US" sz="8000" dirty="0">
                <a:latin typeface="Algerian" panose="04020705040A02060702" pitchFamily="82" charset="0"/>
              </a:rPr>
              <a:t> TESTS</a:t>
            </a:r>
            <a:endParaRPr lang="en-US" sz="4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493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55896B-0127-4732-9E5E-20D041258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SAT &amp; ACT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338D1A7A-1E45-446E-B75C-271F374D98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0" y="1728788"/>
            <a:ext cx="7315200" cy="512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955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      </a:t>
            </a:r>
            <a:r>
              <a:rPr lang="en-US" sz="3600" b="1" dirty="0"/>
              <a:t>Content: </a:t>
            </a:r>
          </a:p>
          <a:p>
            <a:r>
              <a:rPr lang="en-US" sz="3600" dirty="0"/>
              <a:t>Critical reading.</a:t>
            </a:r>
          </a:p>
          <a:p>
            <a:r>
              <a:rPr lang="en-US" sz="3600" dirty="0"/>
              <a:t>Math.</a:t>
            </a:r>
          </a:p>
          <a:p>
            <a:r>
              <a:rPr lang="en-US" sz="3600" dirty="0"/>
              <a:t>Writing.</a:t>
            </a:r>
          </a:p>
          <a:p>
            <a:r>
              <a:rPr lang="en-US" sz="3600" dirty="0"/>
              <a:t>Essay.</a:t>
            </a:r>
          </a:p>
        </p:txBody>
      </p:sp>
    </p:spTree>
    <p:extLst>
      <p:ext uri="{BB962C8B-B14F-4D97-AF65-F5344CB8AC3E}">
        <p14:creationId xmlns:p14="http://schemas.microsoft.com/office/powerpoint/2010/main" val="3549556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b="1" dirty="0"/>
              <a:t>Content:</a:t>
            </a:r>
          </a:p>
          <a:p>
            <a:r>
              <a:rPr lang="en-US" sz="3600" dirty="0"/>
              <a:t>English writing </a:t>
            </a:r>
          </a:p>
          <a:p>
            <a:r>
              <a:rPr lang="en-US" sz="3600" dirty="0"/>
              <a:t>Reading</a:t>
            </a:r>
          </a:p>
          <a:p>
            <a:r>
              <a:rPr lang="en-US" sz="3600" dirty="0"/>
              <a:t>Math</a:t>
            </a:r>
          </a:p>
          <a:p>
            <a:r>
              <a:rPr lang="en-US" sz="3600" dirty="0"/>
              <a:t>Science</a:t>
            </a:r>
          </a:p>
          <a:p>
            <a:r>
              <a:rPr lang="en-US" sz="3600" dirty="0"/>
              <a:t>Essay</a:t>
            </a:r>
          </a:p>
        </p:txBody>
      </p:sp>
    </p:spTree>
    <p:extLst>
      <p:ext uri="{BB962C8B-B14F-4D97-AF65-F5344CB8AC3E}">
        <p14:creationId xmlns:p14="http://schemas.microsoft.com/office/powerpoint/2010/main" val="1201198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ENGLISH ADMISSION TESTS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smtClean="0"/>
              <a:t>DUOLINGO ENGLISH TEST</a:t>
            </a:r>
          </a:p>
          <a:p>
            <a:pPr marL="0" indent="0">
              <a:buNone/>
            </a:pPr>
            <a:r>
              <a:rPr lang="en-US" sz="3200" dirty="0" smtClean="0"/>
              <a:t>TOEFL</a:t>
            </a:r>
          </a:p>
        </p:txBody>
      </p:sp>
    </p:spTree>
    <p:extLst>
      <p:ext uri="{BB962C8B-B14F-4D97-AF65-F5344CB8AC3E}">
        <p14:creationId xmlns:p14="http://schemas.microsoft.com/office/powerpoint/2010/main" val="4109243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						</a:t>
            </a:r>
            <a:r>
              <a:rPr lang="en-US" sz="16600" dirty="0">
                <a:latin typeface="Algerian" panose="04020705040A02060702" pitchFamily="82" charset="0"/>
              </a:rPr>
              <a:t>6.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	</a:t>
            </a:r>
          </a:p>
          <a:p>
            <a:pPr marL="0" indent="0">
              <a:buNone/>
            </a:pPr>
            <a:endParaRPr lang="en-US" sz="4800" dirty="0">
              <a:latin typeface="Algerian" panose="04020705040A02060702" pitchFamily="82" charset="0"/>
            </a:endParaRPr>
          </a:p>
          <a:p>
            <a:pPr marL="0" indent="0">
              <a:buNone/>
            </a:pPr>
            <a:r>
              <a:rPr lang="en-US" sz="4800" dirty="0">
                <a:latin typeface="Algerian" panose="04020705040A02060702" pitchFamily="82" charset="0"/>
              </a:rPr>
              <a:t>		FINANCIAL AID</a:t>
            </a:r>
            <a:endParaRPr lang="en-US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11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12772C-A8AE-4DD1-880A-2F7F72881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Profile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BE6DD08-60F6-4180-89FC-8732A688D0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6398"/>
            <a:ext cx="9144000" cy="518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684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398EA3A-DC37-4F74-816B-A004B76FE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ISFAA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CABF9B37-6041-454C-8992-EB9D25F3A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34166"/>
            <a:ext cx="5715000" cy="475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171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FINANCIAL AID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4000" dirty="0"/>
              <a:t>Foundation and organization scholarship – MCF &amp; </a:t>
            </a:r>
            <a:r>
              <a:rPr lang="en-US" sz="4000" dirty="0" err="1"/>
              <a:t>Botstiber</a:t>
            </a:r>
            <a:endParaRPr lang="en-US" sz="4000" dirty="0"/>
          </a:p>
          <a:p>
            <a:r>
              <a:rPr lang="en-US" sz="4000" dirty="0"/>
              <a:t>Private </a:t>
            </a:r>
            <a:r>
              <a:rPr lang="en-US" sz="4000" dirty="0" smtClean="0"/>
              <a:t>scholarships</a:t>
            </a:r>
          </a:p>
          <a:p>
            <a:r>
              <a:rPr lang="en-US" sz="4000" dirty="0" smtClean="0"/>
              <a:t>School specific scholarships </a:t>
            </a:r>
            <a:r>
              <a:rPr lang="en-US" sz="4000" dirty="0" err="1" smtClean="0"/>
              <a:t>e.g</a:t>
            </a:r>
            <a:r>
              <a:rPr lang="en-US" sz="4000" dirty="0" smtClean="0"/>
              <a:t> </a:t>
            </a:r>
            <a:r>
              <a:rPr lang="en-US" sz="4000" dirty="0"/>
              <a:t>Karen </a:t>
            </a:r>
            <a:r>
              <a:rPr lang="en-US" sz="4000" dirty="0" err="1"/>
              <a:t>McKellin</a:t>
            </a:r>
            <a:r>
              <a:rPr lang="en-US" sz="4000" dirty="0"/>
              <a:t> International Leader of Tomorrow </a:t>
            </a:r>
            <a:r>
              <a:rPr lang="en-US" sz="4000" dirty="0" smtClean="0"/>
              <a:t>Award for UBC</a:t>
            </a:r>
            <a:endParaRPr lang="en-US" sz="4000" dirty="0"/>
          </a:p>
          <a:p>
            <a:endParaRPr lang="en-US" sz="40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718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MCF Schools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4000" dirty="0"/>
              <a:t>Duke – Not Charles</a:t>
            </a:r>
          </a:p>
          <a:p>
            <a:r>
              <a:rPr lang="en-US" sz="4000" dirty="0"/>
              <a:t>University of Edinburgh</a:t>
            </a:r>
          </a:p>
          <a:p>
            <a:r>
              <a:rPr lang="en-US" sz="4000" dirty="0" err="1"/>
              <a:t>Ashesi</a:t>
            </a:r>
            <a:endParaRPr lang="en-US" sz="4000" dirty="0"/>
          </a:p>
          <a:p>
            <a:r>
              <a:rPr lang="en-US" sz="4000" dirty="0"/>
              <a:t>EARTH – Not the one in The Milky </a:t>
            </a:r>
            <a:r>
              <a:rPr lang="en-US" sz="4000" dirty="0" smtClean="0"/>
              <a:t>Way</a:t>
            </a:r>
          </a:p>
          <a:p>
            <a:r>
              <a:rPr lang="en-US" sz="4000" dirty="0" smtClean="0"/>
              <a:t>University of Cape Town</a:t>
            </a:r>
            <a:endParaRPr lang="en-US" sz="4000" dirty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803127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						</a:t>
            </a:r>
            <a:r>
              <a:rPr lang="en-US" sz="19900" dirty="0">
                <a:latin typeface="Algerian" panose="04020705040A02060702" pitchFamily="82" charset="0"/>
              </a:rPr>
              <a:t>7.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3295555"/>
            <a:ext cx="6345260" cy="35306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sz="4800" dirty="0">
                <a:latin typeface="Algerian" panose="04020705040A02060702" pitchFamily="82" charset="0"/>
              </a:rPr>
              <a:t>SUBMITTING THE                 </a:t>
            </a:r>
            <a:r>
              <a:rPr lang="en-US" sz="4800" dirty="0" smtClean="0">
                <a:latin typeface="Algerian" panose="04020705040A02060702" pitchFamily="82" charset="0"/>
              </a:rPr>
              <a:t>APPLICATION</a:t>
            </a:r>
            <a:endParaRPr lang="en-US" sz="4800" dirty="0"/>
          </a:p>
          <a:p>
            <a:pPr marL="0" indent="0">
              <a:buNone/>
            </a:pPr>
            <a:r>
              <a:rPr lang="en-US" sz="4800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912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609600"/>
            <a:ext cx="8229600" cy="1295400"/>
          </a:xfrm>
        </p:spPr>
        <p:txBody>
          <a:bodyPr/>
          <a:lstStyle/>
          <a:p>
            <a:r>
              <a:rPr lang="en-US" dirty="0"/>
              <a:t>DEADLINES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3600" b="1" dirty="0"/>
              <a:t>Early Decision </a:t>
            </a:r>
            <a:r>
              <a:rPr lang="en-US" sz="3600" dirty="0"/>
              <a:t>–November 1</a:t>
            </a:r>
            <a:r>
              <a:rPr lang="en-US" sz="3600" baseline="30000" dirty="0"/>
              <a:t>St</a:t>
            </a:r>
            <a:r>
              <a:rPr lang="en-US" sz="3600" dirty="0"/>
              <a:t> to </a:t>
            </a:r>
            <a:r>
              <a:rPr lang="en-US" sz="3600" dirty="0" smtClean="0"/>
              <a:t>15</a:t>
            </a:r>
            <a:r>
              <a:rPr lang="en-US" sz="3600" baseline="30000" dirty="0" smtClean="0"/>
              <a:t>th</a:t>
            </a:r>
            <a:r>
              <a:rPr lang="en-US" sz="3600" dirty="0"/>
              <a:t> </a:t>
            </a:r>
            <a:r>
              <a:rPr lang="en-US" sz="3600" dirty="0" smtClean="0"/>
              <a:t>(Documents should be submitted by 1</a:t>
            </a:r>
            <a:r>
              <a:rPr lang="en-US" sz="3600" baseline="30000" dirty="0" smtClean="0"/>
              <a:t>st</a:t>
            </a:r>
            <a:r>
              <a:rPr lang="en-US" sz="3600" dirty="0" smtClean="0"/>
              <a:t> November 2019)</a:t>
            </a:r>
            <a:endParaRPr lang="en-US" sz="3600" dirty="0"/>
          </a:p>
          <a:p>
            <a:r>
              <a:rPr lang="en-US" sz="3600" b="1" dirty="0"/>
              <a:t>Early Decision II</a:t>
            </a:r>
            <a:r>
              <a:rPr lang="en-US" sz="3600" dirty="0"/>
              <a:t>-varies</a:t>
            </a:r>
          </a:p>
          <a:p>
            <a:r>
              <a:rPr lang="en-US" sz="3600" b="1" dirty="0"/>
              <a:t>Regular Decision</a:t>
            </a:r>
            <a:r>
              <a:rPr lang="en-US" sz="3600" dirty="0"/>
              <a:t>-1</a:t>
            </a:r>
            <a:r>
              <a:rPr lang="en-US" sz="3600" baseline="30000" dirty="0"/>
              <a:t>st</a:t>
            </a:r>
            <a:r>
              <a:rPr lang="en-US" sz="3600" dirty="0"/>
              <a:t> to 15</a:t>
            </a:r>
            <a:r>
              <a:rPr lang="en-US" sz="3600" baseline="30000" dirty="0"/>
              <a:t>th</a:t>
            </a:r>
            <a:r>
              <a:rPr lang="en-US" sz="3600" dirty="0"/>
              <a:t> </a:t>
            </a:r>
            <a:r>
              <a:rPr lang="en-US" sz="3600" dirty="0" smtClean="0"/>
              <a:t>January (Documents </a:t>
            </a:r>
            <a:r>
              <a:rPr lang="en-US" sz="3600" dirty="0" smtClean="0"/>
              <a:t>should be submitted </a:t>
            </a:r>
            <a:r>
              <a:rPr lang="en-US" sz="3600" dirty="0" smtClean="0"/>
              <a:t>by 27</a:t>
            </a:r>
            <a:r>
              <a:rPr lang="en-US" sz="3600" baseline="30000" dirty="0" smtClean="0"/>
              <a:t>th</a:t>
            </a:r>
            <a:r>
              <a:rPr lang="en-US" sz="3600" dirty="0" smtClean="0"/>
              <a:t> December 2019)</a:t>
            </a:r>
            <a:endParaRPr lang="en-US" sz="36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945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Common App </a:t>
            </a:r>
          </a:p>
          <a:p>
            <a:pPr marL="0" indent="0">
              <a:buNone/>
            </a:pPr>
            <a:r>
              <a:rPr lang="en-US" sz="2400" b="1" dirty="0">
                <a:hlinkClick r:id="rId2"/>
              </a:rPr>
              <a:t>https://apply.commonapp.org/Login?sto=1</a:t>
            </a:r>
            <a:r>
              <a:rPr lang="en-US" sz="2400" b="1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College Board</a:t>
            </a:r>
          </a:p>
          <a:p>
            <a:pPr marL="0" indent="0">
              <a:buNone/>
            </a:pPr>
            <a:r>
              <a:rPr lang="en-US" sz="2400" b="1" dirty="0">
                <a:hlinkClick r:id="rId3"/>
              </a:rPr>
              <a:t>https://collegereadiness.collegeboard.org/sat/register</a:t>
            </a:r>
            <a:r>
              <a:rPr lang="en-US" sz="2400" b="1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Tests and Deadlines</a:t>
            </a:r>
          </a:p>
          <a:p>
            <a:pPr marL="0" indent="0">
              <a:buNone/>
            </a:pPr>
            <a:r>
              <a:rPr lang="en-US" sz="2400" b="1" dirty="0">
                <a:hlinkClick r:id="rId4"/>
              </a:rPr>
              <a:t>https://collegereadiness.collegeboard.org/sat/register/dates-deadlines</a:t>
            </a:r>
            <a:r>
              <a:rPr lang="en-US" sz="2400" b="1" dirty="0"/>
              <a:t> </a:t>
            </a:r>
          </a:p>
          <a:p>
            <a:pPr marL="0" indent="0"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688382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					</a:t>
            </a:r>
            <a:r>
              <a:rPr lang="en-US" sz="9600" dirty="0"/>
              <a:t>Q&amp;A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951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600" dirty="0"/>
              <a:t>			THE 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2362200"/>
            <a:ext cx="7010400" cy="2895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77891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Berlin" id="{7B5DBA9E-B069-418E-9360-A61BDD0615A4}" vid="{C7DC10E3-4FF5-456B-A359-A0F378C1E5F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832</TotalTime>
  <Words>286</Words>
  <Application>Microsoft Office PowerPoint</Application>
  <PresentationFormat>On-screen Show (4:3)</PresentationFormat>
  <Paragraphs>102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Berlin</vt:lpstr>
      <vt:lpstr>THE SEVEN STEP GUIDE</vt:lpstr>
      <vt:lpstr>      1.</vt:lpstr>
      <vt:lpstr>PowerPoint Presentation</vt:lpstr>
      <vt:lpstr>PowerPoint Presentation</vt:lpstr>
      <vt:lpstr>  Things to consider.</vt:lpstr>
      <vt:lpstr>Things to consider </vt:lpstr>
      <vt:lpstr>      2. </vt:lpstr>
      <vt:lpstr>THE COMMON APPLICATION</vt:lpstr>
      <vt:lpstr>Sections !</vt:lpstr>
      <vt:lpstr>SCHOOL SPECIFIC SITES</vt:lpstr>
      <vt:lpstr>      3.</vt:lpstr>
      <vt:lpstr>For common app:</vt:lpstr>
      <vt:lpstr>      4. </vt:lpstr>
      <vt:lpstr>You’ll need to write:</vt:lpstr>
      <vt:lpstr>PowerPoint Presentation</vt:lpstr>
      <vt:lpstr>      5.</vt:lpstr>
      <vt:lpstr>             SAT &amp; ACT</vt:lpstr>
      <vt:lpstr>SAT</vt:lpstr>
      <vt:lpstr>ACT</vt:lpstr>
      <vt:lpstr>ENGLISH ADMISSION TESTS</vt:lpstr>
      <vt:lpstr>      6.</vt:lpstr>
      <vt:lpstr>CSS Profile</vt:lpstr>
      <vt:lpstr>ISFAA</vt:lpstr>
      <vt:lpstr>TYPES OF FINANCIAL AID</vt:lpstr>
      <vt:lpstr>MCF Schools</vt:lpstr>
      <vt:lpstr>      7.</vt:lpstr>
      <vt:lpstr>DEADLINES</vt:lpstr>
      <vt:lpstr>RESOURCES </vt:lpstr>
      <vt:lpstr>     Q&amp;A</vt:lpstr>
      <vt:lpstr>   THE END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millicent</dc:creator>
  <cp:lastModifiedBy>Paul Opiyo</cp:lastModifiedBy>
  <cp:revision>64</cp:revision>
  <dcterms:created xsi:type="dcterms:W3CDTF">2017-06-14T07:27:53Z</dcterms:created>
  <dcterms:modified xsi:type="dcterms:W3CDTF">2019-06-07T12:42:55Z</dcterms:modified>
</cp:coreProperties>
</file>