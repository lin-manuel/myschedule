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Caveat"/>
      <p:regular r:id="rId40"/>
      <p:bold r:id="rId41"/>
    </p:embeddedFont>
    <p:embeddedFont>
      <p:font typeface="Average"/>
      <p:regular r:id="rId42"/>
    </p:embeddedFont>
    <p:embeddedFont>
      <p:font typeface="Oswald"/>
      <p:regular r:id="rId43"/>
      <p:bold r:id="rId44"/>
    </p:embeddedFont>
    <p:embeddedFont>
      <p:font typeface="Caveat SemiBold"/>
      <p:regular r:id="rId45"/>
      <p:bold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aveat-regular.fntdata"/><Relationship Id="rId20" Type="http://schemas.openxmlformats.org/officeDocument/2006/relationships/slide" Target="slides/slide15.xml"/><Relationship Id="rId42" Type="http://schemas.openxmlformats.org/officeDocument/2006/relationships/font" Target="fonts/Average-regular.fntdata"/><Relationship Id="rId41" Type="http://schemas.openxmlformats.org/officeDocument/2006/relationships/font" Target="fonts/Caveat-bold.fntdata"/><Relationship Id="rId22" Type="http://schemas.openxmlformats.org/officeDocument/2006/relationships/slide" Target="slides/slide17.xml"/><Relationship Id="rId44" Type="http://schemas.openxmlformats.org/officeDocument/2006/relationships/font" Target="fonts/Oswald-bold.fntdata"/><Relationship Id="rId21" Type="http://schemas.openxmlformats.org/officeDocument/2006/relationships/slide" Target="slides/slide16.xml"/><Relationship Id="rId43" Type="http://schemas.openxmlformats.org/officeDocument/2006/relationships/font" Target="fonts/Oswald-regular.fntdata"/><Relationship Id="rId24" Type="http://schemas.openxmlformats.org/officeDocument/2006/relationships/slide" Target="slides/slide19.xml"/><Relationship Id="rId46" Type="http://schemas.openxmlformats.org/officeDocument/2006/relationships/font" Target="fonts/CaveatSemiBold-bold.fntdata"/><Relationship Id="rId23" Type="http://schemas.openxmlformats.org/officeDocument/2006/relationships/slide" Target="slides/slide18.xml"/><Relationship Id="rId45" Type="http://schemas.openxmlformats.org/officeDocument/2006/relationships/font" Target="fonts/Caveat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484aa09791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484aa09791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484aa09791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484aa09791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484aa09791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484aa09791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484aa09791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484aa09791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484aa0979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484aa0979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484aa09791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484aa09791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484aa09791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484aa09791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484aa09791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484aa09791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484aa09791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484aa09791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484aa09791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484aa09791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484aa09791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484aa09791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484aa09791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484aa09791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484aa09791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484aa09791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484aa09791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484aa09791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484aa09791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484aa09791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484aa09791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484aa09791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484aa09791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484aa09791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484aa09791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484aa09791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484aa09791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484aa09791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484aa09791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484aa09791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484aa09791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484aa09791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484aa09791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484aa09791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484aa09791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484aa09791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484aa09791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484aa09791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484aa09791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484aa09791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484aa09791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484aa09791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49d4253a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49d4253a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49d4253ac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49d4253ac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49d4253ac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49d4253ac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484aa09791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484aa09791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484aa09791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484aa09791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484aa09791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484aa09791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484aa09791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484aa09791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hyperlink" Target="https://www.google.com/search?hl=en-GB&amp;ram_mb=3555&amp;ampcct=5563&amp;gsas=1&amp;lns_as=1&amp;qsubts=1684760200941&amp;cs=0&amp;q=About+https%3A%2F%2Fblog.getintocollege.com%2Fcommon-app-help-how-to-master-the-activities-section-college-coach-blog%2F&amp;padt=0&amp;ilps=ADJL0iyDkX0QXYu3" TargetMode="External"/><Relationship Id="rId4" Type="http://schemas.openxmlformats.org/officeDocument/2006/relationships/hyperlink" Target="https://www.crimsoneducation.org/us/blog/extracurriculars/benefits-of-extracurricular-activities/" TargetMode="External"/><Relationship Id="rId9" Type="http://schemas.openxmlformats.org/officeDocument/2006/relationships/hyperlink" Target="https://www.ivywise.com/ivywise-knowledgebase/resources/article/why-extracurricular-activities-matter-in-college-admissions/" TargetMode="External"/><Relationship Id="rId5" Type="http://schemas.openxmlformats.org/officeDocument/2006/relationships/hyperlink" Target="https://www.google.com/search?hl=en-GB&amp;ram_mb=3555&amp;ampcct=5563&amp;gsas=1&amp;lns_as=1&amp;qsubts=1684760091414&amp;cs=0&amp;q=About+https%3A%2F%2Fwww.shemmassianconsulting.com%2Fblog%2Fcommon-app-activities-section&amp;padt=0&amp;ilps=ADJL0iz6rY35-6MAbGFmnaCGieVfg0rZvQ&amp;rdid=4a618ca3" TargetMode="External"/><Relationship Id="rId6" Type="http://schemas.openxmlformats.org/officeDocument/2006/relationships/hyperlink" Target="https://www.google.com/search?hl=en-GB&amp;ram_mb=3555&amp;ampcct=5563&amp;gsas=1&amp;lns_as=1&amp;qsubts=1684760023473&amp;cs=0&amp;q=About+https%3A%2F%2Fwww.collegeessayguy.com%2Fblog%2Fguide-college-activities-list-common-app-example-application&amp;padt=0&amp;ilps=ADJL0ixbb2P5VUMKMzRLQsb" TargetMode="External"/><Relationship Id="rId7" Type="http://schemas.openxmlformats.org/officeDocument/2006/relationships/hyperlink" Target="https://blog.collegevine.com/how-much-do-extracurricular-activities-matter-in-college-admissions/" TargetMode="External"/><Relationship Id="rId8" Type="http://schemas.openxmlformats.org/officeDocument/2006/relationships/hyperlink" Target="https://www.princetonreview.com/college-advice/extracurricular-activitie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3"/>
          <p:cNvSpPr txBox="1"/>
          <p:nvPr>
            <p:ph type="ctrTitle"/>
          </p:nvPr>
        </p:nvSpPr>
        <p:spPr>
          <a:xfrm>
            <a:off x="3044700" y="1444250"/>
            <a:ext cx="40230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Caveat"/>
                <a:ea typeface="Caveat"/>
                <a:cs typeface="Caveat"/>
                <a:sym typeface="Caveat"/>
              </a:rPr>
              <a:t>ACTIVITIES LIST</a:t>
            </a:r>
            <a:endParaRPr b="1">
              <a:solidFill>
                <a:srgbClr val="FF0000"/>
              </a:solidFill>
              <a:latin typeface="Caveat"/>
              <a:ea typeface="Caveat"/>
              <a:cs typeface="Caveat"/>
              <a:sym typeface="Caveat"/>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FF0000"/>
                </a:solidFill>
                <a:latin typeface="Caveat SemiBold"/>
                <a:ea typeface="Caveat SemiBold"/>
                <a:cs typeface="Caveat SemiBold"/>
                <a:sym typeface="Caveat SemiBold"/>
              </a:rPr>
              <a:t>THE COMMON APP</a:t>
            </a:r>
            <a:endParaRPr>
              <a:solidFill>
                <a:srgbClr val="FF0000"/>
              </a:solidFill>
              <a:latin typeface="Caveat SemiBold"/>
              <a:ea typeface="Caveat SemiBold"/>
              <a:cs typeface="Caveat SemiBold"/>
              <a:sym typeface="Caveat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idx="1" type="body"/>
          </p:nvPr>
        </p:nvSpPr>
        <p:spPr>
          <a:xfrm>
            <a:off x="319500" y="466725"/>
            <a:ext cx="8757900" cy="4350900"/>
          </a:xfrm>
          <a:prstGeom prst="rect">
            <a:avLst/>
          </a:prstGeom>
        </p:spPr>
        <p:txBody>
          <a:bodyPr anchorCtr="0" anchor="ctr" bIns="91425" lIns="91425" spcFirstLastPara="1" rIns="91425" wrap="square" tIns="91425">
            <a:normAutofit/>
          </a:bodyPr>
          <a:lstStyle/>
          <a:p>
            <a:pPr indent="-361950" lvl="0" marL="457200" rtl="0" algn="l">
              <a:spcBef>
                <a:spcPts val="0"/>
              </a:spcBef>
              <a:spcAft>
                <a:spcPts val="0"/>
              </a:spcAft>
              <a:buSzPts val="2100"/>
              <a:buFont typeface="Average"/>
              <a:buChar char="●"/>
            </a:pPr>
            <a:r>
              <a:rPr lang="en">
                <a:latin typeface="Average"/>
                <a:ea typeface="Average"/>
                <a:cs typeface="Average"/>
                <a:sym typeface="Average"/>
              </a:rPr>
              <a:t>Extracurricular activities should show how you have self-directed your passions, and interests outside the academic arena.</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61950" lvl="0" marL="457200" rtl="0" algn="l">
              <a:spcBef>
                <a:spcPts val="0"/>
              </a:spcBef>
              <a:spcAft>
                <a:spcPts val="0"/>
              </a:spcAft>
              <a:buSzPts val="2100"/>
              <a:buFont typeface="Average"/>
              <a:buChar char="●"/>
            </a:pPr>
            <a:r>
              <a:rPr lang="en">
                <a:latin typeface="Average"/>
                <a:ea typeface="Average"/>
                <a:cs typeface="Average"/>
                <a:sym typeface="Average"/>
              </a:rPr>
              <a:t>The admissions office should understand your potential fit for a slot in their college.</a:t>
            </a:r>
            <a:endParaRPr>
              <a:latin typeface="Average"/>
              <a:ea typeface="Average"/>
              <a:cs typeface="Average"/>
              <a:sym typeface="Average"/>
            </a:endParaRPr>
          </a:p>
          <a:p>
            <a:pPr indent="0" lvl="0" marL="0" rtl="0" algn="l">
              <a:spcBef>
                <a:spcPts val="0"/>
              </a:spcBef>
              <a:spcAft>
                <a:spcPts val="0"/>
              </a:spcAft>
              <a:buNone/>
            </a:pPr>
            <a:r>
              <a:t/>
            </a:r>
            <a:endParaRPr>
              <a:latin typeface="Average"/>
              <a:ea typeface="Average"/>
              <a:cs typeface="Average"/>
              <a:sym typeface="Average"/>
            </a:endParaRPr>
          </a:p>
          <a:p>
            <a:pPr indent="-361950" lvl="0" marL="457200" rtl="0" algn="l">
              <a:spcBef>
                <a:spcPts val="0"/>
              </a:spcBef>
              <a:spcAft>
                <a:spcPts val="0"/>
              </a:spcAft>
              <a:buSzPts val="2100"/>
              <a:buFont typeface="Average"/>
              <a:buChar char="●"/>
            </a:pPr>
            <a:r>
              <a:rPr lang="en">
                <a:latin typeface="Average"/>
                <a:ea typeface="Average"/>
                <a:cs typeface="Average"/>
                <a:sym typeface="Average"/>
              </a:rPr>
              <a:t>They will mainly look for passion, leadership, and impact in your activities list.</a:t>
            </a:r>
            <a:endParaRPr>
              <a:latin typeface="Average"/>
              <a:ea typeface="Average"/>
              <a:cs typeface="Average"/>
              <a:sym typeface="Average"/>
            </a:endParaRPr>
          </a:p>
          <a:p>
            <a:pPr indent="0" lvl="0" marL="0" rtl="0" algn="l">
              <a:spcBef>
                <a:spcPts val="0"/>
              </a:spcBef>
              <a:spcAft>
                <a:spcPts val="0"/>
              </a:spcAft>
              <a:buNone/>
            </a:pPr>
            <a:r>
              <a:rPr lang="en"/>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i="1" lang="en" sz="3520">
                <a:latin typeface="Average"/>
                <a:ea typeface="Average"/>
                <a:cs typeface="Average"/>
                <a:sym typeface="Average"/>
              </a:rPr>
              <a:t>TYPES   OF   EXTRACURRICULAR   ACTIVITIES </a:t>
            </a:r>
            <a:endParaRPr b="1" i="1" sz="3520">
              <a:latin typeface="Average"/>
              <a:ea typeface="Average"/>
              <a:cs typeface="Average"/>
              <a:sym typeface="Average"/>
            </a:endParaRPr>
          </a:p>
        </p:txBody>
      </p:sp>
      <p:sp>
        <p:nvSpPr>
          <p:cNvPr id="71" name="Google Shape;71;p15"/>
          <p:cNvSpPr txBox="1"/>
          <p:nvPr>
            <p:ph idx="1" type="subTitle"/>
          </p:nvPr>
        </p:nvSpPr>
        <p:spPr>
          <a:xfrm>
            <a:off x="671250" y="3067050"/>
            <a:ext cx="7801500" cy="1771500"/>
          </a:xfrm>
          <a:prstGeom prst="rect">
            <a:avLst/>
          </a:prstGeom>
        </p:spPr>
        <p:txBody>
          <a:bodyPr anchorCtr="0" anchor="t" bIns="91425" lIns="91425" spcFirstLastPara="1" rIns="91425" wrap="square" tIns="91425">
            <a:normAutofit lnSpcReduction="10000"/>
          </a:bodyPr>
          <a:lstStyle/>
          <a:p>
            <a:pPr indent="-361950" lvl="0" marL="457200" rtl="0" algn="ctr">
              <a:spcBef>
                <a:spcPts val="0"/>
              </a:spcBef>
              <a:spcAft>
                <a:spcPts val="0"/>
              </a:spcAft>
              <a:buClr>
                <a:schemeClr val="dk1"/>
              </a:buClr>
              <a:buSzPts val="2100"/>
              <a:buAutoNum type="arabicPeriod"/>
            </a:pPr>
            <a:r>
              <a:rPr i="1" lang="en">
                <a:solidFill>
                  <a:schemeClr val="dk1"/>
                </a:solidFill>
              </a:rPr>
              <a:t>ACADEMIC  ACTIVITIES</a:t>
            </a:r>
            <a:endParaRPr i="1">
              <a:solidFill>
                <a:schemeClr val="dk1"/>
              </a:solidFill>
            </a:endParaRPr>
          </a:p>
          <a:p>
            <a:pPr indent="-361950" lvl="0" marL="457200" rtl="0" algn="ctr">
              <a:spcBef>
                <a:spcPts val="0"/>
              </a:spcBef>
              <a:spcAft>
                <a:spcPts val="0"/>
              </a:spcAft>
              <a:buClr>
                <a:schemeClr val="dk1"/>
              </a:buClr>
              <a:buSzPts val="2100"/>
              <a:buAutoNum type="arabicPeriod"/>
            </a:pPr>
            <a:r>
              <a:rPr i="1" lang="en">
                <a:solidFill>
                  <a:schemeClr val="dk1"/>
                </a:solidFill>
              </a:rPr>
              <a:t>PERSONAL  ACTIVITIES</a:t>
            </a:r>
            <a:endParaRPr i="1">
              <a:solidFill>
                <a:schemeClr val="dk1"/>
              </a:solidFill>
            </a:endParaRPr>
          </a:p>
          <a:p>
            <a:pPr indent="-361950" lvl="0" marL="457200" rtl="0" algn="ctr">
              <a:spcBef>
                <a:spcPts val="0"/>
              </a:spcBef>
              <a:spcAft>
                <a:spcPts val="0"/>
              </a:spcAft>
              <a:buClr>
                <a:schemeClr val="dk1"/>
              </a:buClr>
              <a:buSzPts val="2100"/>
              <a:buAutoNum type="arabicPeriod"/>
            </a:pPr>
            <a:r>
              <a:rPr i="1" lang="en">
                <a:solidFill>
                  <a:schemeClr val="dk1"/>
                </a:solidFill>
              </a:rPr>
              <a:t>MISCELLANEOUS  ACTIVITIES</a:t>
            </a:r>
            <a:endParaRPr i="1">
              <a:solidFill>
                <a:schemeClr val="dk1"/>
              </a:solidFill>
            </a:endParaRPr>
          </a:p>
          <a:p>
            <a:pPr indent="-361950" lvl="0" marL="457200" rtl="0" algn="ctr">
              <a:spcBef>
                <a:spcPts val="0"/>
              </a:spcBef>
              <a:spcAft>
                <a:spcPts val="0"/>
              </a:spcAft>
              <a:buClr>
                <a:schemeClr val="dk1"/>
              </a:buClr>
              <a:buSzPts val="2100"/>
              <a:buAutoNum type="arabicPeriod"/>
            </a:pPr>
            <a:r>
              <a:rPr i="1" lang="en">
                <a:solidFill>
                  <a:schemeClr val="dk1"/>
                </a:solidFill>
              </a:rPr>
              <a:t>COMMUNITY- BASED ACTIVITIES</a:t>
            </a:r>
            <a:endParaRPr i="1">
              <a:solidFill>
                <a:schemeClr val="dk1"/>
              </a:solidFill>
            </a:endParaRPr>
          </a:p>
          <a:p>
            <a:pPr indent="0" lvl="0" marL="457200" rtl="0" algn="ctr">
              <a:spcBef>
                <a:spcPts val="0"/>
              </a:spcBef>
              <a:spcAft>
                <a:spcPts val="0"/>
              </a:spcAft>
              <a:buNone/>
            </a:pPr>
            <a:r>
              <a:t/>
            </a:r>
            <a:endParaRPr i="1">
              <a:solidFill>
                <a:schemeClr val="dk1"/>
              </a:solidFill>
              <a:latin typeface="Caveat SemiBold"/>
              <a:ea typeface="Caveat SemiBold"/>
              <a:cs typeface="Caveat SemiBold"/>
              <a:sym typeface="Caveat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i="1" lang="en">
                <a:latin typeface="Average"/>
                <a:ea typeface="Average"/>
                <a:cs typeface="Average"/>
                <a:sym typeface="Average"/>
              </a:rPr>
              <a:t>ACADEMIC   ACTIVITIES</a:t>
            </a:r>
            <a:endParaRPr b="1" i="1">
              <a:latin typeface="Average"/>
              <a:ea typeface="Average"/>
              <a:cs typeface="Average"/>
              <a:sym typeface="Average"/>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Clr>
                <a:schemeClr val="dk1"/>
              </a:buClr>
              <a:buSzPct val="100000"/>
              <a:buChar char="●"/>
            </a:pPr>
            <a:r>
              <a:rPr i="1" lang="en">
                <a:solidFill>
                  <a:schemeClr val="dk1"/>
                </a:solidFill>
              </a:rPr>
              <a:t>When coming up with academic related activities, you may want to list those that are related to your career path, those that may show your academic rigor.et.c. However, whatever you choose had better have a connection with a part of your application(essays, recommendation letters.e.t.c)</a:t>
            </a:r>
            <a:endParaRPr i="1">
              <a:solidFill>
                <a:schemeClr val="dk1"/>
              </a:solidFill>
            </a:endParaRPr>
          </a:p>
          <a:p>
            <a:pPr indent="-325755" lvl="0" marL="457200" rtl="0" algn="l">
              <a:spcBef>
                <a:spcPts val="0"/>
              </a:spcBef>
              <a:spcAft>
                <a:spcPts val="0"/>
              </a:spcAft>
              <a:buClr>
                <a:schemeClr val="dk1"/>
              </a:buClr>
              <a:buSzPct val="100000"/>
              <a:buChar char="●"/>
            </a:pPr>
            <a:r>
              <a:rPr i="1" lang="en">
                <a:solidFill>
                  <a:schemeClr val="dk1"/>
                </a:solidFill>
              </a:rPr>
              <a:t>Types of academic activities- A. Engaging in STEM , Literature, or the Social Sciences clubs.</a:t>
            </a:r>
            <a:endParaRPr i="1">
              <a:solidFill>
                <a:schemeClr val="dk1"/>
              </a:solidFill>
            </a:endParaRPr>
          </a:p>
          <a:p>
            <a:pPr indent="0" lvl="0" marL="457200" rtl="0" algn="l">
              <a:spcBef>
                <a:spcPts val="1200"/>
              </a:spcBef>
              <a:spcAft>
                <a:spcPts val="0"/>
              </a:spcAft>
              <a:buNone/>
            </a:pPr>
            <a:r>
              <a:rPr i="1" lang="en">
                <a:solidFill>
                  <a:schemeClr val="dk1"/>
                </a:solidFill>
              </a:rPr>
              <a:t>                                         B.  Participating in a SCIENCE fair. (e.g. The Kenya Engineering, and Science fair)</a:t>
            </a:r>
            <a:endParaRPr i="1">
              <a:solidFill>
                <a:schemeClr val="dk1"/>
              </a:solidFill>
            </a:endParaRPr>
          </a:p>
          <a:p>
            <a:pPr indent="0" lvl="0" marL="457200" rtl="0" algn="l">
              <a:spcBef>
                <a:spcPts val="1200"/>
              </a:spcBef>
              <a:spcAft>
                <a:spcPts val="0"/>
              </a:spcAft>
              <a:buNone/>
            </a:pPr>
            <a:r>
              <a:rPr i="1" lang="en">
                <a:solidFill>
                  <a:schemeClr val="dk1"/>
                </a:solidFill>
              </a:rPr>
              <a:t>                                        C.  Doing a research based on whatever subject.</a:t>
            </a:r>
            <a:endParaRPr i="1">
              <a:solidFill>
                <a:schemeClr val="dk1"/>
              </a:solidFill>
            </a:endParaRPr>
          </a:p>
          <a:p>
            <a:pPr indent="0" lvl="0" marL="0" rtl="0" algn="l">
              <a:spcBef>
                <a:spcPts val="1200"/>
              </a:spcBef>
              <a:spcAft>
                <a:spcPts val="0"/>
              </a:spcAft>
              <a:buNone/>
            </a:pPr>
            <a:r>
              <a:rPr i="1" lang="en">
                <a:latin typeface="Caveat SemiBold"/>
                <a:ea typeface="Caveat SemiBold"/>
                <a:cs typeface="Caveat SemiBold"/>
                <a:sym typeface="Caveat SemiBold"/>
              </a:rPr>
              <a:t>                                            </a:t>
            </a:r>
            <a:endParaRPr i="1">
              <a:latin typeface="Caveat SemiBold"/>
              <a:ea typeface="Caveat SemiBold"/>
              <a:cs typeface="Caveat SemiBold"/>
              <a:sym typeface="Caveat SemiBold"/>
            </a:endParaRPr>
          </a:p>
          <a:p>
            <a:pPr indent="0" lvl="0" marL="0" rtl="0" algn="l">
              <a:spcBef>
                <a:spcPts val="1200"/>
              </a:spcBef>
              <a:spcAft>
                <a:spcPts val="1200"/>
              </a:spcAft>
              <a:buNone/>
            </a:pPr>
            <a:r>
              <a:t/>
            </a:r>
            <a:endParaRPr i="1">
              <a:latin typeface="Caveat SemiBold"/>
              <a:ea typeface="Caveat SemiBold"/>
              <a:cs typeface="Caveat SemiBold"/>
              <a:sym typeface="Caveat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i="1" lang="en">
                <a:latin typeface="Average"/>
                <a:ea typeface="Average"/>
                <a:cs typeface="Average"/>
                <a:sym typeface="Average"/>
              </a:rPr>
              <a:t>PERSONAL ACTIVITIES</a:t>
            </a:r>
            <a:endParaRPr b="1" i="1">
              <a:latin typeface="Average"/>
              <a:ea typeface="Average"/>
              <a:cs typeface="Average"/>
              <a:sym typeface="Average"/>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i="1" lang="en">
                <a:solidFill>
                  <a:schemeClr val="dk1"/>
                </a:solidFill>
              </a:rPr>
              <a:t>These basically emphasize who you were beyond your test scores, and grades. You want to talk about stuff that’s connected to what you personally enjoy.</a:t>
            </a:r>
            <a:endParaRPr i="1">
              <a:solidFill>
                <a:schemeClr val="dk1"/>
              </a:solidFill>
            </a:endParaRPr>
          </a:p>
          <a:p>
            <a:pPr indent="-342900" lvl="0" marL="457200" rtl="0" algn="l">
              <a:spcBef>
                <a:spcPts val="0"/>
              </a:spcBef>
              <a:spcAft>
                <a:spcPts val="0"/>
              </a:spcAft>
              <a:buClr>
                <a:schemeClr val="dk1"/>
              </a:buClr>
              <a:buSzPts val="1800"/>
              <a:buChar char="●"/>
            </a:pPr>
            <a:r>
              <a:rPr i="1" lang="en">
                <a:solidFill>
                  <a:schemeClr val="dk1"/>
                </a:solidFill>
              </a:rPr>
              <a:t>Types of personality activities-</a:t>
            </a:r>
            <a:endParaRPr i="1">
              <a:solidFill>
                <a:schemeClr val="dk1"/>
              </a:solidFill>
            </a:endParaRPr>
          </a:p>
          <a:p>
            <a:pPr indent="0" lvl="0" marL="457200" rtl="0" algn="l">
              <a:spcBef>
                <a:spcPts val="1200"/>
              </a:spcBef>
              <a:spcAft>
                <a:spcPts val="0"/>
              </a:spcAft>
              <a:buNone/>
            </a:pPr>
            <a:r>
              <a:rPr i="1" lang="en">
                <a:solidFill>
                  <a:schemeClr val="dk1"/>
                </a:solidFill>
              </a:rPr>
              <a:t>              A. Talent-based </a:t>
            </a:r>
            <a:r>
              <a:rPr i="1" lang="en">
                <a:solidFill>
                  <a:schemeClr val="dk1"/>
                </a:solidFill>
              </a:rPr>
              <a:t>activities .e.g. Playing a musical instrument, doing art, e.t.c.</a:t>
            </a:r>
            <a:endParaRPr i="1">
              <a:solidFill>
                <a:schemeClr val="dk1"/>
              </a:solidFill>
            </a:endParaRPr>
          </a:p>
          <a:p>
            <a:pPr indent="0" lvl="0" marL="457200" rtl="0" algn="l">
              <a:spcBef>
                <a:spcPts val="1200"/>
              </a:spcBef>
              <a:spcAft>
                <a:spcPts val="0"/>
              </a:spcAft>
              <a:buNone/>
            </a:pPr>
            <a:r>
              <a:rPr i="1" lang="en">
                <a:solidFill>
                  <a:schemeClr val="dk1"/>
                </a:solidFill>
              </a:rPr>
              <a:t>             B. Hobby-based activities e.g. Playing chess, doing embroidery .e.t.c.</a:t>
            </a:r>
            <a:endParaRPr i="1">
              <a:solidFill>
                <a:schemeClr val="dk1"/>
              </a:solidFill>
            </a:endParaRPr>
          </a:p>
          <a:p>
            <a:pPr indent="0" lvl="0" marL="457200" rtl="0" algn="l">
              <a:spcBef>
                <a:spcPts val="1200"/>
              </a:spcBef>
              <a:spcAft>
                <a:spcPts val="1200"/>
              </a:spcAft>
              <a:buNone/>
            </a:pPr>
            <a:r>
              <a:rPr i="1" lang="en">
                <a:solidFill>
                  <a:schemeClr val="dk1"/>
                </a:solidFill>
              </a:rPr>
              <a:t>             C. Taking part in competitions related to the above- e.g. Doing a solo-verse in the Kenya Music Festivals, taking part in the national Chess Competitions, having your art displayed in a gallery.e.t.c</a:t>
            </a:r>
            <a:endParaRPr i="1">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COMMUNITY BASED ACTIVITIES</a:t>
            </a:r>
            <a:endParaRPr i="1">
              <a:latin typeface="Average"/>
              <a:ea typeface="Average"/>
              <a:cs typeface="Average"/>
              <a:sym typeface="Average"/>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Clr>
                <a:schemeClr val="dk1"/>
              </a:buClr>
              <a:buSzPct val="100000"/>
              <a:buChar char="●"/>
            </a:pPr>
            <a:r>
              <a:rPr i="1" lang="en">
                <a:solidFill>
                  <a:schemeClr val="dk1"/>
                </a:solidFill>
              </a:rPr>
              <a:t>These include service or volunteering in community stuff. Basically, anything that doesn’t benefit you but your community.</a:t>
            </a:r>
            <a:endParaRPr i="1">
              <a:solidFill>
                <a:schemeClr val="dk1"/>
              </a:solidFill>
            </a:endParaRPr>
          </a:p>
          <a:p>
            <a:pPr indent="-334327" lvl="0" marL="457200" rtl="0" algn="l">
              <a:spcBef>
                <a:spcPts val="0"/>
              </a:spcBef>
              <a:spcAft>
                <a:spcPts val="0"/>
              </a:spcAft>
              <a:buClr>
                <a:schemeClr val="dk1"/>
              </a:buClr>
              <a:buSzPct val="100000"/>
              <a:buChar char="●"/>
            </a:pPr>
            <a:r>
              <a:rPr i="1" lang="en">
                <a:solidFill>
                  <a:schemeClr val="dk1"/>
                </a:solidFill>
              </a:rPr>
              <a:t>Types of community-based activities</a:t>
            </a:r>
            <a:endParaRPr i="1">
              <a:solidFill>
                <a:schemeClr val="dk1"/>
              </a:solidFill>
            </a:endParaRPr>
          </a:p>
          <a:p>
            <a:pPr indent="0" lvl="0" marL="0" rtl="0" algn="l">
              <a:spcBef>
                <a:spcPts val="1200"/>
              </a:spcBef>
              <a:spcAft>
                <a:spcPts val="0"/>
              </a:spcAft>
              <a:buNone/>
            </a:pPr>
            <a:r>
              <a:rPr i="1" lang="en">
                <a:solidFill>
                  <a:schemeClr val="dk1"/>
                </a:solidFill>
              </a:rPr>
              <a:t>                                  A.  S</a:t>
            </a:r>
            <a:r>
              <a:rPr i="1" lang="en">
                <a:solidFill>
                  <a:schemeClr val="dk1"/>
                </a:solidFill>
              </a:rPr>
              <a:t>treet dancing as a way of raising money for a particular community-based organisation.e.g. A dancing club for children from low-income households.</a:t>
            </a:r>
            <a:endParaRPr i="1">
              <a:solidFill>
                <a:schemeClr val="dk1"/>
              </a:solidFill>
            </a:endParaRPr>
          </a:p>
          <a:p>
            <a:pPr indent="0" lvl="0" marL="0" rtl="0" algn="l">
              <a:spcBef>
                <a:spcPts val="1200"/>
              </a:spcBef>
              <a:spcAft>
                <a:spcPts val="0"/>
              </a:spcAft>
              <a:buNone/>
            </a:pPr>
            <a:r>
              <a:rPr i="1" lang="en">
                <a:solidFill>
                  <a:schemeClr val="dk1"/>
                </a:solidFill>
              </a:rPr>
              <a:t>                                 B. Engaging in an environment clean up project .e.g. The popular Kazi Mtaani project for young Kenyans.</a:t>
            </a:r>
            <a:endParaRPr i="1">
              <a:solidFill>
                <a:schemeClr val="dk1"/>
              </a:solidFill>
            </a:endParaRPr>
          </a:p>
          <a:p>
            <a:pPr indent="0" lvl="0" marL="0" rtl="0" algn="l">
              <a:spcBef>
                <a:spcPts val="1200"/>
              </a:spcBef>
              <a:spcAft>
                <a:spcPts val="0"/>
              </a:spcAft>
              <a:buNone/>
            </a:pPr>
            <a:r>
              <a:rPr i="1" lang="en">
                <a:solidFill>
                  <a:schemeClr val="dk1"/>
                </a:solidFill>
              </a:rPr>
              <a:t>                                 C.  Coming up with a platform for collective donations to orphanages…et.c</a:t>
            </a:r>
            <a:endParaRPr i="1">
              <a:solidFill>
                <a:schemeClr val="dk1"/>
              </a:solidFill>
            </a:endParaRPr>
          </a:p>
          <a:p>
            <a:pPr indent="0" lvl="0" marL="0" rtl="0" algn="l">
              <a:spcBef>
                <a:spcPts val="1200"/>
              </a:spcBef>
              <a:spcAft>
                <a:spcPts val="0"/>
              </a:spcAft>
              <a:buNone/>
            </a:pPr>
            <a:r>
              <a:t/>
            </a:r>
            <a:endParaRPr i="1">
              <a:solidFill>
                <a:schemeClr val="dk1"/>
              </a:solidFill>
            </a:endParaRPr>
          </a:p>
          <a:p>
            <a:pPr indent="0" lvl="0" marL="0" rtl="0" algn="l">
              <a:spcBef>
                <a:spcPts val="1200"/>
              </a:spcBef>
              <a:spcAft>
                <a:spcPts val="1200"/>
              </a:spcAft>
              <a:buNone/>
            </a:pPr>
            <a:r>
              <a:t/>
            </a:r>
            <a:endParaRPr i="1">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MISCELLANEOUS  ACTIVITIES</a:t>
            </a:r>
            <a:endParaRPr i="1">
              <a:latin typeface="Average"/>
              <a:ea typeface="Average"/>
              <a:cs typeface="Average"/>
              <a:sym typeface="Average"/>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i="1" lang="en">
                <a:solidFill>
                  <a:schemeClr val="dk1"/>
                </a:solidFill>
              </a:rPr>
              <a:t>Refers to anything else that doesn’t fall in the three mentioned categories.</a:t>
            </a:r>
            <a:endParaRPr i="1">
              <a:solidFill>
                <a:schemeClr val="dk1"/>
              </a:solidFill>
            </a:endParaRPr>
          </a:p>
          <a:p>
            <a:pPr indent="-342900" lvl="0" marL="457200" rtl="0" algn="l">
              <a:spcBef>
                <a:spcPts val="0"/>
              </a:spcBef>
              <a:spcAft>
                <a:spcPts val="0"/>
              </a:spcAft>
              <a:buClr>
                <a:schemeClr val="dk1"/>
              </a:buClr>
              <a:buSzPts val="1800"/>
              <a:buChar char="●"/>
            </a:pPr>
            <a:r>
              <a:rPr i="1" lang="en">
                <a:solidFill>
                  <a:schemeClr val="dk1"/>
                </a:solidFill>
              </a:rPr>
              <a:t>These include-</a:t>
            </a:r>
            <a:endParaRPr i="1">
              <a:solidFill>
                <a:schemeClr val="dk1"/>
              </a:solidFill>
            </a:endParaRPr>
          </a:p>
          <a:p>
            <a:pPr indent="0" lvl="0" marL="0" rtl="0" algn="l">
              <a:spcBef>
                <a:spcPts val="1200"/>
              </a:spcBef>
              <a:spcAft>
                <a:spcPts val="0"/>
              </a:spcAft>
              <a:buNone/>
            </a:pPr>
            <a:r>
              <a:rPr i="1" lang="en">
                <a:solidFill>
                  <a:schemeClr val="dk1"/>
                </a:solidFill>
              </a:rPr>
              <a:t>                                  A. Doing an internship at any organisation.e.g. The Equity Group Foundation.</a:t>
            </a:r>
            <a:endParaRPr i="1">
              <a:solidFill>
                <a:schemeClr val="dk1"/>
              </a:solidFill>
            </a:endParaRPr>
          </a:p>
          <a:p>
            <a:pPr indent="0" lvl="0" marL="0" rtl="0" algn="l">
              <a:spcBef>
                <a:spcPts val="1200"/>
              </a:spcBef>
              <a:spcAft>
                <a:spcPts val="0"/>
              </a:spcAft>
              <a:buNone/>
            </a:pPr>
            <a:r>
              <a:rPr i="1" lang="en">
                <a:solidFill>
                  <a:schemeClr val="dk1"/>
                </a:solidFill>
              </a:rPr>
              <a:t>                                 B. Doing a part-time job.</a:t>
            </a:r>
            <a:endParaRPr i="1">
              <a:solidFill>
                <a:schemeClr val="dk1"/>
              </a:solidFill>
            </a:endParaRPr>
          </a:p>
          <a:p>
            <a:pPr indent="0" lvl="0" marL="0" rtl="0" algn="l">
              <a:spcBef>
                <a:spcPts val="1200"/>
              </a:spcBef>
              <a:spcAft>
                <a:spcPts val="0"/>
              </a:spcAft>
              <a:buNone/>
            </a:pPr>
            <a:r>
              <a:rPr i="1" lang="en">
                <a:solidFill>
                  <a:schemeClr val="dk1"/>
                </a:solidFill>
              </a:rPr>
              <a:t>                                C. Having a student-government position at your high school.</a:t>
            </a:r>
            <a:endParaRPr i="1">
              <a:solidFill>
                <a:schemeClr val="dk1"/>
              </a:solidFill>
            </a:endParaRPr>
          </a:p>
          <a:p>
            <a:pPr indent="0" lvl="0" marL="0" rtl="0" algn="l">
              <a:spcBef>
                <a:spcPts val="1200"/>
              </a:spcBef>
              <a:spcAft>
                <a:spcPts val="0"/>
              </a:spcAft>
              <a:buNone/>
            </a:pPr>
            <a:r>
              <a:rPr i="1" lang="en">
                <a:solidFill>
                  <a:schemeClr val="dk1"/>
                </a:solidFill>
              </a:rPr>
              <a:t>                                E. T. C</a:t>
            </a:r>
            <a:endParaRPr i="1">
              <a:solidFill>
                <a:schemeClr val="dk1"/>
              </a:solidFill>
            </a:endParaRPr>
          </a:p>
          <a:p>
            <a:pPr indent="0" lvl="0" marL="0" rtl="0" algn="l">
              <a:spcBef>
                <a:spcPts val="1200"/>
              </a:spcBef>
              <a:spcAft>
                <a:spcPts val="1200"/>
              </a:spcAft>
              <a:buNone/>
            </a:pPr>
            <a:r>
              <a:t/>
            </a:r>
            <a:endParaRPr i="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i="1" lang="en" sz="2400">
                <a:latin typeface="Average"/>
                <a:ea typeface="Average"/>
                <a:cs typeface="Average"/>
                <a:sym typeface="Average"/>
              </a:rPr>
              <a:t>ACTIVITIES THAT COLLEGES MIGHT FIND A BIT CLICHE</a:t>
            </a:r>
            <a:endParaRPr i="1" sz="2400">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Almost everyone has played a Sport in school.</a:t>
            </a:r>
            <a:endParaRPr i="1">
              <a:solidFill>
                <a:schemeClr val="dk1"/>
              </a:solidFill>
            </a:endParaRPr>
          </a:p>
          <a:p>
            <a:pPr indent="0" lvl="0" marL="0" rtl="0" algn="l">
              <a:spcBef>
                <a:spcPts val="1200"/>
              </a:spcBef>
              <a:spcAft>
                <a:spcPts val="0"/>
              </a:spcAft>
              <a:buNone/>
            </a:pPr>
            <a:r>
              <a:rPr i="1" lang="en">
                <a:solidFill>
                  <a:schemeClr val="dk1"/>
                </a:solidFill>
              </a:rPr>
              <a:t>Exceptionals in this case include-</a:t>
            </a:r>
            <a:endParaRPr i="1">
              <a:solidFill>
                <a:schemeClr val="dk1"/>
              </a:solidFill>
            </a:endParaRPr>
          </a:p>
          <a:p>
            <a:pPr indent="0" lvl="0" marL="0" rtl="0" algn="l">
              <a:spcBef>
                <a:spcPts val="1200"/>
              </a:spcBef>
              <a:spcAft>
                <a:spcPts val="0"/>
              </a:spcAft>
              <a:buNone/>
            </a:pPr>
            <a:r>
              <a:rPr i="1" lang="en">
                <a:solidFill>
                  <a:schemeClr val="dk1"/>
                </a:solidFill>
              </a:rPr>
              <a:t>               -Being a national or international player in any sport, or being a captain in an interesting sport.</a:t>
            </a:r>
            <a:endParaRPr i="1">
              <a:solidFill>
                <a:schemeClr val="dk1"/>
              </a:solidFill>
            </a:endParaRPr>
          </a:p>
          <a:p>
            <a:pPr indent="0" lvl="0" marL="0" rtl="0" algn="l">
              <a:spcBef>
                <a:spcPts val="1200"/>
              </a:spcBef>
              <a:spcAft>
                <a:spcPts val="1200"/>
              </a:spcAft>
              <a:buNone/>
            </a:pPr>
            <a:r>
              <a:rPr i="1" lang="en">
                <a:solidFill>
                  <a:schemeClr val="dk1"/>
                </a:solidFill>
              </a:rPr>
              <a:t>              -Instead of being a member of a school team, try mentioning stuff like being a Sportswriter for your School magazine.</a:t>
            </a:r>
            <a:endParaRPr i="1">
              <a:solidFill>
                <a:schemeClr val="dk1"/>
              </a:solidFill>
            </a:endParaRPr>
          </a:p>
        </p:txBody>
      </p:sp>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THE NORMAL SPORTY STUFF</a:t>
            </a:r>
            <a:endParaRPr i="1">
              <a:latin typeface="Average"/>
              <a:ea typeface="Average"/>
              <a:cs typeface="Average"/>
              <a:sym typeface="Averag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TRADITIONAL VOLUNTEER WORK</a:t>
            </a:r>
            <a:endParaRPr i="1">
              <a:latin typeface="Average"/>
              <a:ea typeface="Average"/>
              <a:cs typeface="Average"/>
              <a:sym typeface="Average"/>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This includes, but is not limited to, visiting orphanages to help with cleaning up.</a:t>
            </a:r>
            <a:endParaRPr i="1">
              <a:solidFill>
                <a:schemeClr val="dk1"/>
              </a:solidFill>
            </a:endParaRPr>
          </a:p>
          <a:p>
            <a:pPr indent="0" lvl="0" marL="0" rtl="0" algn="l">
              <a:spcBef>
                <a:spcPts val="1200"/>
              </a:spcBef>
              <a:spcAft>
                <a:spcPts val="0"/>
              </a:spcAft>
              <a:buNone/>
            </a:pPr>
            <a:r>
              <a:rPr i="1" lang="en">
                <a:solidFill>
                  <a:schemeClr val="dk1"/>
                </a:solidFill>
              </a:rPr>
              <a:t>Instead, you can try mentioning things like-</a:t>
            </a:r>
            <a:endParaRPr i="1">
              <a:solidFill>
                <a:schemeClr val="dk1"/>
              </a:solidFill>
            </a:endParaRPr>
          </a:p>
          <a:p>
            <a:pPr indent="0" lvl="0" marL="0" rtl="0" algn="l">
              <a:spcBef>
                <a:spcPts val="1200"/>
              </a:spcBef>
              <a:spcAft>
                <a:spcPts val="0"/>
              </a:spcAft>
              <a:buNone/>
            </a:pPr>
            <a:r>
              <a:rPr i="1" lang="en">
                <a:solidFill>
                  <a:schemeClr val="dk1"/>
                </a:solidFill>
              </a:rPr>
              <a:t>                    -Street dancing for donations, incase you’re a dancer.</a:t>
            </a:r>
            <a:endParaRPr i="1">
              <a:solidFill>
                <a:schemeClr val="dk1"/>
              </a:solidFill>
            </a:endParaRPr>
          </a:p>
          <a:p>
            <a:pPr indent="0" lvl="0" marL="0" rtl="0" algn="l">
              <a:spcBef>
                <a:spcPts val="1200"/>
              </a:spcBef>
              <a:spcAft>
                <a:spcPts val="0"/>
              </a:spcAft>
              <a:buNone/>
            </a:pPr>
            <a:r>
              <a:rPr i="1" lang="en">
                <a:solidFill>
                  <a:schemeClr val="dk1"/>
                </a:solidFill>
              </a:rPr>
              <a:t>                    -Street music for donations, incase you’re a musician.</a:t>
            </a:r>
            <a:endParaRPr i="1">
              <a:solidFill>
                <a:schemeClr val="dk1"/>
              </a:solidFill>
            </a:endParaRPr>
          </a:p>
          <a:p>
            <a:pPr indent="0" lvl="0" marL="0" rtl="0" algn="l">
              <a:spcBef>
                <a:spcPts val="1200"/>
              </a:spcBef>
              <a:spcAft>
                <a:spcPts val="0"/>
              </a:spcAft>
              <a:buNone/>
            </a:pPr>
            <a:r>
              <a:rPr i="1" lang="en">
                <a:solidFill>
                  <a:schemeClr val="dk1"/>
                </a:solidFill>
              </a:rPr>
              <a:t>                   -Tutoring refugees your national language if you’re a language expert.</a:t>
            </a:r>
            <a:endParaRPr i="1">
              <a:solidFill>
                <a:schemeClr val="dk1"/>
              </a:solidFill>
            </a:endParaRPr>
          </a:p>
          <a:p>
            <a:pPr indent="0" lvl="0" marL="0" rtl="0" algn="l">
              <a:spcBef>
                <a:spcPts val="1200"/>
              </a:spcBef>
              <a:spcAft>
                <a:spcPts val="1200"/>
              </a:spcAft>
              <a:buNone/>
            </a:pPr>
            <a:r>
              <a:rPr i="1" lang="en">
                <a:solidFill>
                  <a:schemeClr val="dk1"/>
                </a:solidFill>
              </a:rPr>
              <a:t>                   - Organising a fundraising event for a research on a disease, if you’re Biology oriented.</a:t>
            </a:r>
            <a:endParaRPr i="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CLUBS IN WHICH YOU WERE JUST A MEMBER</a:t>
            </a:r>
            <a:endParaRPr i="1">
              <a:latin typeface="Average"/>
              <a:ea typeface="Average"/>
              <a:cs typeface="Average"/>
              <a:sym typeface="Average"/>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You need not mention all the clubs that you were members in.</a:t>
            </a:r>
            <a:endParaRPr i="1">
              <a:solidFill>
                <a:schemeClr val="dk1"/>
              </a:solidFill>
            </a:endParaRPr>
          </a:p>
          <a:p>
            <a:pPr indent="0" lvl="0" marL="0" rtl="0" algn="l">
              <a:spcBef>
                <a:spcPts val="1200"/>
              </a:spcBef>
              <a:spcAft>
                <a:spcPts val="0"/>
              </a:spcAft>
              <a:buNone/>
            </a:pPr>
            <a:r>
              <a:rPr i="1" lang="en">
                <a:solidFill>
                  <a:schemeClr val="dk1"/>
                </a:solidFill>
              </a:rPr>
              <a:t>Try prioritising those clubs in which you made a significant change, or those you held a leadership position.</a:t>
            </a:r>
            <a:endParaRPr i="1">
              <a:solidFill>
                <a:schemeClr val="dk1"/>
              </a:solidFill>
            </a:endParaRPr>
          </a:p>
          <a:p>
            <a:pPr indent="0" lvl="0" marL="0" rtl="0" algn="l">
              <a:spcBef>
                <a:spcPts val="1200"/>
              </a:spcBef>
              <a:spcAft>
                <a:spcPts val="1200"/>
              </a:spcAft>
              <a:buNone/>
            </a:pPr>
            <a:r>
              <a:t/>
            </a:r>
            <a:endParaRPr i="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i="1" lang="en">
                <a:latin typeface="Average"/>
                <a:ea typeface="Average"/>
                <a:cs typeface="Average"/>
                <a:sym typeface="Average"/>
              </a:rPr>
              <a:t>COMMON MISTAKES TO AVOID</a:t>
            </a:r>
            <a:endParaRPr i="1">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LEAVING OUT SIGNIFICANT ACTIVITIES</a:t>
            </a:r>
            <a:endParaRPr i="1">
              <a:latin typeface="Average"/>
              <a:ea typeface="Average"/>
              <a:cs typeface="Average"/>
              <a:sym typeface="Average"/>
            </a:endParaRPr>
          </a:p>
        </p:txBody>
      </p:sp>
      <p:sp>
        <p:nvSpPr>
          <p:cNvPr id="129" name="Google Shape;12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Anything you’ve spent significant time outside of class(not just official clubs or organisations) is an extracurricular activity.</a:t>
            </a:r>
            <a:endParaRPr i="1">
              <a:solidFill>
                <a:schemeClr val="dk1"/>
              </a:solidFill>
            </a:endParaRPr>
          </a:p>
          <a:p>
            <a:pPr indent="0" lvl="0" marL="0" rtl="0" algn="l">
              <a:spcBef>
                <a:spcPts val="1200"/>
              </a:spcBef>
              <a:spcAft>
                <a:spcPts val="0"/>
              </a:spcAft>
              <a:buNone/>
            </a:pPr>
            <a:r>
              <a:rPr i="1" lang="en">
                <a:solidFill>
                  <a:schemeClr val="dk1"/>
                </a:solidFill>
              </a:rPr>
              <a:t>These include- </a:t>
            </a:r>
            <a:endParaRPr i="1">
              <a:solidFill>
                <a:schemeClr val="dk1"/>
              </a:solidFill>
            </a:endParaRPr>
          </a:p>
          <a:p>
            <a:pPr indent="0" lvl="0" marL="0" rtl="0" algn="l">
              <a:spcBef>
                <a:spcPts val="1200"/>
              </a:spcBef>
              <a:spcAft>
                <a:spcPts val="0"/>
              </a:spcAft>
              <a:buNone/>
            </a:pPr>
            <a:r>
              <a:rPr i="1" lang="en">
                <a:solidFill>
                  <a:schemeClr val="dk1"/>
                </a:solidFill>
              </a:rPr>
              <a:t>                      (: that job you have</a:t>
            </a:r>
            <a:endParaRPr i="1">
              <a:solidFill>
                <a:schemeClr val="dk1"/>
              </a:solidFill>
            </a:endParaRPr>
          </a:p>
          <a:p>
            <a:pPr indent="0" lvl="0" marL="0" rtl="0" algn="l">
              <a:spcBef>
                <a:spcPts val="1200"/>
              </a:spcBef>
              <a:spcAft>
                <a:spcPts val="0"/>
              </a:spcAft>
              <a:buNone/>
            </a:pPr>
            <a:r>
              <a:rPr i="1" lang="en">
                <a:solidFill>
                  <a:schemeClr val="dk1"/>
                </a:solidFill>
              </a:rPr>
              <a:t>                      (: time spent caring, and cooking for family</a:t>
            </a:r>
            <a:endParaRPr i="1">
              <a:solidFill>
                <a:schemeClr val="dk1"/>
              </a:solidFill>
            </a:endParaRPr>
          </a:p>
          <a:p>
            <a:pPr indent="0" lvl="0" marL="0" rtl="0" algn="l">
              <a:spcBef>
                <a:spcPts val="1200"/>
              </a:spcBef>
              <a:spcAft>
                <a:spcPts val="1200"/>
              </a:spcAft>
              <a:buNone/>
            </a:pPr>
            <a:r>
              <a:rPr i="1" lang="en">
                <a:solidFill>
                  <a:schemeClr val="dk1"/>
                </a:solidFill>
              </a:rPr>
              <a:t>                      (:something that had a big impact on you</a:t>
            </a:r>
            <a:endParaRPr i="1">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208350" y="333375"/>
            <a:ext cx="4045200" cy="1736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i="1" lang="en">
                <a:latin typeface="Average"/>
                <a:ea typeface="Average"/>
                <a:cs typeface="Average"/>
                <a:sym typeface="Average"/>
              </a:rPr>
              <a:t>NOT USING NUMBERS TO QUANTIFY</a:t>
            </a:r>
            <a:endParaRPr i="1">
              <a:latin typeface="Average"/>
              <a:ea typeface="Average"/>
              <a:cs typeface="Average"/>
              <a:sym typeface="Average"/>
            </a:endParaRPr>
          </a:p>
        </p:txBody>
      </p:sp>
      <p:sp>
        <p:nvSpPr>
          <p:cNvPr id="135" name="Google Shape;135;p26"/>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fontScale="55000" lnSpcReduction="10000"/>
          </a:bodyPr>
          <a:lstStyle/>
          <a:p>
            <a:pPr indent="0" lvl="0" marL="0" rtl="0" algn="l">
              <a:spcBef>
                <a:spcPts val="0"/>
              </a:spcBef>
              <a:spcAft>
                <a:spcPts val="0"/>
              </a:spcAft>
              <a:buNone/>
            </a:pPr>
            <a:r>
              <a:rPr i="1" lang="en" sz="1700">
                <a:solidFill>
                  <a:schemeClr val="dk1"/>
                </a:solidFill>
              </a:rPr>
              <a:t>Emphasise, and quantify tangible, measurable impact.</a:t>
            </a:r>
            <a:endParaRPr i="1" sz="1700">
              <a:solidFill>
                <a:schemeClr val="dk1"/>
              </a:solidFill>
            </a:endParaRPr>
          </a:p>
          <a:p>
            <a:pPr indent="-303733" lvl="0" marL="457200" rtl="0" algn="l">
              <a:spcBef>
                <a:spcPts val="1200"/>
              </a:spcBef>
              <a:spcAft>
                <a:spcPts val="0"/>
              </a:spcAft>
              <a:buSzPct val="100000"/>
              <a:buAutoNum type="arabicPeriod"/>
            </a:pPr>
            <a:r>
              <a:rPr i="1" lang="en" sz="2151"/>
              <a:t>Raised money👎</a:t>
            </a:r>
            <a:endParaRPr i="1" sz="2151"/>
          </a:p>
          <a:p>
            <a:pPr indent="0" lvl="0" marL="0" rtl="0" algn="l">
              <a:spcBef>
                <a:spcPts val="1200"/>
              </a:spcBef>
              <a:spcAft>
                <a:spcPts val="0"/>
              </a:spcAft>
              <a:buNone/>
            </a:pPr>
            <a:r>
              <a:rPr i="1" lang="en" sz="2151"/>
              <a:t>      Raised 1000 Kenyan Shillings👍</a:t>
            </a:r>
            <a:endParaRPr i="1" sz="2151"/>
          </a:p>
          <a:p>
            <a:pPr indent="-303733" lvl="0" marL="457200" rtl="0" algn="l">
              <a:spcBef>
                <a:spcPts val="1200"/>
              </a:spcBef>
              <a:spcAft>
                <a:spcPts val="0"/>
              </a:spcAft>
              <a:buSzPct val="100000"/>
              <a:buAutoNum type="arabicPeriod"/>
            </a:pPr>
            <a:r>
              <a:rPr i="1" lang="en" sz="2151"/>
              <a:t>Collected canned food</a:t>
            </a:r>
            <a:r>
              <a:rPr i="1" lang="en" sz="2151"/>
              <a:t>👎</a:t>
            </a:r>
            <a:endParaRPr i="1" sz="2151"/>
          </a:p>
          <a:p>
            <a:pPr indent="0" lvl="0" marL="0" rtl="0" algn="l">
              <a:spcBef>
                <a:spcPts val="1200"/>
              </a:spcBef>
              <a:spcAft>
                <a:spcPts val="0"/>
              </a:spcAft>
              <a:buNone/>
            </a:pPr>
            <a:r>
              <a:rPr i="1" lang="en" sz="2151"/>
              <a:t>         Collected 100 cans of food</a:t>
            </a:r>
            <a:r>
              <a:rPr i="1" lang="en" sz="2151"/>
              <a:t>👍</a:t>
            </a:r>
            <a:endParaRPr i="1" sz="2151"/>
          </a:p>
          <a:p>
            <a:pPr indent="-303733" lvl="0" marL="457200" rtl="0" algn="l">
              <a:spcBef>
                <a:spcPts val="1200"/>
              </a:spcBef>
              <a:spcAft>
                <a:spcPts val="0"/>
              </a:spcAft>
              <a:buSzPct val="100000"/>
              <a:buAutoNum type="arabicPeriod"/>
            </a:pPr>
            <a:r>
              <a:rPr i="1" lang="en" sz="2151"/>
              <a:t>Tutored a group of students in Maths</a:t>
            </a:r>
            <a:r>
              <a:rPr i="1" lang="en" sz="2151"/>
              <a:t>👎</a:t>
            </a:r>
            <a:endParaRPr i="1" sz="2151"/>
          </a:p>
          <a:p>
            <a:pPr indent="0" lvl="0" marL="457200" rtl="0" algn="l">
              <a:spcBef>
                <a:spcPts val="1200"/>
              </a:spcBef>
              <a:spcAft>
                <a:spcPts val="0"/>
              </a:spcAft>
              <a:buNone/>
            </a:pPr>
            <a:r>
              <a:rPr i="1" lang="en" sz="2151"/>
              <a:t>Tutored a group of 5 students in linear Algebra</a:t>
            </a:r>
            <a:r>
              <a:rPr i="1" lang="en" sz="2151"/>
              <a:t>👍</a:t>
            </a:r>
            <a:endParaRPr i="1" sz="2151"/>
          </a:p>
          <a:p>
            <a:pPr indent="0" lvl="0" marL="457200" rtl="0" algn="l">
              <a:spcBef>
                <a:spcPts val="1200"/>
              </a:spcBef>
              <a:spcAft>
                <a:spcPts val="0"/>
              </a:spcAft>
              <a:buNone/>
            </a:pPr>
            <a:r>
              <a:rPr i="1" lang="en" sz="1700"/>
              <a:t> </a:t>
            </a:r>
            <a:r>
              <a:rPr i="1" lang="en" sz="1700">
                <a:solidFill>
                  <a:schemeClr val="dk1"/>
                </a:solidFill>
              </a:rPr>
              <a:t>did your activity help? </a:t>
            </a:r>
            <a:endParaRPr i="1" sz="1700">
              <a:solidFill>
                <a:schemeClr val="dk1"/>
              </a:solidFill>
            </a:endParaRPr>
          </a:p>
          <a:p>
            <a:pPr indent="0" lvl="0" marL="0" rtl="0" algn="l">
              <a:spcBef>
                <a:spcPts val="1200"/>
              </a:spcBef>
              <a:spcAft>
                <a:spcPts val="0"/>
              </a:spcAft>
              <a:buNone/>
            </a:pPr>
            <a:r>
              <a:rPr i="1" lang="en" sz="1700">
                <a:solidFill>
                  <a:schemeClr val="dk1"/>
                </a:solidFill>
              </a:rPr>
              <a:t>How many people did it help?</a:t>
            </a:r>
            <a:endParaRPr i="1" sz="1700">
              <a:solidFill>
                <a:schemeClr val="dk1"/>
              </a:solidFill>
            </a:endParaRPr>
          </a:p>
          <a:p>
            <a:pPr indent="0" lvl="0" marL="0" rtl="0" algn="l">
              <a:spcBef>
                <a:spcPts val="1200"/>
              </a:spcBef>
              <a:spcAft>
                <a:spcPts val="0"/>
              </a:spcAft>
              <a:buNone/>
            </a:pPr>
            <a:r>
              <a:rPr i="1" lang="en" sz="1700">
                <a:solidFill>
                  <a:schemeClr val="dk1"/>
                </a:solidFill>
              </a:rPr>
              <a:t>How much money did you raise?</a:t>
            </a:r>
            <a:endParaRPr i="1" sz="1700">
              <a:solidFill>
                <a:schemeClr val="dk1"/>
              </a:solidFill>
            </a:endParaRPr>
          </a:p>
          <a:p>
            <a:pPr indent="0" lvl="0" marL="0" rtl="0" algn="l">
              <a:spcBef>
                <a:spcPts val="1200"/>
              </a:spcBef>
              <a:spcAft>
                <a:spcPts val="1200"/>
              </a:spcAft>
              <a:buNone/>
            </a:pPr>
            <a:r>
              <a:rPr i="1" lang="en" sz="1700">
                <a:solidFill>
                  <a:schemeClr val="dk1"/>
                </a:solidFill>
              </a:rPr>
              <a:t>It is a compact way to show the importance of what you’ve done.</a:t>
            </a:r>
            <a:endParaRPr i="1" sz="1700">
              <a:solidFill>
                <a:schemeClr val="dk1"/>
              </a:solidFill>
            </a:endParaRPr>
          </a:p>
        </p:txBody>
      </p:sp>
      <p:sp>
        <p:nvSpPr>
          <p:cNvPr id="136" name="Google Shape;136;p26"/>
          <p:cNvSpPr txBox="1"/>
          <p:nvPr>
            <p:ph idx="1" type="subTitle"/>
          </p:nvPr>
        </p:nvSpPr>
        <p:spPr>
          <a:xfrm>
            <a:off x="265500" y="1914525"/>
            <a:ext cx="4045200" cy="29433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None/>
            </a:pPr>
            <a:r>
              <a:rPr i="1" lang="en" sz="1700"/>
              <a:t>Emphasise, and quantify tangible, measurable impact.</a:t>
            </a:r>
            <a:endParaRPr i="1" sz="1700"/>
          </a:p>
          <a:p>
            <a:pPr indent="0" lvl="0" marL="0" rtl="0" algn="l">
              <a:lnSpc>
                <a:spcPct val="115000"/>
              </a:lnSpc>
              <a:spcBef>
                <a:spcPts val="1200"/>
              </a:spcBef>
              <a:spcAft>
                <a:spcPts val="0"/>
              </a:spcAft>
              <a:buNone/>
            </a:pPr>
            <a:r>
              <a:rPr i="1" lang="en" sz="1700"/>
              <a:t>Whom did your activity help? </a:t>
            </a:r>
            <a:endParaRPr i="1" sz="1700"/>
          </a:p>
          <a:p>
            <a:pPr indent="0" lvl="0" marL="0" rtl="0" algn="l">
              <a:lnSpc>
                <a:spcPct val="115000"/>
              </a:lnSpc>
              <a:spcBef>
                <a:spcPts val="1200"/>
              </a:spcBef>
              <a:spcAft>
                <a:spcPts val="0"/>
              </a:spcAft>
              <a:buNone/>
            </a:pPr>
            <a:r>
              <a:rPr i="1" lang="en" sz="1700"/>
              <a:t>How many people did it help?</a:t>
            </a:r>
            <a:endParaRPr i="1" sz="1700"/>
          </a:p>
          <a:p>
            <a:pPr indent="0" lvl="0" marL="0" rtl="0" algn="l">
              <a:lnSpc>
                <a:spcPct val="115000"/>
              </a:lnSpc>
              <a:spcBef>
                <a:spcPts val="1200"/>
              </a:spcBef>
              <a:spcAft>
                <a:spcPts val="0"/>
              </a:spcAft>
              <a:buNone/>
            </a:pPr>
            <a:r>
              <a:rPr i="1" lang="en" sz="1700"/>
              <a:t>How much money did you raise?</a:t>
            </a:r>
            <a:endParaRPr i="1" sz="1700"/>
          </a:p>
          <a:p>
            <a:pPr indent="0" lvl="0" marL="0" rtl="0" algn="l">
              <a:lnSpc>
                <a:spcPct val="115000"/>
              </a:lnSpc>
              <a:spcBef>
                <a:spcPts val="1200"/>
              </a:spcBef>
              <a:spcAft>
                <a:spcPts val="0"/>
              </a:spcAft>
              <a:buNone/>
            </a:pPr>
            <a:r>
              <a:rPr i="1" lang="en" sz="1700"/>
              <a:t>It is a compact way to show the importance of what you’ve done.</a:t>
            </a:r>
            <a:endParaRPr i="1" sz="1700"/>
          </a:p>
          <a:p>
            <a:pPr indent="0" lvl="0" marL="0" rtl="0" algn="ctr">
              <a:spcBef>
                <a:spcPts val="1200"/>
              </a:spcBef>
              <a:spcAft>
                <a:spcPts val="0"/>
              </a:spcAft>
              <a:buNone/>
            </a:pPr>
            <a:r>
              <a:t/>
            </a:r>
            <a:endParaRPr/>
          </a:p>
        </p:txBody>
      </p:sp>
      <p:sp>
        <p:nvSpPr>
          <p:cNvPr id="137" name="Google Shape;137;p26"/>
          <p:cNvSpPr txBox="1"/>
          <p:nvPr/>
        </p:nvSpPr>
        <p:spPr>
          <a:xfrm>
            <a:off x="152400" y="152400"/>
            <a:ext cx="3000000" cy="515700"/>
          </a:xfrm>
          <a:prstGeom prst="rect">
            <a:avLst/>
          </a:prstGeom>
          <a:noFill/>
          <a:ln>
            <a:noFill/>
          </a:ln>
        </p:spPr>
        <p:txBody>
          <a:bodyPr anchorCtr="0" anchor="t" bIns="91425" lIns="91425" spcFirstLastPara="1" rIns="91425" wrap="square" tIns="91425">
            <a:spAutoFit/>
          </a:bodyPr>
          <a:lstStyle/>
          <a:p>
            <a:pPr indent="-365206" lvl="0" marL="457200" rtl="0" algn="l">
              <a:lnSpc>
                <a:spcPct val="115000"/>
              </a:lnSpc>
              <a:spcBef>
                <a:spcPts val="0"/>
              </a:spcBef>
              <a:spcAft>
                <a:spcPts val="0"/>
              </a:spcAft>
              <a:buClr>
                <a:schemeClr val="lt1"/>
              </a:buClr>
              <a:buSzPts val="2151"/>
              <a:buFont typeface="Average"/>
              <a:buAutoNum type="arabicPeriod"/>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USING COMPLETE SENTENCES</a:t>
            </a:r>
            <a:endParaRPr i="1">
              <a:latin typeface="Average"/>
              <a:ea typeface="Average"/>
              <a:cs typeface="Average"/>
              <a:sym typeface="Average"/>
            </a:endParaRPr>
          </a:p>
        </p:txBody>
      </p:sp>
      <p:sp>
        <p:nvSpPr>
          <p:cNvPr id="143" name="Google Shape;14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You don’t have much space for each entry( 150 characters to describe an activity)</a:t>
            </a:r>
            <a:endParaRPr i="1">
              <a:solidFill>
                <a:schemeClr val="dk1"/>
              </a:solidFill>
            </a:endParaRPr>
          </a:p>
          <a:p>
            <a:pPr indent="0" lvl="0" marL="0" rtl="0" algn="l">
              <a:spcBef>
                <a:spcPts val="1200"/>
              </a:spcBef>
              <a:spcAft>
                <a:spcPts val="0"/>
              </a:spcAft>
              <a:buNone/>
            </a:pPr>
            <a:r>
              <a:t/>
            </a:r>
            <a:endParaRPr i="1">
              <a:solidFill>
                <a:schemeClr val="dk1"/>
              </a:solidFill>
            </a:endParaRPr>
          </a:p>
          <a:p>
            <a:pPr indent="0" lvl="0" marL="0" rtl="0" algn="l">
              <a:spcBef>
                <a:spcPts val="1200"/>
              </a:spcBef>
              <a:spcAft>
                <a:spcPts val="1200"/>
              </a:spcAft>
              <a:buNone/>
            </a:pPr>
            <a:r>
              <a:rPr i="1" lang="en">
                <a:solidFill>
                  <a:schemeClr val="dk1"/>
                </a:solidFill>
              </a:rPr>
              <a:t>Therefore, use fragments that start with your resume verb(we’ll check into the resume verbs later)</a:t>
            </a:r>
            <a:endParaRPr i="1">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REPEATING VERBS</a:t>
            </a:r>
            <a:endParaRPr i="1">
              <a:latin typeface="Average"/>
              <a:ea typeface="Average"/>
              <a:cs typeface="Average"/>
              <a:sym typeface="Average"/>
            </a:endParaRPr>
          </a:p>
        </p:txBody>
      </p:sp>
      <p:sp>
        <p:nvSpPr>
          <p:cNvPr id="149" name="Google Shape;14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Show your pride in your application by switching up your verbs.</a:t>
            </a:r>
            <a:endParaRPr i="1">
              <a:solidFill>
                <a:schemeClr val="dk1"/>
              </a:solidFill>
            </a:endParaRPr>
          </a:p>
          <a:p>
            <a:pPr indent="0" lvl="0" marL="0" rtl="0" algn="l">
              <a:spcBef>
                <a:spcPts val="1200"/>
              </a:spcBef>
              <a:spcAft>
                <a:spcPts val="0"/>
              </a:spcAft>
              <a:buNone/>
            </a:pPr>
            <a:r>
              <a:t/>
            </a:r>
            <a:endParaRPr i="1">
              <a:solidFill>
                <a:schemeClr val="dk1"/>
              </a:solidFill>
            </a:endParaRPr>
          </a:p>
          <a:p>
            <a:pPr indent="0" lvl="0" marL="0" rtl="0" algn="l">
              <a:spcBef>
                <a:spcPts val="1200"/>
              </a:spcBef>
              <a:spcAft>
                <a:spcPts val="1200"/>
              </a:spcAft>
              <a:buNone/>
            </a:pPr>
            <a:r>
              <a:rPr i="1" lang="en">
                <a:solidFill>
                  <a:schemeClr val="dk1"/>
                </a:solidFill>
              </a:rPr>
              <a:t>Go beyond the common verbs, such as organised, helped, and led.</a:t>
            </a:r>
            <a:endParaRPr i="1">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INCLUDING TOO MANY ACTIVITIES</a:t>
            </a:r>
            <a:endParaRPr i="1">
              <a:latin typeface="Average"/>
              <a:ea typeface="Average"/>
              <a:cs typeface="Average"/>
              <a:sym typeface="Average"/>
            </a:endParaRPr>
          </a:p>
        </p:txBody>
      </p:sp>
      <p:sp>
        <p:nvSpPr>
          <p:cNvPr id="155" name="Google Shape;15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It’s about quality, not quantity.</a:t>
            </a:r>
            <a:endParaRPr i="1">
              <a:solidFill>
                <a:schemeClr val="dk1"/>
              </a:solidFill>
            </a:endParaRPr>
          </a:p>
          <a:p>
            <a:pPr indent="0" lvl="0" marL="0" rtl="0" algn="l">
              <a:spcBef>
                <a:spcPts val="1200"/>
              </a:spcBef>
              <a:spcAft>
                <a:spcPts val="1200"/>
              </a:spcAft>
              <a:buNone/>
            </a:pPr>
            <a:r>
              <a:rPr i="1" lang="en">
                <a:solidFill>
                  <a:schemeClr val="dk1"/>
                </a:solidFill>
              </a:rPr>
              <a:t>Let the activities you mention be impactful, and have a connection with the rest of your application.</a:t>
            </a:r>
            <a:endParaRPr i="1">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INCLUDING TOO FEW ACTIVITIES</a:t>
            </a:r>
            <a:endParaRPr i="1">
              <a:latin typeface="Average"/>
              <a:ea typeface="Average"/>
              <a:cs typeface="Average"/>
              <a:sym typeface="Average"/>
            </a:endParaRPr>
          </a:p>
        </p:txBody>
      </p:sp>
      <p:sp>
        <p:nvSpPr>
          <p:cNvPr id="161" name="Google Shape;161;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-This is mainly for overachievers.</a:t>
            </a:r>
            <a:endParaRPr i="1">
              <a:solidFill>
                <a:schemeClr val="dk1"/>
              </a:solidFill>
            </a:endParaRPr>
          </a:p>
          <a:p>
            <a:pPr indent="0" lvl="0" marL="0" rtl="0" algn="l">
              <a:spcBef>
                <a:spcPts val="1200"/>
              </a:spcBef>
              <a:spcAft>
                <a:spcPts val="0"/>
              </a:spcAft>
              <a:buNone/>
            </a:pPr>
            <a:r>
              <a:rPr i="1" lang="en">
                <a:solidFill>
                  <a:schemeClr val="dk1"/>
                </a:solidFill>
              </a:rPr>
              <a:t>If you have more than 10 activities, do not limit yourself.</a:t>
            </a:r>
            <a:endParaRPr i="1">
              <a:solidFill>
                <a:schemeClr val="dk1"/>
              </a:solidFill>
            </a:endParaRPr>
          </a:p>
          <a:p>
            <a:pPr indent="0" lvl="0" marL="0" rtl="0" algn="l">
              <a:spcBef>
                <a:spcPts val="1200"/>
              </a:spcBef>
              <a:spcAft>
                <a:spcPts val="0"/>
              </a:spcAft>
              <a:buNone/>
            </a:pPr>
            <a:r>
              <a:rPr i="1" lang="en">
                <a:solidFill>
                  <a:schemeClr val="dk1"/>
                </a:solidFill>
              </a:rPr>
              <a:t>Move on to the additional information box in the writing section.</a:t>
            </a:r>
            <a:endParaRPr i="1">
              <a:solidFill>
                <a:schemeClr val="dk1"/>
              </a:solidFill>
            </a:endParaRPr>
          </a:p>
          <a:p>
            <a:pPr indent="0" lvl="0" marL="0" rtl="0" algn="l">
              <a:spcBef>
                <a:spcPts val="1200"/>
              </a:spcBef>
              <a:spcAft>
                <a:spcPts val="1200"/>
              </a:spcAft>
              <a:buNone/>
            </a:pPr>
            <a:r>
              <a:rPr i="1" lang="en">
                <a:solidFill>
                  <a:schemeClr val="dk1"/>
                </a:solidFill>
              </a:rPr>
              <a:t>Type the heading “Additional Activities” then write on your activities.</a:t>
            </a:r>
            <a:endParaRPr i="1">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671250" y="2141250"/>
            <a:ext cx="7852200" cy="861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i="1" lang="en">
                <a:latin typeface="Average"/>
                <a:ea typeface="Average"/>
                <a:cs typeface="Average"/>
                <a:sym typeface="Average"/>
              </a:rPr>
              <a:t>FORGETTING TO MENTION AWARDS OR POSITIONS HELD</a:t>
            </a:r>
            <a:endParaRPr i="1">
              <a:latin typeface="Average"/>
              <a:ea typeface="Average"/>
              <a:cs typeface="Average"/>
              <a:sym typeface="Averag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869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FAILURE TO INCLUDE HIGHLIGHTS OF YOUR INVOLVEMENTS</a:t>
            </a:r>
            <a:endParaRPr i="1">
              <a:latin typeface="Average"/>
              <a:ea typeface="Average"/>
              <a:cs typeface="Average"/>
              <a:sym typeface="Average"/>
            </a:endParaRPr>
          </a:p>
        </p:txBody>
      </p:sp>
      <p:sp>
        <p:nvSpPr>
          <p:cNvPr id="172" name="Google Shape;172;p32"/>
          <p:cNvSpPr txBox="1"/>
          <p:nvPr>
            <p:ph idx="1" type="body"/>
          </p:nvPr>
        </p:nvSpPr>
        <p:spPr>
          <a:xfrm>
            <a:off x="311700" y="1381125"/>
            <a:ext cx="8520600" cy="318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If you organised events, give examples of such events.</a:t>
            </a:r>
            <a:endParaRPr i="1">
              <a:solidFill>
                <a:schemeClr val="dk1"/>
              </a:solidFill>
            </a:endParaRPr>
          </a:p>
          <a:p>
            <a:pPr indent="0" lvl="0" marL="0" rtl="0" algn="l">
              <a:spcBef>
                <a:spcPts val="1200"/>
              </a:spcBef>
              <a:spcAft>
                <a:spcPts val="1200"/>
              </a:spcAft>
              <a:buNone/>
            </a:pPr>
            <a:r>
              <a:rPr i="1" lang="en">
                <a:solidFill>
                  <a:schemeClr val="dk1"/>
                </a:solidFill>
              </a:rPr>
              <a:t>E.g. Drives, photography, Science trips. e.t.c</a:t>
            </a:r>
            <a:endParaRPr i="1">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445025"/>
            <a:ext cx="8520600" cy="84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STRESSING ABOUT CALCULATING EXACT WEEKS AND HOURS</a:t>
            </a:r>
            <a:endParaRPr i="1">
              <a:latin typeface="Average"/>
              <a:ea typeface="Average"/>
              <a:cs typeface="Average"/>
              <a:sym typeface="Average"/>
            </a:endParaRPr>
          </a:p>
        </p:txBody>
      </p:sp>
      <p:sp>
        <p:nvSpPr>
          <p:cNvPr id="178" name="Google Shape;178;p33"/>
          <p:cNvSpPr txBox="1"/>
          <p:nvPr>
            <p:ph idx="1" type="body"/>
          </p:nvPr>
        </p:nvSpPr>
        <p:spPr>
          <a:xfrm>
            <a:off x="311700" y="1400175"/>
            <a:ext cx="8520600" cy="316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You haven’t tracked the </a:t>
            </a:r>
            <a:r>
              <a:rPr i="1" lang="en">
                <a:solidFill>
                  <a:schemeClr val="dk1"/>
                </a:solidFill>
              </a:rPr>
              <a:t>number</a:t>
            </a:r>
            <a:r>
              <a:rPr i="1" lang="en">
                <a:solidFill>
                  <a:schemeClr val="dk1"/>
                </a:solidFill>
              </a:rPr>
              <a:t> of weeks per year and hours per week for every activity, and no one has.</a:t>
            </a:r>
            <a:endParaRPr i="1">
              <a:solidFill>
                <a:schemeClr val="dk1"/>
              </a:solidFill>
            </a:endParaRPr>
          </a:p>
          <a:p>
            <a:pPr indent="0" lvl="0" marL="0" rtl="0" algn="l">
              <a:spcBef>
                <a:spcPts val="1200"/>
              </a:spcBef>
              <a:spcAft>
                <a:spcPts val="0"/>
              </a:spcAft>
              <a:buNone/>
            </a:pPr>
            <a:r>
              <a:rPr i="1" lang="en">
                <a:solidFill>
                  <a:schemeClr val="dk1"/>
                </a:solidFill>
              </a:rPr>
              <a:t>Have a reasonable estimate so long as you are not exaggerating your hours to a point of not having time to sleep or eat or relax.</a:t>
            </a:r>
            <a:endParaRPr i="1">
              <a:solidFill>
                <a:schemeClr val="dk1"/>
              </a:solidFill>
            </a:endParaRPr>
          </a:p>
          <a:p>
            <a:pPr indent="0" lvl="0" marL="0" rtl="0" algn="l">
              <a:spcBef>
                <a:spcPts val="1200"/>
              </a:spcBef>
              <a:spcAft>
                <a:spcPts val="1200"/>
              </a:spcAft>
              <a:buNone/>
            </a:pPr>
            <a:r>
              <a:t/>
            </a:r>
            <a:endParaRPr i="1">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USING ABBREVIATIONS NO ONE UNDERSTANDS</a:t>
            </a:r>
            <a:endParaRPr i="1">
              <a:latin typeface="Average"/>
              <a:ea typeface="Average"/>
              <a:cs typeface="Average"/>
              <a:sym typeface="Average"/>
            </a:endParaRPr>
          </a:p>
        </p:txBody>
      </p:sp>
      <p:sp>
        <p:nvSpPr>
          <p:cNvPr id="184" name="Google Shape;18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Ltd is common for limited✔</a:t>
            </a:r>
            <a:endParaRPr i="1">
              <a:solidFill>
                <a:schemeClr val="dk1"/>
              </a:solidFill>
            </a:endParaRPr>
          </a:p>
          <a:p>
            <a:pPr indent="0" lvl="0" marL="0" rtl="0" algn="l">
              <a:spcBef>
                <a:spcPts val="1200"/>
              </a:spcBef>
              <a:spcAft>
                <a:spcPts val="0"/>
              </a:spcAft>
              <a:buNone/>
            </a:pPr>
            <a:r>
              <a:rPr i="1" lang="en">
                <a:solidFill>
                  <a:schemeClr val="dk1"/>
                </a:solidFill>
              </a:rPr>
              <a:t>However, EBK Ltd in place for Equity Bank Kenya Limited is known to you alone❌</a:t>
            </a:r>
            <a:endParaRPr i="1">
              <a:solidFill>
                <a:schemeClr val="dk1"/>
              </a:solidFill>
            </a:endParaRPr>
          </a:p>
          <a:p>
            <a:pPr indent="0" lvl="0" marL="0" rtl="0" algn="l">
              <a:spcBef>
                <a:spcPts val="1200"/>
              </a:spcBef>
              <a:spcAft>
                <a:spcPts val="0"/>
              </a:spcAft>
              <a:buNone/>
            </a:pPr>
            <a:r>
              <a:t/>
            </a:r>
            <a:endParaRPr i="1">
              <a:solidFill>
                <a:schemeClr val="dk1"/>
              </a:solidFill>
            </a:endParaRPr>
          </a:p>
          <a:p>
            <a:pPr indent="0" lvl="0" marL="0" rtl="0" algn="l">
              <a:spcBef>
                <a:spcPts val="1200"/>
              </a:spcBef>
              <a:spcAft>
                <a:spcPts val="1200"/>
              </a:spcAft>
              <a:buNone/>
            </a:pPr>
            <a:r>
              <a:rPr i="1" lang="en">
                <a:solidFill>
                  <a:schemeClr val="dk1"/>
                </a:solidFill>
              </a:rPr>
              <a:t>Incase you have to do abbreviations, consider using the additional information box to spell it put.</a:t>
            </a:r>
            <a:endParaRPr i="1">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PUNCTUATION AND FORMATION</a:t>
            </a:r>
            <a:endParaRPr i="1">
              <a:latin typeface="Average"/>
              <a:ea typeface="Average"/>
              <a:cs typeface="Average"/>
              <a:sym typeface="Average"/>
            </a:endParaRPr>
          </a:p>
        </p:txBody>
      </p:sp>
      <p:sp>
        <p:nvSpPr>
          <p:cNvPr id="190" name="Google Shape;19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It ought to be consistent.</a:t>
            </a:r>
            <a:endParaRPr i="1">
              <a:solidFill>
                <a:schemeClr val="dk1"/>
              </a:solidFill>
            </a:endParaRPr>
          </a:p>
          <a:p>
            <a:pPr indent="0" lvl="0" marL="0" rtl="0" algn="l">
              <a:spcBef>
                <a:spcPts val="1200"/>
              </a:spcBef>
              <a:spcAft>
                <a:spcPts val="0"/>
              </a:spcAft>
              <a:buNone/>
            </a:pPr>
            <a:r>
              <a:rPr i="1" lang="en">
                <a:solidFill>
                  <a:schemeClr val="dk1"/>
                </a:solidFill>
              </a:rPr>
              <a:t>Capitalise the first word of each entry.</a:t>
            </a:r>
            <a:endParaRPr i="1">
              <a:solidFill>
                <a:schemeClr val="dk1"/>
              </a:solidFill>
            </a:endParaRPr>
          </a:p>
          <a:p>
            <a:pPr indent="0" lvl="0" marL="0" rtl="0" algn="l">
              <a:spcBef>
                <a:spcPts val="1200"/>
              </a:spcBef>
              <a:spcAft>
                <a:spcPts val="1200"/>
              </a:spcAft>
              <a:buNone/>
            </a:pPr>
            <a:r>
              <a:rPr i="1" lang="en">
                <a:solidFill>
                  <a:schemeClr val="dk1"/>
                </a:solidFill>
              </a:rPr>
              <a:t>Advisable to have a full stop at the end of the entry though not </a:t>
            </a:r>
            <a:r>
              <a:rPr i="1" lang="en">
                <a:solidFill>
                  <a:schemeClr val="dk1"/>
                </a:solidFill>
              </a:rPr>
              <a:t>compulsory</a:t>
            </a:r>
            <a:r>
              <a:rPr i="1" lang="en">
                <a:solidFill>
                  <a:schemeClr val="dk1"/>
                </a:solidFill>
              </a:rPr>
              <a:t>.</a:t>
            </a:r>
            <a:endParaRPr i="1">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6"/>
          <p:cNvSpPr txBox="1"/>
          <p:nvPr>
            <p:ph type="title"/>
          </p:nvPr>
        </p:nvSpPr>
        <p:spPr>
          <a:xfrm>
            <a:off x="311700" y="445025"/>
            <a:ext cx="8520600" cy="821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LISTING YOUR ACTIVITIES IN THE WRONG ORDER</a:t>
            </a:r>
            <a:endParaRPr i="1">
              <a:latin typeface="Average"/>
              <a:ea typeface="Average"/>
              <a:cs typeface="Average"/>
              <a:sym typeface="Average"/>
            </a:endParaRPr>
          </a:p>
        </p:txBody>
      </p:sp>
      <p:sp>
        <p:nvSpPr>
          <p:cNvPr id="196" name="Google Shape;196;p36"/>
          <p:cNvSpPr txBox="1"/>
          <p:nvPr>
            <p:ph idx="1" type="body"/>
          </p:nvPr>
        </p:nvSpPr>
        <p:spPr>
          <a:xfrm>
            <a:off x="311700" y="1333500"/>
            <a:ext cx="8520600" cy="323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Start with the most meaningful, and end with the least meaningful.</a:t>
            </a:r>
            <a:endParaRPr i="1">
              <a:solidFill>
                <a:schemeClr val="dk1"/>
              </a:solidFill>
            </a:endParaRPr>
          </a:p>
          <a:p>
            <a:pPr indent="0" lvl="0" marL="0" rtl="0" algn="l">
              <a:spcBef>
                <a:spcPts val="1200"/>
              </a:spcBef>
              <a:spcAft>
                <a:spcPts val="0"/>
              </a:spcAft>
              <a:buNone/>
            </a:pPr>
            <a:r>
              <a:rPr i="1" lang="en">
                <a:solidFill>
                  <a:schemeClr val="dk1"/>
                </a:solidFill>
              </a:rPr>
              <a:t>Try categorising your activities such that those that are in the same group will follow each other. E.g. You can mention all your academic-related activities, followed by your community-related ones, and end with the personal ones.</a:t>
            </a:r>
            <a:endParaRPr i="1">
              <a:solidFill>
                <a:schemeClr val="dk1"/>
              </a:solidFill>
            </a:endParaRPr>
          </a:p>
          <a:p>
            <a:pPr indent="0" lvl="0" marL="0" rtl="0" algn="l">
              <a:spcBef>
                <a:spcPts val="1200"/>
              </a:spcBef>
              <a:spcAft>
                <a:spcPts val="1200"/>
              </a:spcAft>
              <a:buNone/>
            </a:pPr>
            <a:r>
              <a:t/>
            </a:r>
            <a:endParaRPr i="1">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latin typeface="Average"/>
                <a:ea typeface="Average"/>
                <a:cs typeface="Average"/>
                <a:sym typeface="Average"/>
              </a:rPr>
              <a:t>USING BLAND VERBS</a:t>
            </a:r>
            <a:endParaRPr i="1">
              <a:latin typeface="Average"/>
              <a:ea typeface="Average"/>
              <a:cs typeface="Average"/>
              <a:sym typeface="Average"/>
            </a:endParaRPr>
          </a:p>
        </p:txBody>
      </p:sp>
      <p:sp>
        <p:nvSpPr>
          <p:cNvPr id="202" name="Google Shape;202;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a:solidFill>
                  <a:schemeClr val="dk1"/>
                </a:solidFill>
              </a:rPr>
              <a:t>Use tasty, resume verbs.</a:t>
            </a:r>
            <a:endParaRPr i="1">
              <a:solidFill>
                <a:schemeClr val="dk1"/>
              </a:solidFill>
            </a:endParaRPr>
          </a:p>
          <a:p>
            <a:pPr indent="0" lvl="0" marL="0" rtl="0" algn="l">
              <a:spcBef>
                <a:spcPts val="1200"/>
              </a:spcBef>
              <a:spcAft>
                <a:spcPts val="0"/>
              </a:spcAft>
              <a:buNone/>
            </a:pPr>
            <a:r>
              <a:rPr i="1" lang="en">
                <a:solidFill>
                  <a:schemeClr val="dk1"/>
                </a:solidFill>
              </a:rPr>
              <a:t>Most common bland verbs: Led and handled.</a:t>
            </a:r>
            <a:endParaRPr i="1">
              <a:solidFill>
                <a:schemeClr val="dk1"/>
              </a:solidFill>
            </a:endParaRPr>
          </a:p>
          <a:p>
            <a:pPr indent="0" lvl="0" marL="0" rtl="0" algn="l">
              <a:spcBef>
                <a:spcPts val="1200"/>
              </a:spcBef>
              <a:spcAft>
                <a:spcPts val="0"/>
              </a:spcAft>
              <a:buNone/>
            </a:pPr>
            <a:r>
              <a:rPr i="1" lang="en">
                <a:solidFill>
                  <a:schemeClr val="dk1"/>
                </a:solidFill>
              </a:rPr>
              <a:t>They do not give details on how you did it.</a:t>
            </a:r>
            <a:endParaRPr i="1">
              <a:solidFill>
                <a:schemeClr val="dk1"/>
              </a:solidFill>
            </a:endParaRPr>
          </a:p>
          <a:p>
            <a:pPr indent="0" lvl="0" marL="0" rtl="0" algn="l">
              <a:spcBef>
                <a:spcPts val="1200"/>
              </a:spcBef>
              <a:spcAft>
                <a:spcPts val="1200"/>
              </a:spcAft>
              <a:buNone/>
            </a:pPr>
            <a:r>
              <a:rPr i="1" lang="en">
                <a:solidFill>
                  <a:schemeClr val="dk1"/>
                </a:solidFill>
              </a:rPr>
              <a:t>Rather than having “</a:t>
            </a:r>
            <a:r>
              <a:rPr b="1" i="1" lang="en">
                <a:solidFill>
                  <a:srgbClr val="0000FF"/>
                </a:solidFill>
                <a:highlight>
                  <a:schemeClr val="dk1"/>
                </a:highlight>
              </a:rPr>
              <a:t>worked at a clinic doing different things</a:t>
            </a:r>
            <a:r>
              <a:rPr b="1" i="1" lang="en">
                <a:solidFill>
                  <a:srgbClr val="0000FF"/>
                </a:solidFill>
              </a:rPr>
              <a:t>,” </a:t>
            </a:r>
            <a:r>
              <a:rPr i="1" lang="en">
                <a:solidFill>
                  <a:schemeClr val="dk1"/>
                </a:solidFill>
              </a:rPr>
              <a:t>you can have “</a:t>
            </a:r>
            <a:r>
              <a:rPr b="1" i="1" lang="en">
                <a:solidFill>
                  <a:srgbClr val="0000FF"/>
                </a:solidFill>
                <a:highlight>
                  <a:schemeClr val="dk1"/>
                </a:highlight>
              </a:rPr>
              <a:t>Organised patient diagnosis notes, sterilised tools for surgeries.</a:t>
            </a:r>
            <a:r>
              <a:rPr b="1" i="1" lang="en">
                <a:solidFill>
                  <a:srgbClr val="0000FF"/>
                </a:solidFill>
              </a:rPr>
              <a:t>”</a:t>
            </a:r>
            <a:endParaRPr b="1" i="1">
              <a:solidFill>
                <a:srgbClr val="0000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i="1" lang="en">
                <a:latin typeface="Average"/>
                <a:ea typeface="Average"/>
                <a:cs typeface="Average"/>
                <a:sym typeface="Average"/>
              </a:rPr>
              <a:t>RESUME   VERBS</a:t>
            </a:r>
            <a:endParaRPr i="1">
              <a:latin typeface="Average"/>
              <a:ea typeface="Average"/>
              <a:cs typeface="Average"/>
              <a:sym typeface="Averag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9"/>
          <p:cNvSpPr txBox="1"/>
          <p:nvPr>
            <p:ph idx="1" type="body"/>
          </p:nvPr>
        </p:nvSpPr>
        <p:spPr>
          <a:xfrm>
            <a:off x="311700" y="257175"/>
            <a:ext cx="8108400" cy="4578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i="1" lang="en">
                <a:latin typeface="Average"/>
                <a:ea typeface="Average"/>
                <a:cs typeface="Average"/>
                <a:sym typeface="Average"/>
              </a:rPr>
              <a:t>Analysed                   Examined            Advised             Advocated</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Assembled                Explored              Coached            Consulted</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Assessed                   Taught                  Educated            Informed</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Audited                    Guided                 Recommended   Resolved</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Calculated                Recruited             Aligned               Cultivated</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Compiled                 Motivated            Directed               Enabled</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Discovered              Mobilized             Facilitated             Fostered</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Evaluated                Chaired                Hired                     Mentored</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Delegated                Spearheaded       Mobilized              Motivated</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Coordinated            Recruited            Organised              Oversaw </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Headed                    Administered</a:t>
            </a:r>
            <a:endParaRPr i="1">
              <a:latin typeface="Average"/>
              <a:ea typeface="Average"/>
              <a:cs typeface="Average"/>
              <a:sym typeface="Averag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 name="Shape 216"/>
        <p:cNvGrpSpPr/>
        <p:nvPr/>
      </p:nvGrpSpPr>
      <p:grpSpPr>
        <a:xfrm>
          <a:off x="0" y="0"/>
          <a:ext cx="0" cy="0"/>
          <a:chOff x="0" y="0"/>
          <a:chExt cx="0" cy="0"/>
        </a:xfrm>
      </p:grpSpPr>
      <p:sp>
        <p:nvSpPr>
          <p:cNvPr id="217" name="Google Shape;217;p40"/>
          <p:cNvSpPr txBox="1"/>
          <p:nvPr>
            <p:ph idx="1" type="body"/>
          </p:nvPr>
        </p:nvSpPr>
        <p:spPr>
          <a:xfrm>
            <a:off x="45000" y="0"/>
            <a:ext cx="5998800" cy="60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i="1" lang="en" sz="3100">
                <a:solidFill>
                  <a:srgbClr val="FF0000"/>
                </a:solidFill>
                <a:latin typeface="Caveat"/>
                <a:ea typeface="Caveat"/>
                <a:cs typeface="Caveat"/>
                <a:sym typeface="Caveat"/>
              </a:rPr>
              <a:t>HONORS   SECTION</a:t>
            </a:r>
            <a:endParaRPr b="1" i="1" sz="3200">
              <a:solidFill>
                <a:srgbClr val="FF0000"/>
              </a:solidFill>
              <a:latin typeface="Caveat"/>
              <a:ea typeface="Caveat"/>
              <a:cs typeface="Caveat"/>
              <a:sym typeface="Cave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1"/>
          <p:cNvSpPr txBox="1"/>
          <p:nvPr>
            <p:ph idx="1" type="body"/>
          </p:nvPr>
        </p:nvSpPr>
        <p:spPr>
          <a:xfrm>
            <a:off x="311700" y="257175"/>
            <a:ext cx="7956000" cy="4578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i="1" lang="en">
                <a:latin typeface="Average"/>
                <a:ea typeface="Average"/>
                <a:cs typeface="Average"/>
                <a:sym typeface="Average"/>
              </a:rPr>
              <a:t>An honor basically refers to an activity in which you got an honourable recognition.</a:t>
            </a:r>
            <a:endParaRPr i="1">
              <a:latin typeface="Average"/>
              <a:ea typeface="Average"/>
              <a:cs typeface="Average"/>
              <a:sym typeface="Average"/>
            </a:endParaRPr>
          </a:p>
          <a:p>
            <a:pPr indent="0" lvl="0" marL="0" rtl="0" algn="l">
              <a:spcBef>
                <a:spcPts val="0"/>
              </a:spcBef>
              <a:spcAft>
                <a:spcPts val="0"/>
              </a:spcAft>
              <a:buNone/>
            </a:pPr>
            <a:r>
              <a:t/>
            </a:r>
            <a:endParaRPr i="1">
              <a:latin typeface="Average"/>
              <a:ea typeface="Average"/>
              <a:cs typeface="Average"/>
              <a:sym typeface="Average"/>
            </a:endParaRPr>
          </a:p>
          <a:p>
            <a:pPr indent="0" lvl="0" marL="0" rtl="0" algn="l">
              <a:spcBef>
                <a:spcPts val="0"/>
              </a:spcBef>
              <a:spcAft>
                <a:spcPts val="0"/>
              </a:spcAft>
              <a:buNone/>
            </a:pPr>
            <a:r>
              <a:rPr i="1" lang="en">
                <a:latin typeface="Average"/>
                <a:ea typeface="Average"/>
                <a:cs typeface="Average"/>
                <a:sym typeface="Average"/>
              </a:rPr>
              <a:t>The recognition can be school based, region based, national based or international based.</a:t>
            </a:r>
            <a:endParaRPr i="1">
              <a:latin typeface="Average"/>
              <a:ea typeface="Average"/>
              <a:cs typeface="Average"/>
              <a:sym typeface="Average"/>
            </a:endParaRPr>
          </a:p>
          <a:p>
            <a:pPr indent="0" lvl="0" marL="0" rtl="0" algn="l">
              <a:spcBef>
                <a:spcPts val="0"/>
              </a:spcBef>
              <a:spcAft>
                <a:spcPts val="0"/>
              </a:spcAft>
              <a:buNone/>
            </a:pPr>
            <a:r>
              <a:t/>
            </a:r>
            <a:endParaRPr i="1">
              <a:latin typeface="Average"/>
              <a:ea typeface="Average"/>
              <a:cs typeface="Average"/>
              <a:sym typeface="Average"/>
            </a:endParaRPr>
          </a:p>
          <a:p>
            <a:pPr indent="0" lvl="0" marL="0" rtl="0" algn="l">
              <a:spcBef>
                <a:spcPts val="0"/>
              </a:spcBef>
              <a:spcAft>
                <a:spcPts val="0"/>
              </a:spcAft>
              <a:buNone/>
            </a:pPr>
            <a:r>
              <a:t/>
            </a:r>
            <a:endParaRPr i="1">
              <a:latin typeface="Average"/>
              <a:ea typeface="Average"/>
              <a:cs typeface="Average"/>
              <a:sym typeface="Averag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t/>
            </a:r>
            <a:endParaRPr i="1">
              <a:latin typeface="Average"/>
              <a:ea typeface="Average"/>
              <a:cs typeface="Average"/>
              <a:sym typeface="Average"/>
            </a:endParaRPr>
          </a:p>
          <a:p>
            <a:pPr indent="0" lvl="0" marL="0" rtl="0" algn="l">
              <a:spcBef>
                <a:spcPts val="1200"/>
              </a:spcBef>
              <a:spcAft>
                <a:spcPts val="0"/>
              </a:spcAft>
              <a:buNone/>
            </a:pPr>
            <a:r>
              <a:t/>
            </a:r>
            <a:endParaRPr i="1">
              <a:latin typeface="Average"/>
              <a:ea typeface="Average"/>
              <a:cs typeface="Average"/>
              <a:sym typeface="Average"/>
            </a:endParaRPr>
          </a:p>
          <a:p>
            <a:pPr indent="0" lvl="0" marL="0" rtl="0" algn="l">
              <a:spcBef>
                <a:spcPts val="1200"/>
              </a:spcBef>
              <a:spcAft>
                <a:spcPts val="0"/>
              </a:spcAft>
              <a:buNone/>
            </a:pPr>
            <a:r>
              <a:rPr i="1" lang="en" sz="6320">
                <a:solidFill>
                  <a:schemeClr val="dk1"/>
                </a:solidFill>
                <a:latin typeface="Average"/>
                <a:ea typeface="Average"/>
                <a:cs typeface="Average"/>
                <a:sym typeface="Average"/>
              </a:rPr>
              <a:t>National Merit Scholar - Commended Student/Semifinalist</a:t>
            </a:r>
            <a:endParaRPr i="1" sz="6320">
              <a:solidFill>
                <a:schemeClr val="dk1"/>
              </a:solidFill>
              <a:latin typeface="Average"/>
              <a:ea typeface="Average"/>
              <a:cs typeface="Average"/>
              <a:sym typeface="Average"/>
            </a:endParaRPr>
          </a:p>
          <a:p>
            <a:pPr indent="0" lvl="0" marL="0" rtl="0" algn="l">
              <a:spcBef>
                <a:spcPts val="1200"/>
              </a:spcBef>
              <a:spcAft>
                <a:spcPts val="0"/>
              </a:spcAft>
              <a:buNone/>
            </a:pPr>
            <a:r>
              <a:rPr i="1" lang="en" sz="6320">
                <a:solidFill>
                  <a:schemeClr val="dk1"/>
                </a:solidFill>
                <a:latin typeface="Average"/>
                <a:ea typeface="Average"/>
                <a:cs typeface="Average"/>
                <a:sym typeface="Average"/>
              </a:rPr>
              <a:t>AP Scholar</a:t>
            </a:r>
            <a:endParaRPr i="1" sz="6320">
              <a:solidFill>
                <a:schemeClr val="dk1"/>
              </a:solidFill>
              <a:latin typeface="Average"/>
              <a:ea typeface="Average"/>
              <a:cs typeface="Average"/>
              <a:sym typeface="Average"/>
            </a:endParaRPr>
          </a:p>
          <a:p>
            <a:pPr indent="0" lvl="0" marL="0" rtl="0" algn="l">
              <a:spcBef>
                <a:spcPts val="1200"/>
              </a:spcBef>
              <a:spcAft>
                <a:spcPts val="0"/>
              </a:spcAft>
              <a:buNone/>
            </a:pPr>
            <a:r>
              <a:rPr i="1" lang="en" sz="6320">
                <a:solidFill>
                  <a:schemeClr val="dk1"/>
                </a:solidFill>
                <a:latin typeface="Average"/>
                <a:ea typeface="Average"/>
                <a:cs typeface="Average"/>
                <a:sym typeface="Average"/>
              </a:rPr>
              <a:t>Honor Societies</a:t>
            </a:r>
            <a:endParaRPr i="1" sz="6320">
              <a:solidFill>
                <a:schemeClr val="dk1"/>
              </a:solidFill>
              <a:latin typeface="Average"/>
              <a:ea typeface="Average"/>
              <a:cs typeface="Average"/>
              <a:sym typeface="Average"/>
            </a:endParaRPr>
          </a:p>
          <a:p>
            <a:pPr indent="0" lvl="0" marL="0" rtl="0" algn="l">
              <a:spcBef>
                <a:spcPts val="1200"/>
              </a:spcBef>
              <a:spcAft>
                <a:spcPts val="0"/>
              </a:spcAft>
              <a:buNone/>
            </a:pPr>
            <a:r>
              <a:rPr i="1" lang="en" sz="6320">
                <a:solidFill>
                  <a:schemeClr val="dk1"/>
                </a:solidFill>
                <a:latin typeface="Average"/>
                <a:ea typeface="Average"/>
                <a:cs typeface="Average"/>
                <a:sym typeface="Average"/>
              </a:rPr>
              <a:t>Arts awards</a:t>
            </a:r>
            <a:endParaRPr i="1" sz="6320">
              <a:solidFill>
                <a:schemeClr val="dk1"/>
              </a:solidFill>
              <a:latin typeface="Average"/>
              <a:ea typeface="Average"/>
              <a:cs typeface="Average"/>
              <a:sym typeface="Average"/>
            </a:endParaRPr>
          </a:p>
          <a:p>
            <a:pPr indent="0" lvl="0" marL="0" rtl="0" algn="l">
              <a:spcBef>
                <a:spcPts val="1200"/>
              </a:spcBef>
              <a:spcAft>
                <a:spcPts val="0"/>
              </a:spcAft>
              <a:buNone/>
            </a:pPr>
            <a:r>
              <a:rPr i="1" lang="en" sz="6320">
                <a:solidFill>
                  <a:schemeClr val="dk1"/>
                </a:solidFill>
                <a:latin typeface="Average"/>
                <a:ea typeface="Average"/>
                <a:cs typeface="Average"/>
                <a:sym typeface="Average"/>
              </a:rPr>
              <a:t>Publications</a:t>
            </a:r>
            <a:endParaRPr i="1" sz="6320">
              <a:solidFill>
                <a:schemeClr val="dk1"/>
              </a:solidFill>
              <a:latin typeface="Average"/>
              <a:ea typeface="Average"/>
              <a:cs typeface="Average"/>
              <a:sym typeface="Average"/>
            </a:endParaRPr>
          </a:p>
          <a:p>
            <a:pPr indent="0" lvl="0" marL="0" rtl="0" algn="l">
              <a:spcBef>
                <a:spcPts val="1200"/>
              </a:spcBef>
              <a:spcAft>
                <a:spcPts val="0"/>
              </a:spcAft>
              <a:buNone/>
            </a:pPr>
            <a:r>
              <a:rPr i="1" lang="en" sz="6320">
                <a:solidFill>
                  <a:schemeClr val="dk1"/>
                </a:solidFill>
                <a:latin typeface="Average"/>
                <a:ea typeface="Average"/>
                <a:cs typeface="Average"/>
                <a:sym typeface="Average"/>
              </a:rPr>
              <a:t>Outstanding achievement awards</a:t>
            </a:r>
            <a:endParaRPr i="1" sz="6320">
              <a:solidFill>
                <a:schemeClr val="dk1"/>
              </a:solidFill>
              <a:latin typeface="Average"/>
              <a:ea typeface="Average"/>
              <a:cs typeface="Average"/>
              <a:sym typeface="Average"/>
            </a:endParaRPr>
          </a:p>
          <a:p>
            <a:pPr indent="0" lvl="0" marL="0" rtl="0" algn="l">
              <a:spcBef>
                <a:spcPts val="1200"/>
              </a:spcBef>
              <a:spcAft>
                <a:spcPts val="0"/>
              </a:spcAft>
              <a:buNone/>
            </a:pPr>
            <a:r>
              <a:rPr i="1" lang="en" sz="6320">
                <a:solidFill>
                  <a:schemeClr val="dk1"/>
                </a:solidFill>
                <a:latin typeface="Average"/>
                <a:ea typeface="Average"/>
                <a:cs typeface="Average"/>
                <a:sym typeface="Average"/>
              </a:rPr>
              <a:t>Athletic character recognition awards</a:t>
            </a:r>
            <a:endParaRPr i="1" sz="6320">
              <a:solidFill>
                <a:schemeClr val="dk1"/>
              </a:solidFill>
              <a:latin typeface="Average"/>
              <a:ea typeface="Average"/>
              <a:cs typeface="Average"/>
              <a:sym typeface="Average"/>
            </a:endParaRPr>
          </a:p>
          <a:p>
            <a:pPr indent="0" lvl="0" marL="0" rtl="0" algn="l">
              <a:spcBef>
                <a:spcPts val="1200"/>
              </a:spcBef>
              <a:spcAft>
                <a:spcPts val="1200"/>
              </a:spcAft>
              <a:buNone/>
            </a:pPr>
            <a:r>
              <a:rPr i="1" lang="en" sz="6320">
                <a:solidFill>
                  <a:schemeClr val="dk1"/>
                </a:solidFill>
                <a:latin typeface="Average"/>
                <a:ea typeface="Average"/>
                <a:cs typeface="Average"/>
                <a:sym typeface="Average"/>
              </a:rPr>
              <a:t>Awards at the local, state/regional, or national level</a:t>
            </a:r>
            <a:endParaRPr i="1" sz="6320">
              <a:solidFill>
                <a:schemeClr val="dk1"/>
              </a:solidFill>
              <a:latin typeface="Average"/>
              <a:ea typeface="Average"/>
              <a:cs typeface="Average"/>
              <a:sym typeface="Average"/>
            </a:endParaRPr>
          </a:p>
        </p:txBody>
      </p:sp>
      <p:sp>
        <p:nvSpPr>
          <p:cNvPr id="228" name="Google Shape;22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i="1" lang="en">
                <a:latin typeface="Average"/>
                <a:ea typeface="Average"/>
                <a:cs typeface="Average"/>
                <a:sym typeface="Average"/>
              </a:rPr>
              <a:t>HONORS ONE CAN LIST</a:t>
            </a:r>
            <a:endParaRPr b="1" i="1">
              <a:latin typeface="Average"/>
              <a:ea typeface="Average"/>
              <a:cs typeface="Average"/>
              <a:sym typeface="Averag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2" name="Shape 232"/>
        <p:cNvGrpSpPr/>
        <p:nvPr/>
      </p:nvGrpSpPr>
      <p:grpSpPr>
        <a:xfrm>
          <a:off x="0" y="0"/>
          <a:ext cx="0" cy="0"/>
          <a:chOff x="0" y="0"/>
          <a:chExt cx="0" cy="0"/>
        </a:xfrm>
      </p:grpSpPr>
      <p:sp>
        <p:nvSpPr>
          <p:cNvPr id="233" name="Google Shape;233;p4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i="1" lang="en">
                <a:latin typeface="Average"/>
                <a:ea typeface="Average"/>
                <a:cs typeface="Average"/>
                <a:sym typeface="Average"/>
              </a:rPr>
              <a:t>REFERENCE MATERIALS</a:t>
            </a:r>
            <a:endParaRPr i="1">
              <a:latin typeface="Average"/>
              <a:ea typeface="Average"/>
              <a:cs typeface="Average"/>
              <a:sym typeface="Averag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4"/>
          <p:cNvSpPr txBox="1"/>
          <p:nvPr>
            <p:ph idx="1" type="body"/>
          </p:nvPr>
        </p:nvSpPr>
        <p:spPr>
          <a:xfrm>
            <a:off x="0" y="0"/>
            <a:ext cx="9144000" cy="48357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1000">
                <a:latin typeface="Average"/>
                <a:ea typeface="Average"/>
                <a:cs typeface="Average"/>
                <a:sym typeface="Average"/>
              </a:rPr>
              <a:t>. (2019, May 7). . - YouTube. Retrieved May 22, 2023, from </a:t>
            </a:r>
            <a:r>
              <a:rPr lang="en" sz="1000" u="sng">
                <a:solidFill>
                  <a:schemeClr val="hlink"/>
                </a:solidFill>
                <a:latin typeface="Average"/>
                <a:ea typeface="Average"/>
                <a:cs typeface="Average"/>
                <a:sym typeface="Average"/>
                <a:hlinkClick r:id="rId3"/>
              </a:rPr>
              <a:t>https://www.google.com/search?hl=en-GB&amp;ram_mb=3555&amp;ampcct=5563&amp;gsas=1&amp;lns_as=1&amp;qsubts=1684760200941&amp;cs=0&amp;q=About+https%3A%2F%2Fblog.getintocollege.com%2Fcommon-app-help-how-to-master-the-activities-section-college-coach-blog%2F&amp;padt=0&amp;ilps=ADJL0iyDkX0QXYu3</a:t>
            </a:r>
            <a:endParaRPr sz="1000">
              <a:latin typeface="Average"/>
              <a:ea typeface="Average"/>
              <a:cs typeface="Average"/>
              <a:sym typeface="Average"/>
            </a:endParaRPr>
          </a:p>
          <a:p>
            <a:pPr indent="0" lvl="0" marL="0" rtl="0" algn="l">
              <a:spcBef>
                <a:spcPts val="0"/>
              </a:spcBef>
              <a:spcAft>
                <a:spcPts val="0"/>
              </a:spcAft>
              <a:buNone/>
            </a:pPr>
            <a:r>
              <a:t/>
            </a:r>
            <a:endParaRPr sz="1000">
              <a:latin typeface="Average"/>
              <a:ea typeface="Average"/>
              <a:cs typeface="Average"/>
              <a:sym typeface="Average"/>
            </a:endParaRPr>
          </a:p>
          <a:p>
            <a:pPr indent="0" lvl="0" marL="0" rtl="0" algn="l">
              <a:spcBef>
                <a:spcPts val="0"/>
              </a:spcBef>
              <a:spcAft>
                <a:spcPts val="0"/>
              </a:spcAft>
              <a:buNone/>
            </a:pPr>
            <a:r>
              <a:rPr lang="en" sz="1000">
                <a:latin typeface="Average"/>
                <a:ea typeface="Average"/>
                <a:cs typeface="Average"/>
                <a:sym typeface="Average"/>
              </a:rPr>
              <a:t>Beaton, J. (2023, January 31). Top 10 Benefits of Extracurricular Activities in High School. Crimson Education. Retrieved May 22, 2023, from </a:t>
            </a:r>
            <a:r>
              <a:rPr lang="en" sz="1000" u="sng">
                <a:solidFill>
                  <a:schemeClr val="hlink"/>
                </a:solidFill>
                <a:latin typeface="Average"/>
                <a:ea typeface="Average"/>
                <a:cs typeface="Average"/>
                <a:sym typeface="Average"/>
                <a:hlinkClick r:id="rId4"/>
              </a:rPr>
              <a:t>https://www.crimsoneducation.org/us/blog/extracurriculars/benefits-of-extracurricular-activities/</a:t>
            </a:r>
            <a:endParaRPr sz="1000">
              <a:latin typeface="Average"/>
              <a:ea typeface="Average"/>
              <a:cs typeface="Average"/>
              <a:sym typeface="Average"/>
            </a:endParaRPr>
          </a:p>
          <a:p>
            <a:pPr indent="0" lvl="0" marL="0" rtl="0" algn="l">
              <a:spcBef>
                <a:spcPts val="0"/>
              </a:spcBef>
              <a:spcAft>
                <a:spcPts val="0"/>
              </a:spcAft>
              <a:buNone/>
            </a:pPr>
            <a:r>
              <a:t/>
            </a:r>
            <a:endParaRPr sz="1000">
              <a:latin typeface="Average"/>
              <a:ea typeface="Average"/>
              <a:cs typeface="Average"/>
              <a:sym typeface="Average"/>
            </a:endParaRPr>
          </a:p>
          <a:p>
            <a:pPr indent="0" lvl="0" marL="0" rtl="0" algn="l">
              <a:spcBef>
                <a:spcPts val="0"/>
              </a:spcBef>
              <a:spcAft>
                <a:spcPts val="0"/>
              </a:spcAft>
              <a:buNone/>
            </a:pPr>
            <a:r>
              <a:rPr lang="en" sz="1000">
                <a:latin typeface="Average"/>
                <a:ea typeface="Average"/>
                <a:cs typeface="Average"/>
                <a:sym typeface="Average"/>
              </a:rPr>
              <a:t>Chemmasia. (2019, May 7). . . - YouTube. Retrieved May 22, 2023, from </a:t>
            </a:r>
            <a:r>
              <a:rPr lang="en" sz="1000" u="sng">
                <a:solidFill>
                  <a:schemeClr val="hlink"/>
                </a:solidFill>
                <a:latin typeface="Average"/>
                <a:ea typeface="Average"/>
                <a:cs typeface="Average"/>
                <a:sym typeface="Average"/>
                <a:hlinkClick r:id="rId5"/>
              </a:rPr>
              <a:t>https://www.google.com/search?hl=en-GB&amp;ram_mb=3555&amp;ampcct=5563&amp;gsas=1&amp;lns_as=1&amp;qsubts=1684760091414&amp;cs=0&amp;q=About+https%3A%2F%2Fwww.shemmassianconsulting.com%2Fblog%2Fcommon-app-activities-section&amp;padt=0&amp;ilps=ADJL0iz6rY35-6MAbGFmnaCGieVfg0rZvQ&amp;rdid=4a618ca3</a:t>
            </a:r>
            <a:endParaRPr sz="1000">
              <a:latin typeface="Average"/>
              <a:ea typeface="Average"/>
              <a:cs typeface="Average"/>
              <a:sym typeface="Average"/>
            </a:endParaRPr>
          </a:p>
          <a:p>
            <a:pPr indent="0" lvl="0" marL="0" rtl="0" algn="l">
              <a:spcBef>
                <a:spcPts val="0"/>
              </a:spcBef>
              <a:spcAft>
                <a:spcPts val="0"/>
              </a:spcAft>
              <a:buNone/>
            </a:pPr>
            <a:r>
              <a:t/>
            </a:r>
            <a:endParaRPr sz="1000">
              <a:latin typeface="Average"/>
              <a:ea typeface="Average"/>
              <a:cs typeface="Average"/>
              <a:sym typeface="Average"/>
            </a:endParaRPr>
          </a:p>
          <a:p>
            <a:pPr indent="0" lvl="0" marL="0" rtl="0" algn="l">
              <a:spcBef>
                <a:spcPts val="0"/>
              </a:spcBef>
              <a:spcAft>
                <a:spcPts val="0"/>
              </a:spcAft>
              <a:buNone/>
            </a:pPr>
            <a:r>
              <a:rPr lang="en" sz="1000">
                <a:latin typeface="Average"/>
                <a:ea typeface="Average"/>
                <a:cs typeface="Average"/>
                <a:sym typeface="Average"/>
              </a:rPr>
              <a:t>College Essay Guy. (2019, May 7). . . - YouTube. Retrieved May 22, 2023, from </a:t>
            </a:r>
            <a:r>
              <a:rPr lang="en" sz="1000" u="sng">
                <a:solidFill>
                  <a:schemeClr val="hlink"/>
                </a:solidFill>
                <a:latin typeface="Average"/>
                <a:ea typeface="Average"/>
                <a:cs typeface="Average"/>
                <a:sym typeface="Average"/>
                <a:hlinkClick r:id="rId6"/>
              </a:rPr>
              <a:t>https://www.google.com/search?hl=en-GB&amp;ram_mb=3555&amp;ampcct=5563&amp;gsas=1&amp;lns_as=1&amp;qsubts=1684760023473&amp;cs=0&amp;q=About+https%3A%2F%2Fwww.collegeessayguy.com%2Fblog%2Fguide-college-activities-list-common-app-example-application&amp;padt=0&amp;ilps=ADJL0ixbb2P5VUMKMzRLQsb</a:t>
            </a:r>
            <a:endParaRPr sz="1000">
              <a:latin typeface="Average"/>
              <a:ea typeface="Average"/>
              <a:cs typeface="Average"/>
              <a:sym typeface="Average"/>
            </a:endParaRPr>
          </a:p>
          <a:p>
            <a:pPr indent="0" lvl="0" marL="0" rtl="0" algn="l">
              <a:spcBef>
                <a:spcPts val="0"/>
              </a:spcBef>
              <a:spcAft>
                <a:spcPts val="0"/>
              </a:spcAft>
              <a:buNone/>
            </a:pPr>
            <a:r>
              <a:t/>
            </a:r>
            <a:endParaRPr sz="1300">
              <a:latin typeface="Average"/>
              <a:ea typeface="Average"/>
              <a:cs typeface="Average"/>
              <a:sym typeface="Average"/>
            </a:endParaRPr>
          </a:p>
          <a:p>
            <a:pPr indent="0" lvl="0" marL="0" rtl="0" algn="l">
              <a:spcBef>
                <a:spcPts val="0"/>
              </a:spcBef>
              <a:spcAft>
                <a:spcPts val="0"/>
              </a:spcAft>
              <a:buNone/>
            </a:pPr>
            <a:r>
              <a:rPr lang="en" sz="1100">
                <a:latin typeface="Average"/>
                <a:ea typeface="Average"/>
                <a:cs typeface="Average"/>
                <a:sym typeface="Average"/>
              </a:rPr>
              <a:t>College Vine. (2016, July 29). How Much Do Extracurricular Activities Matter in College Admissions? CollegeVine Guidance. Retrieved May 22, 2023, from </a:t>
            </a:r>
            <a:r>
              <a:rPr lang="en" sz="1100" u="sng">
                <a:solidFill>
                  <a:schemeClr val="hlink"/>
                </a:solidFill>
                <a:latin typeface="Average"/>
                <a:ea typeface="Average"/>
                <a:cs typeface="Average"/>
                <a:sym typeface="Average"/>
                <a:hlinkClick r:id="rId7"/>
              </a:rPr>
              <a:t>https://blog.collegevine.com/how-much-do-extracurricular-activities-matter-in-college-admissions/</a:t>
            </a:r>
            <a:r>
              <a:rPr lang="en" sz="1100">
                <a:latin typeface="Average"/>
                <a:ea typeface="Average"/>
                <a:cs typeface="Average"/>
                <a:sym typeface="Average"/>
              </a:rPr>
              <a:t> </a:t>
            </a:r>
            <a:endParaRPr sz="1100">
              <a:latin typeface="Average"/>
              <a:ea typeface="Average"/>
              <a:cs typeface="Average"/>
              <a:sym typeface="Average"/>
            </a:endParaRPr>
          </a:p>
          <a:p>
            <a:pPr indent="0" lvl="0" marL="0" rtl="0" algn="l">
              <a:spcBef>
                <a:spcPts val="0"/>
              </a:spcBef>
              <a:spcAft>
                <a:spcPts val="0"/>
              </a:spcAft>
              <a:buNone/>
            </a:pPr>
            <a:r>
              <a:t/>
            </a:r>
            <a:endParaRPr sz="1100">
              <a:latin typeface="Average"/>
              <a:ea typeface="Average"/>
              <a:cs typeface="Average"/>
              <a:sym typeface="Average"/>
            </a:endParaRPr>
          </a:p>
          <a:p>
            <a:pPr indent="0" lvl="0" marL="0" rtl="0" algn="l">
              <a:spcBef>
                <a:spcPts val="0"/>
              </a:spcBef>
              <a:spcAft>
                <a:spcPts val="0"/>
              </a:spcAft>
              <a:buNone/>
            </a:pPr>
            <a:r>
              <a:rPr lang="en" sz="1100">
                <a:latin typeface="Average"/>
                <a:ea typeface="Average"/>
                <a:cs typeface="Average"/>
                <a:sym typeface="Average"/>
              </a:rPr>
              <a:t>How Extracurriculars Help Your College Application. (n.d.). The Princeton Review. Retrieved May 22, 2023, from </a:t>
            </a:r>
            <a:r>
              <a:rPr lang="en" sz="1100" u="sng">
                <a:solidFill>
                  <a:schemeClr val="hlink"/>
                </a:solidFill>
                <a:latin typeface="Average"/>
                <a:ea typeface="Average"/>
                <a:cs typeface="Average"/>
                <a:sym typeface="Average"/>
                <a:hlinkClick r:id="rId8"/>
              </a:rPr>
              <a:t>https://www.princetonreview.com/college-advice/extracurricular-activities</a:t>
            </a:r>
            <a:endParaRPr sz="1100">
              <a:latin typeface="Average"/>
              <a:ea typeface="Average"/>
              <a:cs typeface="Average"/>
              <a:sym typeface="Average"/>
            </a:endParaRPr>
          </a:p>
          <a:p>
            <a:pPr indent="0" lvl="0" marL="0" rtl="0" algn="l">
              <a:spcBef>
                <a:spcPts val="0"/>
              </a:spcBef>
              <a:spcAft>
                <a:spcPts val="0"/>
              </a:spcAft>
              <a:buNone/>
            </a:pPr>
            <a:r>
              <a:t/>
            </a:r>
            <a:endParaRPr sz="1100">
              <a:latin typeface="Average"/>
              <a:ea typeface="Average"/>
              <a:cs typeface="Average"/>
              <a:sym typeface="Average"/>
            </a:endParaRPr>
          </a:p>
          <a:p>
            <a:pPr indent="0" lvl="0" marL="0" rtl="0" algn="l">
              <a:spcBef>
                <a:spcPts val="0"/>
              </a:spcBef>
              <a:spcAft>
                <a:spcPts val="0"/>
              </a:spcAft>
              <a:buNone/>
            </a:pPr>
            <a:r>
              <a:rPr lang="en" sz="1100">
                <a:latin typeface="Average"/>
                <a:ea typeface="Average"/>
                <a:cs typeface="Average"/>
                <a:sym typeface="Average"/>
              </a:rPr>
              <a:t>Why Extracurricular Activities Matter in College Admissions. (n.d.). IvyWise. Retrieved May 22, 2023, from </a:t>
            </a:r>
            <a:r>
              <a:rPr lang="en" sz="1100" u="sng">
                <a:solidFill>
                  <a:schemeClr val="hlink"/>
                </a:solidFill>
                <a:latin typeface="Average"/>
                <a:ea typeface="Average"/>
                <a:cs typeface="Average"/>
                <a:sym typeface="Average"/>
                <a:hlinkClick r:id="rId9"/>
              </a:rPr>
              <a:t>https://www.ivywise.com/ivywise-knowledgebase/resources/article/why-extracurricular-activities-matter-in-college-admissions/</a:t>
            </a:r>
            <a:endParaRPr sz="1100">
              <a:latin typeface="Average"/>
              <a:ea typeface="Average"/>
              <a:cs typeface="Average"/>
              <a:sym typeface="Average"/>
            </a:endParaRPr>
          </a:p>
          <a:p>
            <a:pPr indent="0" lvl="0" marL="0" rtl="0" algn="l">
              <a:spcBef>
                <a:spcPts val="0"/>
              </a:spcBef>
              <a:spcAft>
                <a:spcPts val="0"/>
              </a:spcAft>
              <a:buNone/>
            </a:pPr>
            <a:r>
              <a:t/>
            </a:r>
            <a:endParaRPr sz="1100">
              <a:latin typeface="Average"/>
              <a:ea typeface="Average"/>
              <a:cs typeface="Average"/>
              <a:sym typeface="Average"/>
            </a:endParaRPr>
          </a:p>
          <a:p>
            <a:pPr indent="0" lvl="0" marL="0" rtl="0" algn="l">
              <a:spcBef>
                <a:spcPts val="0"/>
              </a:spcBef>
              <a:spcAft>
                <a:spcPts val="0"/>
              </a:spcAft>
              <a:buNone/>
            </a:pPr>
            <a:r>
              <a:t/>
            </a:r>
            <a:endParaRPr sz="1100">
              <a:latin typeface="Average"/>
              <a:ea typeface="Average"/>
              <a:cs typeface="Average"/>
              <a:sym typeface="Average"/>
            </a:endParaRPr>
          </a:p>
          <a:p>
            <a:pPr indent="0" lvl="0" marL="0" rtl="0" algn="l">
              <a:spcBef>
                <a:spcPts val="0"/>
              </a:spcBef>
              <a:spcAft>
                <a:spcPts val="0"/>
              </a:spcAft>
              <a:buNone/>
            </a:pPr>
            <a:r>
              <a:t/>
            </a:r>
            <a:endParaRPr sz="1300">
              <a:latin typeface="Average"/>
              <a:ea typeface="Average"/>
              <a:cs typeface="Average"/>
              <a:sym typeface="Average"/>
            </a:endParaRPr>
          </a:p>
          <a:p>
            <a:pPr indent="0" lvl="0" marL="0" rtl="0" algn="l">
              <a:spcBef>
                <a:spcPts val="0"/>
              </a:spcBef>
              <a:spcAft>
                <a:spcPts val="0"/>
              </a:spcAft>
              <a:buNone/>
            </a:pPr>
            <a:r>
              <a:t/>
            </a:r>
            <a:endParaRPr sz="1300">
              <a:latin typeface="Average"/>
              <a:ea typeface="Average"/>
              <a:cs typeface="Average"/>
              <a:sym typeface="Average"/>
            </a:endParaRPr>
          </a:p>
          <a:p>
            <a:pPr indent="0" lvl="0" marL="0" rtl="0" algn="l">
              <a:spcBef>
                <a:spcPts val="0"/>
              </a:spcBef>
              <a:spcAft>
                <a:spcPts val="0"/>
              </a:spcAft>
              <a:buNone/>
            </a:pPr>
            <a:r>
              <a:t/>
            </a:r>
            <a:endParaRPr sz="1300">
              <a:latin typeface="Average"/>
              <a:ea typeface="Average"/>
              <a:cs typeface="Average"/>
              <a:sym typeface="Average"/>
            </a:endParaRPr>
          </a:p>
          <a:p>
            <a:pPr indent="0" lvl="0" marL="0" rtl="0" algn="l">
              <a:spcBef>
                <a:spcPts val="0"/>
              </a:spcBef>
              <a:spcAft>
                <a:spcPts val="0"/>
              </a:spcAft>
              <a:buNone/>
            </a:pPr>
            <a:r>
              <a:t/>
            </a:r>
            <a:endParaRPr sz="1200">
              <a:latin typeface="Average"/>
              <a:ea typeface="Average"/>
              <a:cs typeface="Average"/>
              <a:sym typeface="Averag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6" name="Shape 24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