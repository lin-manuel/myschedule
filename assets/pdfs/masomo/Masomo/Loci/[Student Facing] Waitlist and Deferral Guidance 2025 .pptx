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  <p:sldMasterId id="214748367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Montserrat"/>
      <p:regular r:id="rId24"/>
      <p:bold r:id="rId25"/>
      <p:italic r:id="rId26"/>
      <p:boldItalic r:id="rId27"/>
    </p:embeddedFont>
    <p:embeddedFont>
      <p:font typeface="Montserrat Ligh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Montserrat-regular.fntdata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MontserratLight-regular.fntdata"/><Relationship Id="rId27" Type="http://schemas.openxmlformats.org/officeDocument/2006/relationships/font" Target="fonts/Montserra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Light-boldItalic.fntdata"/><Relationship Id="rId30" Type="http://schemas.openxmlformats.org/officeDocument/2006/relationships/font" Target="fonts/MontserratLigh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a8fa5d3160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g1a8fa5d3160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a8fa5d3160_0_2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g1a8fa5d3160_0_2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a8fa5d3160_0_2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g1a8fa5d3160_0_2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80cb1fee6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g180cb1fee6a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a8fa5d3160_0_2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g1a8fa5d3160_0_2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a8fa5d3160_0_2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g1a8fa5d3160_0_2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c145eb9b3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g34c145eb9b3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c145eb9b3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g34c145eb9b3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a8fa5d3160_0_2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g1a8fa5d3160_0_2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a8fa5d3160_0_3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g1a8fa5d3160_0_3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a8fa5d3160_0_3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g1a8fa5d3160_0_3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1d83e6bd5d_1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g31d83e6bd5d_1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01ed90c9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g3201ed90c9c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a8fa5d3160_0_3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1a8fa5d3160_0_3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 sz="6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200"/>
              <a:buFont typeface="Montserrat"/>
              <a:buChar char="●"/>
            </a:pPr>
            <a:r>
              <a:rPr b="1" lang="en" sz="1000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Remind your students: writing this letter may not improve their chances of being admitted.</a:t>
            </a:r>
            <a:endParaRPr sz="7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a8fa5d3160_0_6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1a8fa5d3160_0_60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 sz="6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a8fa5d3160_0_3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1a8fa5d3160_0_3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 sz="10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a8fa5d3160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1a8fa5d3160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4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195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195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195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195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317367" y="4803221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4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195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195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195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195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317367" y="4803221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rimson 1">
  <p:cSld name="TITLE_AND_BODY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195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195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195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195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317367" y="4803221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317367" y="4803221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rimson 3">
  <p:cSld name="TITLE_AND_BODY_5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idx="12" type="sldNum"/>
          </p:nvPr>
        </p:nvSpPr>
        <p:spPr>
          <a:xfrm>
            <a:off x="8317367" y="4803221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427"/>
            <a:ext cx="9144002" cy="5144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rimson" type="tx">
  <p:cSld name="TITLE_AND_BOD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317367" y="4803221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" name="Google Shape;7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427"/>
            <a:ext cx="9144002" cy="5144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195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195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195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195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317367" y="4803221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4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21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195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195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195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195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8317367" y="4803221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2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195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195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195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195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8317367" y="4803221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/>
          <p:nvPr>
            <p:ph type="title"/>
          </p:nvPr>
        </p:nvSpPr>
        <p:spPr>
          <a:xfrm>
            <a:off x="62984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629840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195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195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195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195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23"/>
          <p:cNvSpPr txBox="1"/>
          <p:nvPr>
            <p:ph idx="2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195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195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195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195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317367" y="4803221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8317367" y="4803221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type="title"/>
          </p:nvPr>
        </p:nvSpPr>
        <p:spPr>
          <a:xfrm>
            <a:off x="629840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25"/>
          <p:cNvSpPr txBox="1"/>
          <p:nvPr>
            <p:ph idx="1" type="body"/>
          </p:nvPr>
        </p:nvSpPr>
        <p:spPr>
          <a:xfrm>
            <a:off x="3887390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195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195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195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195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25"/>
          <p:cNvSpPr txBox="1"/>
          <p:nvPr>
            <p:ph idx="2" type="body"/>
          </p:nvPr>
        </p:nvSpPr>
        <p:spPr>
          <a:xfrm>
            <a:off x="629840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195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195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195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195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12" type="sldNum"/>
          </p:nvPr>
        </p:nvSpPr>
        <p:spPr>
          <a:xfrm>
            <a:off x="8317367" y="4803221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/>
          <p:nvPr>
            <p:ph type="title"/>
          </p:nvPr>
        </p:nvSpPr>
        <p:spPr>
          <a:xfrm>
            <a:off x="629840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p26"/>
          <p:cNvSpPr/>
          <p:nvPr>
            <p:ph idx="2" type="pic"/>
          </p:nvPr>
        </p:nvSpPr>
        <p:spPr>
          <a:xfrm>
            <a:off x="3887390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6"/>
          <p:cNvSpPr txBox="1"/>
          <p:nvPr>
            <p:ph idx="1" type="body"/>
          </p:nvPr>
        </p:nvSpPr>
        <p:spPr>
          <a:xfrm>
            <a:off x="629840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195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195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195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195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26"/>
          <p:cNvSpPr txBox="1"/>
          <p:nvPr>
            <p:ph idx="12" type="sldNum"/>
          </p:nvPr>
        </p:nvSpPr>
        <p:spPr>
          <a:xfrm>
            <a:off x="8317367" y="4803221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2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195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195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195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195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27"/>
          <p:cNvSpPr txBox="1"/>
          <p:nvPr>
            <p:ph idx="12" type="sldNum"/>
          </p:nvPr>
        </p:nvSpPr>
        <p:spPr>
          <a:xfrm>
            <a:off x="8317367" y="4803221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8"/>
          <p:cNvSpPr txBox="1"/>
          <p:nvPr>
            <p:ph type="title"/>
          </p:nvPr>
        </p:nvSpPr>
        <p:spPr>
          <a:xfrm>
            <a:off x="6543675" y="273844"/>
            <a:ext cx="1971600" cy="43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28"/>
          <p:cNvSpPr txBox="1"/>
          <p:nvPr>
            <p:ph idx="1" type="body"/>
          </p:nvPr>
        </p:nvSpPr>
        <p:spPr>
          <a:xfrm>
            <a:off x="628650" y="273844"/>
            <a:ext cx="5800800" cy="43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195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195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195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195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28"/>
          <p:cNvSpPr txBox="1"/>
          <p:nvPr>
            <p:ph idx="12" type="sldNum"/>
          </p:nvPr>
        </p:nvSpPr>
        <p:spPr>
          <a:xfrm>
            <a:off x="8317367" y="4803221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4" name="Google Shape;114;p2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rimson 2">
  <p:cSld name="TITLE_AND_BODY_2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/>
          <p:nvPr>
            <p:ph idx="12" type="sldNum"/>
          </p:nvPr>
        </p:nvSpPr>
        <p:spPr>
          <a:xfrm>
            <a:off x="8317367" y="4803221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0" name="Google Shape;12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427"/>
            <a:ext cx="9144002" cy="5144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195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195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195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195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317367" y="4803221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0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18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google.com/document/d/17VCasVYSkIw1prYN_RN0W8XNzaS1cL-cvSrIcrph_Co/edit" TargetMode="External"/><Relationship Id="rId4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58825" y="2535625"/>
            <a:ext cx="1272176" cy="1272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900" y="3729475"/>
            <a:ext cx="1212826" cy="121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35915" y="4324451"/>
            <a:ext cx="1272175" cy="56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flipH="1" rot="-332410">
            <a:off x="2411700" y="3223675"/>
            <a:ext cx="530026" cy="107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02358" y="659132"/>
            <a:ext cx="576600" cy="1056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27814" y="680784"/>
            <a:ext cx="467100" cy="923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218427">
            <a:off x="5906350" y="3165299"/>
            <a:ext cx="918771" cy="107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1"/>
          <p:cNvSpPr txBox="1"/>
          <p:nvPr>
            <p:ph idx="4294967295" type="subTitle"/>
          </p:nvPr>
        </p:nvSpPr>
        <p:spPr>
          <a:xfrm>
            <a:off x="964350" y="1675500"/>
            <a:ext cx="7215300" cy="17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Waitlist and Deferral Guidance</a:t>
            </a:r>
            <a:endParaRPr b="1" i="0" sz="3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5915" y="4324451"/>
            <a:ext cx="1272175" cy="56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2"/>
          <p:cNvSpPr txBox="1"/>
          <p:nvPr>
            <p:ph idx="1" type="body"/>
          </p:nvPr>
        </p:nvSpPr>
        <p:spPr>
          <a:xfrm>
            <a:off x="957300" y="1935600"/>
            <a:ext cx="72294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lang="en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Early </a:t>
            </a:r>
            <a:r>
              <a:rPr b="1" lang="en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Applications:</a:t>
            </a:r>
            <a:br>
              <a:rPr b="1" lang="en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What’s Next?</a:t>
            </a:r>
            <a:endParaRPr b="1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 txBox="1"/>
          <p:nvPr/>
        </p:nvSpPr>
        <p:spPr>
          <a:xfrm>
            <a:off x="3263025" y="1518950"/>
            <a:ext cx="5664000" cy="3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700"/>
              <a:buFont typeface="Arial"/>
              <a:buChar char="●"/>
            </a:pPr>
            <a:r>
              <a:rPr b="1" i="0" lang="en" sz="1700" u="none" cap="none" strike="noStrike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Accepted</a:t>
            </a:r>
            <a:endParaRPr b="1" i="0" sz="17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700"/>
              <a:buFont typeface="Montserrat"/>
              <a:buChar char="●"/>
            </a:pPr>
            <a:r>
              <a:rPr b="1" i="0" lang="en" sz="1700" u="none" cap="none" strike="noStrike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Rejected</a:t>
            </a:r>
            <a:endParaRPr b="1" i="0" sz="17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700"/>
              <a:buFont typeface="Montserrat"/>
              <a:buChar char="●"/>
            </a:pPr>
            <a:r>
              <a:rPr b="1" i="0" lang="en" sz="1700" u="none" cap="none" strike="noStrike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Deferred*</a:t>
            </a:r>
            <a:r>
              <a:rPr b="1" lang="en" sz="1700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 or </a:t>
            </a:r>
            <a:r>
              <a:rPr b="1" i="0" lang="en" sz="1700" u="none" cap="none" strike="noStrike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Waitlisted**</a:t>
            </a:r>
            <a:endParaRPr b="1" i="0" sz="17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*Applies to Early Round</a:t>
            </a:r>
            <a:endParaRPr>
              <a:solidFill>
                <a:srgbClr val="242A5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**Applies to Regular Decision results </a:t>
            </a:r>
            <a:endParaRPr b="0" i="0" sz="1400" u="none" cap="none" strike="noStrike">
              <a:solidFill>
                <a:srgbClr val="242A5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42A5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3"/>
          <p:cNvSpPr/>
          <p:nvPr/>
        </p:nvSpPr>
        <p:spPr>
          <a:xfrm>
            <a:off x="301275" y="462450"/>
            <a:ext cx="652800" cy="43800"/>
          </a:xfrm>
          <a:prstGeom prst="rect">
            <a:avLst/>
          </a:prstGeom>
          <a:solidFill>
            <a:srgbClr val="CD4B5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3"/>
          <p:cNvSpPr/>
          <p:nvPr/>
        </p:nvSpPr>
        <p:spPr>
          <a:xfrm>
            <a:off x="301275" y="384025"/>
            <a:ext cx="71892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B24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Results from Early Applications</a:t>
            </a:r>
            <a:endParaRPr b="1" i="0" sz="3000" u="none" cap="none" strike="noStrike">
              <a:solidFill>
                <a:srgbClr val="CD4B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8" name="Google Shape;14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112" y="4842599"/>
            <a:ext cx="10352100" cy="33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33"/>
          <p:cNvPicPr preferRelativeResize="0"/>
          <p:nvPr/>
        </p:nvPicPr>
        <p:blipFill rotWithShape="1">
          <a:blip r:embed="rId4">
            <a:alphaModFix/>
          </a:blip>
          <a:srcRect b="17518" l="0" r="29143" t="15894"/>
          <a:stretch/>
        </p:blipFill>
        <p:spPr>
          <a:xfrm>
            <a:off x="301275" y="1481750"/>
            <a:ext cx="2868375" cy="269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4"/>
          <p:cNvSpPr/>
          <p:nvPr/>
        </p:nvSpPr>
        <p:spPr>
          <a:xfrm>
            <a:off x="301275" y="462450"/>
            <a:ext cx="652800" cy="43800"/>
          </a:xfrm>
          <a:prstGeom prst="rect">
            <a:avLst/>
          </a:prstGeom>
          <a:solidFill>
            <a:srgbClr val="CD4B5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4"/>
          <p:cNvSpPr/>
          <p:nvPr/>
        </p:nvSpPr>
        <p:spPr>
          <a:xfrm>
            <a:off x="301275" y="384025"/>
            <a:ext cx="71892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B24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What should I do if I am </a:t>
            </a:r>
            <a:r>
              <a:rPr b="1" lang="en" sz="3000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accepted</a:t>
            </a:r>
            <a:r>
              <a:rPr b="1" i="0" lang="en" sz="3000" u="none" cap="none" strike="noStrike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b="1" i="0" sz="3000" u="none" cap="none" strike="noStrike">
              <a:solidFill>
                <a:srgbClr val="CD4B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6" name="Google Shape;15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112" y="4842599"/>
            <a:ext cx="10352100" cy="33701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4"/>
          <p:cNvSpPr txBox="1"/>
          <p:nvPr/>
        </p:nvSpPr>
        <p:spPr>
          <a:xfrm>
            <a:off x="251700" y="1050600"/>
            <a:ext cx="5962200" cy="3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CD4B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CONGRATS!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</a:pPr>
            <a:r>
              <a:rPr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If it is an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ED acceptance</a:t>
            </a:r>
            <a:r>
              <a:rPr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you need to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withdraw all other applications </a:t>
            </a:r>
            <a:r>
              <a:rPr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to other schools you have submitted applications to. This includes applications to schools outside of the US as well as the ED agreement is global. </a:t>
            </a:r>
            <a:endParaRPr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Light"/>
              <a:buChar char="○"/>
            </a:pPr>
            <a:r>
              <a:rPr lang="en" sz="1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Accepted reasons for pulling out of an ED agreement tend to be due to change in a family’s financial situation (i.e. ability to pay) </a:t>
            </a:r>
            <a:endParaRPr sz="12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</a:pPr>
            <a:r>
              <a:rPr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If it is an REA/EA acceptance, you may wish to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adjust your RD school list</a:t>
            </a:r>
            <a:r>
              <a:rPr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(e.g. more reach/hard reach schools)</a:t>
            </a:r>
            <a:endParaRPr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</a:pPr>
            <a:r>
              <a:rPr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Read through the school’s acceptance letter clearly for next steps</a:t>
            </a:r>
            <a:endParaRPr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○"/>
            </a:pPr>
            <a:r>
              <a:rPr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E.g. date to pay your deposit, create a school portal account </a:t>
            </a:r>
            <a:endParaRPr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i="0" sz="6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8" name="Google Shape;15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1725" y="1700150"/>
            <a:ext cx="2451450" cy="245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/>
          <p:nvPr/>
        </p:nvSpPr>
        <p:spPr>
          <a:xfrm>
            <a:off x="301275" y="462450"/>
            <a:ext cx="652800" cy="43800"/>
          </a:xfrm>
          <a:prstGeom prst="rect">
            <a:avLst/>
          </a:prstGeom>
          <a:solidFill>
            <a:srgbClr val="CD4B5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5"/>
          <p:cNvSpPr/>
          <p:nvPr/>
        </p:nvSpPr>
        <p:spPr>
          <a:xfrm>
            <a:off x="301275" y="384025"/>
            <a:ext cx="71892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B24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What should I do if I am rejected?</a:t>
            </a:r>
            <a:endParaRPr b="1" i="0" sz="3000" u="none" cap="none" strike="noStrike">
              <a:solidFill>
                <a:srgbClr val="CD4B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5" name="Google Shape;16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112" y="4842599"/>
            <a:ext cx="10352100" cy="33701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5"/>
          <p:cNvSpPr txBox="1"/>
          <p:nvPr/>
        </p:nvSpPr>
        <p:spPr>
          <a:xfrm>
            <a:off x="301275" y="1128025"/>
            <a:ext cx="5292900" cy="3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CD4B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Explore all other available options</a:t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Pursue </a:t>
            </a:r>
            <a:r>
              <a:rPr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</a:t>
            </a:r>
            <a:r>
              <a:rPr b="0" i="0" lang="en" sz="1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aitlists at other </a:t>
            </a:r>
            <a:r>
              <a:rPr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colleges</a:t>
            </a:r>
            <a:r>
              <a:rPr b="0" i="0" lang="en" sz="1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(applies to RD round)</a:t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Take a gap year to re-apply</a:t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</a:pPr>
            <a:r>
              <a:rPr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Consider future options for the t</a:t>
            </a:r>
            <a:r>
              <a:rPr b="0" i="0" lang="en" sz="1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ransfer process and how to boost </a:t>
            </a:r>
            <a:r>
              <a:rPr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your </a:t>
            </a:r>
            <a:r>
              <a:rPr b="0" i="0" lang="en" sz="1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candidacy while </a:t>
            </a:r>
            <a:r>
              <a:rPr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 college </a:t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Future grad school applications</a:t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i="0" sz="6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7" name="Google Shape;16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2127" y="1528201"/>
            <a:ext cx="1827968" cy="150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"/>
          <p:cNvSpPr/>
          <p:nvPr/>
        </p:nvSpPr>
        <p:spPr>
          <a:xfrm>
            <a:off x="301275" y="462450"/>
            <a:ext cx="652800" cy="43800"/>
          </a:xfrm>
          <a:prstGeom prst="rect">
            <a:avLst/>
          </a:prstGeom>
          <a:solidFill>
            <a:srgbClr val="CD4B5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6"/>
          <p:cNvSpPr/>
          <p:nvPr/>
        </p:nvSpPr>
        <p:spPr>
          <a:xfrm>
            <a:off x="301275" y="384025"/>
            <a:ext cx="71892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B24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What does it mean to be deferred?</a:t>
            </a:r>
            <a:endParaRPr b="1" i="0" sz="3000" u="none" cap="none" strike="noStrike">
              <a:solidFill>
                <a:srgbClr val="CD4B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4" name="Google Shape;17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112" y="4842599"/>
            <a:ext cx="10352100" cy="33701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6"/>
          <p:cNvSpPr txBox="1"/>
          <p:nvPr/>
        </p:nvSpPr>
        <p:spPr>
          <a:xfrm>
            <a:off x="301275" y="1128025"/>
            <a:ext cx="6465600" cy="3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The school has not yet made a final decision on your application</a:t>
            </a:r>
            <a:endParaRPr b="1" i="0" sz="1400" u="none" cap="none" strike="noStrike">
              <a:solidFill>
                <a:srgbClr val="CD4B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CD4B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 Light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Application will be moved to the Regular Decision applicant pool</a:t>
            </a:r>
            <a:endParaRPr b="0" i="0" sz="13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 Light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Application will be reviewed again alongside the rest of the RD pool.</a:t>
            </a:r>
            <a:endParaRPr b="0" i="0" sz="13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Deferrals happen for many reasons</a:t>
            </a:r>
            <a:endParaRPr b="1" i="0" sz="1400" u="none" cap="none" strike="noStrike">
              <a:solidFill>
                <a:srgbClr val="CD4B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CD4B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 Light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school does not yet have enough information to either accept or reject the deferred student</a:t>
            </a:r>
            <a:endParaRPr b="1" i="0" sz="1300" u="none" cap="none" strike="noStrike">
              <a:solidFill>
                <a:srgbClr val="9B2B2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 Light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student’s academic record is inconsistent; the college may want to see mid-year grades before making a decision</a:t>
            </a:r>
            <a:endParaRPr b="0" i="0" sz="13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 Light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college wants to wait to review the RD applicant pool before making a final decision, to compare the student against other applicants from their local context</a:t>
            </a:r>
            <a:endParaRPr b="0" i="0" sz="13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 Light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Sometimes, a deferral is, unfortunately, a polite rejection</a:t>
            </a:r>
            <a:endParaRPr b="0" i="0" sz="13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i="0" sz="6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6" name="Google Shape;17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8347" y="1620197"/>
            <a:ext cx="1903100" cy="190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7"/>
          <p:cNvSpPr/>
          <p:nvPr/>
        </p:nvSpPr>
        <p:spPr>
          <a:xfrm>
            <a:off x="301275" y="462450"/>
            <a:ext cx="652800" cy="43800"/>
          </a:xfrm>
          <a:prstGeom prst="rect">
            <a:avLst/>
          </a:prstGeom>
          <a:solidFill>
            <a:srgbClr val="CD4B5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7"/>
          <p:cNvSpPr/>
          <p:nvPr/>
        </p:nvSpPr>
        <p:spPr>
          <a:xfrm>
            <a:off x="301275" y="384025"/>
            <a:ext cx="82668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B24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What should I do after being deferred? </a:t>
            </a:r>
            <a:endParaRPr b="1" i="0" sz="3000" u="none" cap="none" strike="noStrike">
              <a:solidFill>
                <a:srgbClr val="CD4B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3" name="Google Shape;18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112" y="4842599"/>
            <a:ext cx="10352100" cy="33701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7"/>
          <p:cNvSpPr txBox="1"/>
          <p:nvPr/>
        </p:nvSpPr>
        <p:spPr>
          <a:xfrm>
            <a:off x="301275" y="1128025"/>
            <a:ext cx="8596200" cy="3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Keep calm</a:t>
            </a:r>
            <a:endParaRPr b="1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Pay attention to the instructions sent to them by the college and follow the timeline/deadline/steps laid out, especially as it relates to sending an official academic update.</a:t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Inform </a:t>
            </a:r>
            <a:r>
              <a:rPr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your school counselor</a:t>
            </a:r>
            <a:r>
              <a:rPr b="0" i="0" lang="en" sz="1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who may need to make sure to send in your mid year/final report by early January.</a:t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Send a </a:t>
            </a: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letter of continued interest </a:t>
            </a:r>
            <a:r>
              <a:rPr b="0" i="0" lang="en" sz="1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(which includes updates and a reaffirmation of interest) if this school remains your top choice and you are still interested in attending the school. These letters are typically sent </a:t>
            </a:r>
            <a:r>
              <a:rPr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between end-Dec to end-Jan. You may focus on your remaining RD applications (or EDII application) first! </a:t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i="0" sz="6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5915" y="4324451"/>
            <a:ext cx="1272175" cy="56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8"/>
          <p:cNvSpPr txBox="1"/>
          <p:nvPr>
            <p:ph idx="1" type="body"/>
          </p:nvPr>
        </p:nvSpPr>
        <p:spPr>
          <a:xfrm>
            <a:off x="957300" y="1935600"/>
            <a:ext cx="72294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lang="en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Regular</a:t>
            </a:r>
            <a:r>
              <a:rPr b="1" lang="en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Decision Outcomes:</a:t>
            </a:r>
            <a:br>
              <a:rPr b="1" lang="en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What’s Next?</a:t>
            </a:r>
            <a:endParaRPr b="1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9"/>
          <p:cNvSpPr/>
          <p:nvPr/>
        </p:nvSpPr>
        <p:spPr>
          <a:xfrm>
            <a:off x="301275" y="462450"/>
            <a:ext cx="652800" cy="43800"/>
          </a:xfrm>
          <a:prstGeom prst="rect">
            <a:avLst/>
          </a:prstGeom>
          <a:solidFill>
            <a:srgbClr val="CD4B5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9"/>
          <p:cNvSpPr/>
          <p:nvPr/>
        </p:nvSpPr>
        <p:spPr>
          <a:xfrm>
            <a:off x="301275" y="384025"/>
            <a:ext cx="71892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B24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Why do waitlists exist?</a:t>
            </a:r>
            <a:endParaRPr b="1" i="0" sz="3000" u="none" cap="none" strike="noStrike">
              <a:solidFill>
                <a:srgbClr val="CD4B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8" name="Google Shape;19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112" y="4842599"/>
            <a:ext cx="10352100" cy="33701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9"/>
          <p:cNvSpPr txBox="1"/>
          <p:nvPr/>
        </p:nvSpPr>
        <p:spPr>
          <a:xfrm>
            <a:off x="863225" y="1100125"/>
            <a:ext cx="7995600" cy="3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Reason 1: </a:t>
            </a:r>
            <a:r>
              <a:rPr b="1" i="0" lang="en" sz="1200" u="none" cap="none" strike="noStrike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Protecting the “yield” numbers at colleges</a:t>
            </a:r>
            <a:endParaRPr b="1" i="0" sz="12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Light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Colleges expect a certain % of students they accept to take up their offers of admission - this is an extremely important factor in admissions and planning ahead for the optimal class size and composition</a:t>
            </a:r>
            <a:endParaRPr b="0" i="0" sz="12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Light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most prestigious colleges have the highest yield %s. Harvard’s yield rate is consistently 80%+, which means 80% of students accepted by Harvard also choose to attend </a:t>
            </a:r>
            <a:endParaRPr b="0" i="0" sz="12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Reason 2: </a:t>
            </a:r>
            <a:r>
              <a:rPr b="1" i="0" lang="en" sz="1200" u="none" cap="none" strike="noStrike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Constructing the best possible class aligned with institutional priorities </a:t>
            </a:r>
            <a:endParaRPr b="1" i="0" sz="12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Light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If the yield is lower than predicted, then colleges can accept qualified students off the waitlist, and pick and choose which types of students to fill the class </a:t>
            </a:r>
            <a:endParaRPr b="0" i="0" sz="12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Light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Example: If the college has a low yield of students accepted to study engineering, they can pick students off the waitlist who specifically want to study engineering </a:t>
            </a:r>
            <a:endParaRPr b="0" i="0" sz="12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Reason 3: </a:t>
            </a:r>
            <a:r>
              <a:rPr b="1" i="0" lang="en" sz="1200" u="none" cap="none" strike="noStrike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Letting students down easily; waitlist vs rejection </a:t>
            </a:r>
            <a:endParaRPr b="1" i="0" sz="12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Light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Colleges also want to preserve their relationships with students and their high schools; a waitlist feels a lot better than a rejection </a:t>
            </a:r>
            <a:endParaRPr b="1" i="0" sz="6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0" name="Google Shape;20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820" y="1100119"/>
            <a:ext cx="313725" cy="35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820" y="4028019"/>
            <a:ext cx="313725" cy="35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820" y="2636244"/>
            <a:ext cx="313725" cy="3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/>
          <p:cNvSpPr/>
          <p:nvPr/>
        </p:nvSpPr>
        <p:spPr>
          <a:xfrm>
            <a:off x="301275" y="462450"/>
            <a:ext cx="652800" cy="43800"/>
          </a:xfrm>
          <a:prstGeom prst="rect">
            <a:avLst/>
          </a:prstGeom>
          <a:solidFill>
            <a:srgbClr val="CD4B5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0"/>
          <p:cNvSpPr/>
          <p:nvPr/>
        </p:nvSpPr>
        <p:spPr>
          <a:xfrm>
            <a:off x="301275" y="612625"/>
            <a:ext cx="82668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B24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What should I do after being </a:t>
            </a:r>
            <a:r>
              <a:rPr b="1" lang="en" sz="3000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waitlisted in the regular round</a:t>
            </a:r>
            <a:r>
              <a:rPr b="1" i="0" lang="en" sz="3000" u="none" cap="none" strike="noStrike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? </a:t>
            </a:r>
            <a:endParaRPr b="1" i="0" sz="3000" u="none" cap="none" strike="noStrike">
              <a:solidFill>
                <a:srgbClr val="CD4B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9" name="Google Shape;20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112" y="4842599"/>
            <a:ext cx="10352100" cy="33701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40"/>
          <p:cNvSpPr txBox="1"/>
          <p:nvPr/>
        </p:nvSpPr>
        <p:spPr>
          <a:xfrm>
            <a:off x="301275" y="1128025"/>
            <a:ext cx="8596200" cy="3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Keep calm</a:t>
            </a:r>
            <a:endParaRPr b="1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Pay attention to the instructions sent to them by the college and follow the timeline/deadline/steps laid out, especially as it relates to sending an official academic update.</a:t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Inform </a:t>
            </a:r>
            <a:r>
              <a:rPr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your school counselor</a:t>
            </a:r>
            <a:r>
              <a:rPr b="0" i="0" lang="en" sz="1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who </a:t>
            </a:r>
            <a:r>
              <a:rPr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can reach out to the colleges to advocate for you or to submit new information about updated grades or other achievements</a:t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Send a </a:t>
            </a: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letter of continued interest </a:t>
            </a:r>
            <a:r>
              <a:rPr b="0" i="0" lang="en" sz="14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(which includes updates and a reaffirmation of interest) if this school remains your top choice and you are still interested in attending the school. These letters are typically sent </a:t>
            </a:r>
            <a:r>
              <a:rPr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between by late-April. Focus on new achievements and progress since you submitted your regular decision applications</a:t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i="0" sz="6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5915" y="4324451"/>
            <a:ext cx="1272175" cy="56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1"/>
          <p:cNvSpPr txBox="1"/>
          <p:nvPr>
            <p:ph idx="1" type="body"/>
          </p:nvPr>
        </p:nvSpPr>
        <p:spPr>
          <a:xfrm>
            <a:off x="957300" y="1935600"/>
            <a:ext cx="72294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lang="en" sz="3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Letter of Continued Interest (LOCI)</a:t>
            </a:r>
            <a:endParaRPr b="1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2"/>
          <p:cNvSpPr/>
          <p:nvPr/>
        </p:nvSpPr>
        <p:spPr>
          <a:xfrm>
            <a:off x="301275" y="462450"/>
            <a:ext cx="652800" cy="43800"/>
          </a:xfrm>
          <a:prstGeom prst="rect">
            <a:avLst/>
          </a:prstGeom>
          <a:solidFill>
            <a:srgbClr val="CD4B5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2"/>
          <p:cNvSpPr/>
          <p:nvPr/>
        </p:nvSpPr>
        <p:spPr>
          <a:xfrm>
            <a:off x="301275" y="384025"/>
            <a:ext cx="82668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B24"/>
              </a:buClr>
              <a:buSzPts val="3000"/>
              <a:buFont typeface="Arial"/>
              <a:buNone/>
            </a:pPr>
            <a:r>
              <a:rPr b="1" lang="en" sz="3000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Important note on LOCIs</a:t>
            </a:r>
            <a:endParaRPr b="1" i="0" sz="3000" u="none" cap="none" strike="noStrike">
              <a:solidFill>
                <a:srgbClr val="CD4B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4" name="Google Shape;22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112" y="4842599"/>
            <a:ext cx="10352100" cy="33701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2"/>
          <p:cNvSpPr txBox="1"/>
          <p:nvPr/>
        </p:nvSpPr>
        <p:spPr>
          <a:xfrm>
            <a:off x="301275" y="1128025"/>
            <a:ext cx="5380200" cy="3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</a:pPr>
            <a:r>
              <a:rPr b="1"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Ensure that you are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following the school’s instructions</a:t>
            </a:r>
            <a:r>
              <a:rPr b="1"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given on the school portal </a:t>
            </a:r>
            <a:endParaRPr b="1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</a:pPr>
            <a:r>
              <a:rPr b="1"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Some schools do not encourage students to spam the admissions office with additional ‘love letters’, and designate a section on</a:t>
            </a:r>
            <a:r>
              <a:rPr b="1"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the school portal </a:t>
            </a:r>
            <a:r>
              <a:rPr b="1"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for brief and </a:t>
            </a:r>
            <a:r>
              <a:rPr b="1"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succinct</a:t>
            </a:r>
            <a:r>
              <a:rPr b="1"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1"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updates</a:t>
            </a:r>
            <a:r>
              <a:rPr b="1"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on the student’s grades or ECLs (e.g. Yale) </a:t>
            </a:r>
            <a:endParaRPr b="1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</a:pPr>
            <a:r>
              <a:rPr b="1" lang="en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Other schools may encourage or welcome students to email admissions officers (e.g. Babson) </a:t>
            </a:r>
            <a:endParaRPr b="1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Tip</a:t>
            </a:r>
            <a:r>
              <a:rPr lang="en" sz="1200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" sz="1200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If a school’s admissions officers and their contact info are not easily found on their admissions office website, it’s a likely sign that they do not want to be contacted directly by students! </a:t>
            </a:r>
            <a:endParaRPr sz="1200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i="0" sz="6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6" name="Google Shape;226;p42"/>
          <p:cNvPicPr preferRelativeResize="0"/>
          <p:nvPr/>
        </p:nvPicPr>
        <p:blipFill rotWithShape="1">
          <a:blip r:embed="rId4">
            <a:alphaModFix/>
          </a:blip>
          <a:srcRect b="14913" l="6489" r="10838" t="15594"/>
          <a:stretch/>
        </p:blipFill>
        <p:spPr>
          <a:xfrm>
            <a:off x="6054700" y="1481750"/>
            <a:ext cx="2513375" cy="211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3"/>
          <p:cNvSpPr/>
          <p:nvPr/>
        </p:nvSpPr>
        <p:spPr>
          <a:xfrm>
            <a:off x="301275" y="462450"/>
            <a:ext cx="652800" cy="43800"/>
          </a:xfrm>
          <a:prstGeom prst="rect">
            <a:avLst/>
          </a:prstGeom>
          <a:solidFill>
            <a:srgbClr val="CD4B5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3"/>
          <p:cNvSpPr/>
          <p:nvPr/>
        </p:nvSpPr>
        <p:spPr>
          <a:xfrm>
            <a:off x="301275" y="384025"/>
            <a:ext cx="82668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B24"/>
              </a:buClr>
              <a:buSzPts val="3000"/>
              <a:buFont typeface="Arial"/>
              <a:buNone/>
            </a:pPr>
            <a:r>
              <a:rPr b="1" lang="en" sz="3000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LOCI Impact</a:t>
            </a:r>
            <a:endParaRPr b="1" i="0" sz="3000" u="none" cap="none" strike="noStrike">
              <a:solidFill>
                <a:srgbClr val="CD4B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3" name="Google Shape;23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112" y="4842599"/>
            <a:ext cx="10352100" cy="337013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43"/>
          <p:cNvSpPr txBox="1"/>
          <p:nvPr/>
        </p:nvSpPr>
        <p:spPr>
          <a:xfrm>
            <a:off x="301275" y="1050600"/>
            <a:ext cx="5814600" cy="3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200"/>
              <a:buFont typeface="Montserrat Light"/>
              <a:buChar char="●"/>
            </a:pPr>
            <a:r>
              <a:rPr b="1" lang="en" sz="1200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Generally, for T20 schools a LOCI will only have impact if the EC updates and writing are very strong. </a:t>
            </a:r>
            <a:endParaRPr b="1" sz="1200">
              <a:solidFill>
                <a:srgbClr val="242A5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200"/>
              <a:buFont typeface="Montserrat Light"/>
              <a:buChar char="●"/>
            </a:pPr>
            <a:r>
              <a:rPr b="1" lang="en" sz="1200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This impact may differ at schools where waitlists are </a:t>
            </a:r>
            <a:r>
              <a:rPr b="1" i="1" lang="en" sz="1200" u="sng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ranked vs unranked. </a:t>
            </a:r>
            <a:endParaRPr i="1" sz="1200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200"/>
              <a:buFont typeface="Montserrat Light"/>
              <a:buChar char="●"/>
            </a:pPr>
            <a:r>
              <a:rPr i="1" lang="en" sz="1200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While waitlist is different from deferral, we can learn something about how applicants who are waitlist/deferred are treated in each round by observing last year’s waitlist data and policies </a:t>
            </a:r>
            <a:endParaRPr i="1" sz="1200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200"/>
              <a:buFont typeface="Montserrat Light"/>
              <a:buChar char="●"/>
            </a:pPr>
            <a:r>
              <a:rPr b="1" lang="en" sz="1200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At colleges where </a:t>
            </a:r>
            <a:r>
              <a:rPr b="1" lang="en" sz="1200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waitlists are ranked</a:t>
            </a:r>
            <a:r>
              <a:rPr b="1" lang="en" sz="1200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a student may </a:t>
            </a:r>
            <a:r>
              <a:rPr b="1" lang="en" sz="1200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increases chances</a:t>
            </a:r>
            <a:r>
              <a:rPr b="1" lang="en" sz="1200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of being accepted RD by </a:t>
            </a:r>
            <a:r>
              <a:rPr b="1" lang="en" sz="1200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demonstrating interest</a:t>
            </a:r>
            <a:endParaRPr b="1" sz="1200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200"/>
              <a:buFont typeface="Montserrat Light"/>
              <a:buChar char="●"/>
            </a:pPr>
            <a:r>
              <a:rPr b="1" lang="en" sz="1200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At colleges where deferrals and </a:t>
            </a:r>
            <a:r>
              <a:rPr b="1" lang="en" sz="1200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waitlists are unranked</a:t>
            </a:r>
            <a:r>
              <a:rPr b="1" lang="en" sz="1200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the LOCI </a:t>
            </a:r>
            <a:r>
              <a:rPr b="1" lang="en" sz="1200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may </a:t>
            </a:r>
            <a:r>
              <a:rPr b="1" lang="en" sz="1200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still have an impact in avoiding waitlist in the RD round by continuing to demonstrate commitment to the school</a:t>
            </a:r>
            <a:endParaRPr b="1" sz="1200">
              <a:solidFill>
                <a:srgbClr val="242A5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242A5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242A5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i="0" sz="6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5" name="Google Shape;23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1925" y="1840053"/>
            <a:ext cx="1721075" cy="15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3"/>
          <p:cNvSpPr txBox="1"/>
          <p:nvPr/>
        </p:nvSpPr>
        <p:spPr>
          <a:xfrm>
            <a:off x="370500" y="3872150"/>
            <a:ext cx="8391000" cy="8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Tip</a:t>
            </a:r>
            <a:r>
              <a:rPr lang="en" sz="1200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" sz="1200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 Speak to your school counselor to understand the profile of students in your grade who have received acceptances at schools you have been deferred at. This often gives us a good sense of your shot at RD round. If you have a close relationship with your counselor, they might even be willing to call/email the college to advocate for you.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4"/>
          <p:cNvSpPr/>
          <p:nvPr/>
        </p:nvSpPr>
        <p:spPr>
          <a:xfrm>
            <a:off x="301275" y="462450"/>
            <a:ext cx="652800" cy="43800"/>
          </a:xfrm>
          <a:prstGeom prst="rect">
            <a:avLst/>
          </a:prstGeom>
          <a:solidFill>
            <a:srgbClr val="CD4B5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4"/>
          <p:cNvSpPr/>
          <p:nvPr/>
        </p:nvSpPr>
        <p:spPr>
          <a:xfrm>
            <a:off x="269700" y="596900"/>
            <a:ext cx="77979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B24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Guidance for Letters of Continued Interest </a:t>
            </a:r>
            <a:endParaRPr b="1" i="0" sz="2700" u="none" cap="none" strike="noStrike">
              <a:solidFill>
                <a:srgbClr val="CD4B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44"/>
          <p:cNvSpPr txBox="1"/>
          <p:nvPr/>
        </p:nvSpPr>
        <p:spPr>
          <a:xfrm>
            <a:off x="2311375" y="1254575"/>
            <a:ext cx="6644400" cy="3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6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Keep the tone </a:t>
            </a:r>
            <a:r>
              <a:rPr b="1" i="0" lang="en" sz="1400" u="none" cap="none" strike="noStrike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positive and grateful: reaffirm your interest in the school</a:t>
            </a:r>
            <a:r>
              <a:rPr b="0" i="0" lang="en" sz="1400" u="none" cap="none" strike="noStrike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and should not display any disappointment/ anger/ frustration in your letter. Be careful not to point fingers or suggest the admissions officials made a mistake. </a:t>
            </a:r>
            <a:r>
              <a:rPr b="1" i="0" lang="en" sz="1600" u="none" cap="none" strike="noStrike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b="0" i="0" lang="en" sz="1400" u="none" cap="none" strike="noStrike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highlight any specific resources or opportunities you would take advantage of</a:t>
            </a:r>
            <a:endParaRPr b="0" i="0" sz="1400" u="none" cap="none" strike="noStrike">
              <a:solidFill>
                <a:srgbClr val="242A5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42A5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6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Stay </a:t>
            </a:r>
            <a:r>
              <a:rPr b="1" i="0" lang="en" sz="1400" u="none" cap="none" strike="noStrike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consistent </a:t>
            </a:r>
            <a:r>
              <a:rPr b="0" i="0" lang="en" sz="1400" u="none" cap="none" strike="noStrike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when it comes to grammar, punctuation, tone and style, similar to your personal statement and/or supplemental writing.</a:t>
            </a:r>
            <a:endParaRPr b="0" i="0" sz="1400" u="none" cap="none" strike="noStrike">
              <a:solidFill>
                <a:srgbClr val="242A5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42A5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600"/>
              <a:buFont typeface="Montserrat"/>
              <a:buChar char="●"/>
            </a:pPr>
            <a:r>
              <a:rPr b="0" i="0" lang="en" sz="1400" u="none" cap="none" strike="noStrike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Present </a:t>
            </a:r>
            <a:r>
              <a:rPr b="1" i="0" lang="en" sz="1400" u="none" cap="none" strike="noStrike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new information</a:t>
            </a:r>
            <a:r>
              <a:rPr b="0" i="0" lang="en" sz="1400" u="none" cap="none" strike="noStrike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that might </a:t>
            </a:r>
            <a:r>
              <a:rPr b="1" i="0" lang="en" sz="1400" u="none" cap="none" strike="noStrike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boost your candidacy</a:t>
            </a:r>
            <a:r>
              <a:rPr b="0" i="0" lang="en" sz="1400" u="none" cap="none" strike="noStrike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1" i="0" lang="en" sz="1600" u="none" cap="none" strike="noStrike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b="0" i="0" lang="en" sz="1400" u="none" cap="none" strike="noStrike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extracurricular, academic, personal achievements since submitting your application </a:t>
            </a:r>
            <a:endParaRPr b="0" i="0" sz="1400" u="none" cap="none" strike="noStrike">
              <a:solidFill>
                <a:srgbClr val="242A5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242A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4" name="Google Shape;24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00" y="1999049"/>
            <a:ext cx="2301801" cy="186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5"/>
          <p:cNvSpPr/>
          <p:nvPr/>
        </p:nvSpPr>
        <p:spPr>
          <a:xfrm>
            <a:off x="301275" y="462450"/>
            <a:ext cx="652800" cy="43800"/>
          </a:xfrm>
          <a:prstGeom prst="rect">
            <a:avLst/>
          </a:prstGeom>
          <a:solidFill>
            <a:srgbClr val="CD4B5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5"/>
          <p:cNvSpPr/>
          <p:nvPr/>
        </p:nvSpPr>
        <p:spPr>
          <a:xfrm>
            <a:off x="269700" y="596900"/>
            <a:ext cx="77979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B24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How to send</a:t>
            </a:r>
            <a:r>
              <a:rPr b="1" i="0" lang="en" sz="2700" u="none" cap="none" strike="noStrike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 Letters of Continued Interest </a:t>
            </a:r>
            <a:endParaRPr b="1" i="0" sz="2700" u="none" cap="none" strike="noStrike">
              <a:solidFill>
                <a:srgbClr val="CD4B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45"/>
          <p:cNvSpPr txBox="1"/>
          <p:nvPr/>
        </p:nvSpPr>
        <p:spPr>
          <a:xfrm>
            <a:off x="2153550" y="1102175"/>
            <a:ext cx="6802200" cy="3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Read through waitlist or deferral letter carefully. Some schools will indicate that you can send in a LOCI through the </a:t>
            </a:r>
            <a:r>
              <a:rPr b="1" lang="en" sz="1200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school portal</a:t>
            </a:r>
            <a:r>
              <a:rPr lang="en" sz="1200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by a certain deadline</a:t>
            </a:r>
            <a:br>
              <a:rPr lang="en" sz="1200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</a:br>
            <a:endParaRPr sz="1200">
              <a:solidFill>
                <a:srgbClr val="242A5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200"/>
              <a:buFont typeface="Montserrat Light"/>
              <a:buChar char="●"/>
            </a:pPr>
            <a:r>
              <a:rPr lang="en" sz="1200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Otherwise, you can </a:t>
            </a:r>
            <a:r>
              <a:rPr b="1" lang="en" sz="1200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email it to the admissions office</a:t>
            </a:r>
            <a:r>
              <a:rPr lang="en" sz="1200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(you can find the email on the school website)</a:t>
            </a:r>
            <a:br>
              <a:rPr lang="en" sz="1200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</a:br>
            <a:endParaRPr sz="1200">
              <a:solidFill>
                <a:srgbClr val="242A5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200"/>
              <a:buFont typeface="Montserrat Light"/>
              <a:buChar char="●"/>
            </a:pPr>
            <a:r>
              <a:rPr lang="en" sz="1200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Ideally, you should send the letter </a:t>
            </a:r>
            <a:r>
              <a:rPr b="1" lang="en" sz="1200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within 4 weeks if you are deferred in the early round </a:t>
            </a:r>
            <a:endParaRPr b="1" sz="1200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200"/>
              <a:buFont typeface="Montserrat Light"/>
              <a:buChar char="○"/>
            </a:pPr>
            <a:r>
              <a:rPr lang="en" sz="1200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AOs return to the office after Christmas/NYE to begin the reading process for RD again </a:t>
            </a:r>
            <a:br>
              <a:rPr lang="en" sz="1200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</a:br>
            <a:endParaRPr sz="1200">
              <a:solidFill>
                <a:srgbClr val="242A5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200"/>
              <a:buFont typeface="Montserrat Light"/>
              <a:buChar char="●"/>
            </a:pPr>
            <a:r>
              <a:rPr lang="en" sz="1200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Ideally, you should send the letter </a:t>
            </a:r>
            <a:r>
              <a:rPr b="1" lang="en" sz="1200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within 1-2 weeks for waitlists after RD round</a:t>
            </a:r>
            <a:endParaRPr b="1" sz="1200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200"/>
              <a:buFont typeface="Montserrat Light"/>
              <a:buChar char="○"/>
            </a:pPr>
            <a:r>
              <a:rPr lang="en" sz="1200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By April, you will find out your admissions outcomes</a:t>
            </a:r>
            <a:endParaRPr sz="1200">
              <a:solidFill>
                <a:srgbClr val="242A5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200"/>
              <a:buFont typeface="Montserrat Light"/>
              <a:buChar char="○"/>
            </a:pPr>
            <a:r>
              <a:rPr lang="en" sz="1200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By 1 May, students who want to attend the school will put in their deposit</a:t>
            </a:r>
            <a:endParaRPr sz="1200">
              <a:solidFill>
                <a:srgbClr val="242A5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200"/>
              <a:buFont typeface="Montserrat Light"/>
              <a:buChar char="■"/>
            </a:pPr>
            <a:r>
              <a:rPr lang="en" sz="1200">
                <a:solidFill>
                  <a:srgbClr val="242A5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After 1 May, admissions offices will know if there is space for students on the waitlist </a:t>
            </a:r>
            <a:endParaRPr sz="1200">
              <a:solidFill>
                <a:srgbClr val="242A5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200"/>
              <a:buFont typeface="Montserrat Light"/>
              <a:buChar char="■"/>
            </a:pPr>
            <a:r>
              <a:rPr b="1" lang="en" sz="1200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Waitlisted students can expect an answer no later than end-July</a:t>
            </a:r>
            <a:endParaRPr b="1" sz="1200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2" name="Google Shape;252;p45"/>
          <p:cNvPicPr preferRelativeResize="0"/>
          <p:nvPr/>
        </p:nvPicPr>
        <p:blipFill rotWithShape="1">
          <a:blip r:embed="rId3">
            <a:alphaModFix/>
          </a:blip>
          <a:srcRect b="8130" l="0" r="0" t="0"/>
          <a:stretch/>
        </p:blipFill>
        <p:spPr>
          <a:xfrm>
            <a:off x="222000" y="2317421"/>
            <a:ext cx="2010099" cy="1381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6"/>
          <p:cNvSpPr/>
          <p:nvPr/>
        </p:nvSpPr>
        <p:spPr>
          <a:xfrm>
            <a:off x="301275" y="462450"/>
            <a:ext cx="652800" cy="43800"/>
          </a:xfrm>
          <a:prstGeom prst="rect">
            <a:avLst/>
          </a:prstGeom>
          <a:solidFill>
            <a:srgbClr val="CD4B5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46"/>
          <p:cNvSpPr/>
          <p:nvPr/>
        </p:nvSpPr>
        <p:spPr>
          <a:xfrm>
            <a:off x="269700" y="596900"/>
            <a:ext cx="77979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2B24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CD4B53"/>
                </a:solidFill>
                <a:latin typeface="Montserrat"/>
                <a:ea typeface="Montserrat"/>
                <a:cs typeface="Montserrat"/>
                <a:sym typeface="Montserrat"/>
              </a:rPr>
              <a:t>Examples of Letters of Continued Interest </a:t>
            </a:r>
            <a:endParaRPr b="1" i="0" sz="2700" u="none" cap="none" strike="noStrike">
              <a:solidFill>
                <a:srgbClr val="CD4B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46"/>
          <p:cNvSpPr txBox="1"/>
          <p:nvPr/>
        </p:nvSpPr>
        <p:spPr>
          <a:xfrm>
            <a:off x="2282075" y="1254575"/>
            <a:ext cx="6673800" cy="3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400"/>
              <a:buFont typeface="Montserrat"/>
              <a:buChar char="●"/>
            </a:pPr>
            <a:r>
              <a:rPr b="1" i="0" lang="en" sz="1400" u="none" cap="none" strike="noStrike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Example #1</a:t>
            </a:r>
            <a:r>
              <a:rPr b="0" i="0" lang="en" sz="1400" u="none" cap="none" strike="noStrike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 - Deferred ED, then Accepted to Wharton RD</a:t>
            </a:r>
            <a:endParaRPr b="0" i="0" sz="14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A50"/>
              </a:buClr>
              <a:buSzPts val="1400"/>
              <a:buFont typeface="Montserrat"/>
              <a:buChar char="●"/>
            </a:pPr>
            <a:r>
              <a:rPr b="1" i="0" lang="en" sz="1400" u="none" cap="none" strike="noStrike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Example #2</a:t>
            </a:r>
            <a:r>
              <a:rPr b="0" i="0" lang="en" sz="1400" u="none" cap="none" strike="noStrike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 - Deferred REA to Harvard (Ultimately accepted RD to Yale)</a:t>
            </a:r>
            <a:endParaRPr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You can find the examples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here</a:t>
            </a:r>
            <a:r>
              <a:rPr lang="en">
                <a:solidFill>
                  <a:srgbClr val="242A5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242A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0" name="Google Shape;26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18675" y="1897680"/>
            <a:ext cx="2634750" cy="158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1050" y="-53425"/>
            <a:ext cx="914399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4450" y="2839676"/>
            <a:ext cx="1885200" cy="188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7"/>
          <p:cNvSpPr txBox="1"/>
          <p:nvPr>
            <p:ph idx="4294967295" type="body"/>
          </p:nvPr>
        </p:nvSpPr>
        <p:spPr>
          <a:xfrm>
            <a:off x="1428150" y="1935600"/>
            <a:ext cx="62877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-38100" lvl="0" marL="177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Thank You &amp;</a:t>
            </a:r>
            <a:endParaRPr b="1" sz="4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" lvl="0" marL="177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Good Luck!</a:t>
            </a:r>
            <a:endParaRPr b="1" sz="4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8" name="Google Shape;268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4461" y="119174"/>
            <a:ext cx="1665576" cy="7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