
<file path=[Content_Types].xml><?xml version="1.0" encoding="utf-8"?>
<Types xmlns="http://schemas.openxmlformats.org/package/2006/content-types">
  <Default Extension="png" ContentType="image/png"/>
  <Default Extension="jpeg" ContentType="image/jpeg"/>
  <Default Extension="webp"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handoutMasterIdLst>
    <p:handoutMasterId r:id="rId15"/>
  </p:handoutMasterIdLst>
  <p:sldIdLst>
    <p:sldId id="258" r:id="rId2"/>
    <p:sldId id="260" r:id="rId3"/>
    <p:sldId id="270" r:id="rId4"/>
    <p:sldId id="271" r:id="rId5"/>
    <p:sldId id="272" r:id="rId6"/>
    <p:sldId id="273" r:id="rId7"/>
    <p:sldId id="281" r:id="rId8"/>
    <p:sldId id="274" r:id="rId9"/>
    <p:sldId id="276" r:id="rId10"/>
    <p:sldId id="278" r:id="rId11"/>
    <p:sldId id="279" r:id="rId12"/>
    <p:sldId id="28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C7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660"/>
  </p:normalViewPr>
  <p:slideViewPr>
    <p:cSldViewPr snapToGrid="0">
      <p:cViewPr varScale="1">
        <p:scale>
          <a:sx n="67" d="100"/>
          <a:sy n="67" d="100"/>
        </p:scale>
        <p:origin x="642" y="60"/>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7/12/2021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7/12/2021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lang="en-US" smtClean="0"/>
              <a:t>Click to edit Master title style</a:t>
            </a:r>
            <a:endParaRP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sp>
        <p:nvSpPr>
          <p:cNvPr id="11"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7/12/2021</a:t>
            </a:fld>
            <a:endParaRPr lang="en-US" dirty="0"/>
          </a:p>
        </p:txBody>
      </p:sp>
      <p:sp>
        <p:nvSpPr>
          <p:cNvPr id="12"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13"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7/12/2021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bg2"/>
                </a:solidFill>
              </a:defRPr>
            </a:lvl1pPr>
          </a:lstStyle>
          <a:p>
            <a:fld id="{2CCFE9AC-F15C-4FA0-A6F1-298829FA691D}" type="datetimeFigureOut">
              <a:rPr lang="en-US" smtClean="0"/>
              <a:pPr/>
              <a:t>7/12/2021</a:t>
            </a:fld>
            <a:endParaRPr lang="en-US"/>
          </a:p>
        </p:txBody>
      </p:sp>
      <p:sp>
        <p:nvSpPr>
          <p:cNvPr id="5" name="Footer Placeholder 4"/>
          <p:cNvSpPr>
            <a:spLocks noGrp="1"/>
          </p:cNvSpPr>
          <p:nvPr>
            <p:ph type="ftr" sz="quarter" idx="11"/>
          </p:nvPr>
        </p:nvSpPr>
        <p:spPr/>
        <p:txBody>
          <a:bodyPr/>
          <a:lstStyle>
            <a:lvl1pPr>
              <a:defRPr>
                <a:solidFill>
                  <a:schemeClr val="bg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280160" y="2194560"/>
            <a:ext cx="4489704" cy="398678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415368" y="2194560"/>
            <a:ext cx="4493424" cy="398678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7/12/2021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2CCFE9AC-F15C-4FA0-A6F1-298829FA691D}" type="datetimeFigureOut">
              <a:rPr lang="en-US"/>
              <a:t>7/12/2021</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2CCFE9AC-F15C-4FA0-A6F1-298829FA691D}" type="datetimeFigureOut">
              <a:rPr lang="en-US"/>
              <a:t>7/12/2021</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7/12/2021</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smtClean="0"/>
              <a:t>Click to edit Master title style</a:t>
            </a:r>
            <a:endParaRPr/>
          </a:p>
        </p:txBody>
      </p:sp>
      <p:sp>
        <p:nvSpPr>
          <p:cNvPr id="4" name="Text Placeholder 2"/>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Content Placeholder 3"/>
          <p:cNvSpPr>
            <a:spLocks noGrp="1"/>
          </p:cNvSpPr>
          <p:nvPr>
            <p:ph idx="1"/>
          </p:nvPr>
        </p:nvSpPr>
        <p:spPr>
          <a:xfrm>
            <a:off x="5518897" y="2465294"/>
            <a:ext cx="5174504" cy="3711669"/>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2CCFE9AC-F15C-4FA0-A6F1-298829FA691D}" type="datetimeFigureOut">
              <a:rPr lang="en-US"/>
              <a:t>7/12/2021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smtClean="0"/>
              <a:t>Click to edit Master title style</a:t>
            </a:r>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5" name="Date Placeholder 4"/>
          <p:cNvSpPr>
            <a:spLocks noGrp="1"/>
          </p:cNvSpPr>
          <p:nvPr>
            <p:ph type="dt" sz="half" idx="10"/>
          </p:nvPr>
        </p:nvSpPr>
        <p:spPr/>
        <p:txBody>
          <a:bodyPr/>
          <a:lstStyle/>
          <a:p>
            <a:fld id="{2CCFE9AC-F15C-4FA0-A6F1-298829FA691D}" type="datetimeFigureOut">
              <a:rPr lang="en-US"/>
              <a:t>7/12/2021</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2CCFE9AC-F15C-4FA0-A6F1-298829FA691D}" type="datetimeFigureOut">
              <a:rPr lang="en-US"/>
              <a:t>7/12/2021</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2" name="Vertical Title 1"/>
          <p:cNvSpPr>
            <a:spLocks noGrp="1"/>
          </p:cNvSpPr>
          <p:nvPr>
            <p:ph type="title" orient="vert"/>
          </p:nvPr>
        </p:nvSpPr>
        <p:spPr>
          <a:xfrm>
            <a:off x="10266348" y="462249"/>
            <a:ext cx="1370886" cy="5714714"/>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78199" y="462249"/>
            <a:ext cx="9693088" cy="571471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7/12/2021</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baseline="0">
                <a:solidFill>
                  <a:schemeClr val="tx1"/>
                </a:solidFill>
              </a:defRPr>
            </a:lvl1pPr>
          </a:lstStyle>
          <a:p>
            <a:fld id="{2CCFE9AC-F15C-4FA0-A6F1-298829FA691D}" type="datetimeFigureOut">
              <a:rPr lang="en-US" smtClean="0"/>
              <a:pPr/>
              <a:t>7/12/2021</a:t>
            </a:fld>
            <a:endParaRPr lang="en-US" dirty="0"/>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baseline="0">
                <a:solidFill>
                  <a:schemeClr val="tx1"/>
                </a:solidFill>
              </a:defRPr>
            </a:lvl1pPr>
          </a:lstStyle>
          <a:p>
            <a:endParaRPr lang="en-US"/>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baseline="0">
                <a:solidFill>
                  <a:schemeClr val="tx1"/>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4.webp"/><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5198" y="1943842"/>
            <a:ext cx="9016801" cy="2387600"/>
          </a:xfrm>
        </p:spPr>
        <p:txBody>
          <a:bodyPr/>
          <a:lstStyle/>
          <a:p>
            <a:r>
              <a:rPr lang="en-US" sz="7200" dirty="0" smtClean="0">
                <a:latin typeface="Arial Rounded MT Bold" panose="020F0704030504030204" pitchFamily="34" charset="0"/>
              </a:rPr>
              <a:t>The Personal Statement </a:t>
            </a:r>
            <a:r>
              <a:rPr lang="en-US" sz="3200" dirty="0" smtClean="0">
                <a:latin typeface="Arial Rounded MT Bold" panose="020F0704030504030204" pitchFamily="34" charset="0"/>
              </a:rPr>
              <a:t>Part I</a:t>
            </a:r>
            <a:endParaRPr lang="en-US" sz="3200" dirty="0">
              <a:latin typeface="Arial Rounded MT Bold" panose="020F0704030504030204" pitchFamily="34" charset="0"/>
            </a:endParaRPr>
          </a:p>
        </p:txBody>
      </p:sp>
      <p:sp>
        <p:nvSpPr>
          <p:cNvPr id="3" name="Subtitle 2"/>
          <p:cNvSpPr>
            <a:spLocks noGrp="1"/>
          </p:cNvSpPr>
          <p:nvPr>
            <p:ph type="subTitle" idx="1"/>
          </p:nvPr>
        </p:nvSpPr>
        <p:spPr>
          <a:xfrm>
            <a:off x="3175198" y="4652959"/>
            <a:ext cx="8500062" cy="865321"/>
          </a:xfrm>
        </p:spPr>
        <p:txBody>
          <a:bodyPr>
            <a:normAutofit/>
          </a:bodyPr>
          <a:lstStyle/>
          <a:p>
            <a:r>
              <a:rPr lang="en-US" sz="2800" i="1" dirty="0" smtClean="0">
                <a:latin typeface="Bahnschrift" panose="020B0502040204020203" pitchFamily="34" charset="0"/>
              </a:rPr>
              <a:t>What you need to know about your college essay(s).</a:t>
            </a:r>
            <a:endParaRPr lang="en-US" sz="2800" i="1" dirty="0">
              <a:latin typeface="Bahnschrift" panose="020B0502040204020203" pitchFamily="34"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80321" y="137160"/>
            <a:ext cx="1494940" cy="1097280"/>
          </a:xfrm>
          <a:prstGeom prst="rect">
            <a:avLst/>
          </a:prstGeom>
        </p:spPr>
      </p:pic>
      <p:sp>
        <p:nvSpPr>
          <p:cNvPr id="6" name="TextBox 5"/>
          <p:cNvSpPr txBox="1"/>
          <p:nvPr/>
        </p:nvSpPr>
        <p:spPr>
          <a:xfrm>
            <a:off x="8049945" y="6186488"/>
            <a:ext cx="4260752" cy="400110"/>
          </a:xfrm>
          <a:prstGeom prst="rect">
            <a:avLst/>
          </a:prstGeom>
          <a:noFill/>
        </p:spPr>
        <p:txBody>
          <a:bodyPr wrap="square" rtlCol="0">
            <a:spAutoFit/>
          </a:bodyPr>
          <a:lstStyle/>
          <a:p>
            <a:r>
              <a:rPr lang="en-US" sz="2000" dirty="0" smtClean="0">
                <a:solidFill>
                  <a:schemeClr val="bg2"/>
                </a:solidFill>
                <a:latin typeface="Bahnschrift" panose="020B0502040204020203" pitchFamily="34" charset="0"/>
              </a:rPr>
              <a:t>By Beauttah, Faustin, and Moses</a:t>
            </a:r>
            <a:endParaRPr lang="en-US" sz="2000" dirty="0">
              <a:solidFill>
                <a:schemeClr val="bg2"/>
              </a:solidFill>
              <a:latin typeface="Bahnschrift" panose="020B0502040204020203" pitchFamily="34" charset="0"/>
            </a:endParaRPr>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900113" y="466343"/>
            <a:ext cx="10529887" cy="1362113"/>
          </a:xfrm>
        </p:spPr>
        <p:txBody>
          <a:bodyPr>
            <a:normAutofit/>
          </a:bodyPr>
          <a:lstStyle/>
          <a:p>
            <a:r>
              <a:rPr lang="en-US" sz="3600" dirty="0" smtClean="0">
                <a:latin typeface="Arial Rounded MT Bold" panose="020F0704030504030204" pitchFamily="34" charset="0"/>
              </a:rPr>
              <a:t>OUR OBJECTIVES: </a:t>
            </a:r>
            <a:r>
              <a:rPr lang="en-US" sz="3200" i="1" dirty="0" smtClean="0">
                <a:latin typeface="Arial Rounded MT Bold" panose="020F0704030504030204" pitchFamily="34" charset="0"/>
              </a:rPr>
              <a:t>What are we going to do today?</a:t>
            </a:r>
            <a:endParaRPr lang="en-US" sz="3200" i="1" dirty="0">
              <a:latin typeface="Arial Rounded MT Bold" panose="020F0704030504030204" pitchFamily="34" charset="0"/>
            </a:endParaRPr>
          </a:p>
        </p:txBody>
      </p:sp>
      <p:sp>
        <p:nvSpPr>
          <p:cNvPr id="14" name="Content Placeholder 2"/>
          <p:cNvSpPr>
            <a:spLocks noGrp="1"/>
          </p:cNvSpPr>
          <p:nvPr>
            <p:ph idx="1"/>
          </p:nvPr>
        </p:nvSpPr>
        <p:spPr/>
        <p:txBody>
          <a:bodyPr/>
          <a:lstStyle/>
          <a:p>
            <a:r>
              <a:rPr lang="en-US" dirty="0" smtClean="0">
                <a:latin typeface="Bahnschrift" panose="020B0502040204020203" pitchFamily="34" charset="0"/>
              </a:rPr>
              <a:t>Understand the </a:t>
            </a:r>
            <a:r>
              <a:rPr lang="en-US" b="1" dirty="0" smtClean="0">
                <a:latin typeface="Bahnschrift" panose="020B0502040204020203" pitchFamily="34" charset="0"/>
              </a:rPr>
              <a:t>terminologies</a:t>
            </a:r>
            <a:r>
              <a:rPr lang="en-US" dirty="0" smtClean="0">
                <a:latin typeface="Bahnschrift" panose="020B0502040204020203" pitchFamily="34" charset="0"/>
              </a:rPr>
              <a:t> used in college application essay writing.</a:t>
            </a:r>
          </a:p>
          <a:p>
            <a:r>
              <a:rPr lang="en-US" dirty="0" smtClean="0">
                <a:latin typeface="Bahnschrift" panose="020B0502040204020203" pitchFamily="34" charset="0"/>
              </a:rPr>
              <a:t>Look at </a:t>
            </a:r>
            <a:r>
              <a:rPr lang="en-US" b="1" dirty="0" smtClean="0">
                <a:latin typeface="Bahnschrift" panose="020B0502040204020203" pitchFamily="34" charset="0"/>
              </a:rPr>
              <a:t>why the CA essay is important </a:t>
            </a:r>
            <a:r>
              <a:rPr lang="en-US" dirty="0" smtClean="0">
                <a:latin typeface="Bahnschrift" panose="020B0502040204020203" pitchFamily="34" charset="0"/>
              </a:rPr>
              <a:t>and</a:t>
            </a:r>
            <a:r>
              <a:rPr lang="en-US" b="1" dirty="0" smtClean="0">
                <a:latin typeface="Bahnschrift" panose="020B0502040204020203" pitchFamily="34" charset="0"/>
              </a:rPr>
              <a:t> why colleges ask for it</a:t>
            </a:r>
            <a:r>
              <a:rPr lang="en-US" dirty="0" smtClean="0">
                <a:latin typeface="Bahnschrift" panose="020B0502040204020203" pitchFamily="34" charset="0"/>
              </a:rPr>
              <a:t> .</a:t>
            </a:r>
          </a:p>
          <a:p>
            <a:r>
              <a:rPr lang="en-US" dirty="0" smtClean="0">
                <a:latin typeface="Bahnschrift" panose="020B0502040204020203" pitchFamily="34" charset="0"/>
              </a:rPr>
              <a:t>Cover the </a:t>
            </a:r>
            <a:r>
              <a:rPr lang="en-US" b="1" dirty="0" smtClean="0">
                <a:latin typeface="Bahnschrift" panose="020B0502040204020203" pitchFamily="34" charset="0"/>
              </a:rPr>
              <a:t>kind/types of essay questions </a:t>
            </a:r>
            <a:r>
              <a:rPr lang="en-US" dirty="0" smtClean="0">
                <a:latin typeface="Bahnschrift" panose="020B0502040204020203" pitchFamily="34" charset="0"/>
              </a:rPr>
              <a:t>that answer to the personal statement.</a:t>
            </a:r>
          </a:p>
          <a:p>
            <a:r>
              <a:rPr lang="en-US" dirty="0" smtClean="0">
                <a:latin typeface="Bahnschrift" panose="020B0502040204020203" pitchFamily="34" charset="0"/>
              </a:rPr>
              <a:t>Discuss </a:t>
            </a:r>
            <a:r>
              <a:rPr lang="en-US" b="1" dirty="0" smtClean="0">
                <a:latin typeface="Bahnschrift" panose="020B0502040204020203" pitchFamily="34" charset="0"/>
              </a:rPr>
              <a:t>what sets apart great and successful essays </a:t>
            </a:r>
            <a:r>
              <a:rPr lang="en-US" dirty="0" smtClean="0">
                <a:latin typeface="Bahnschrift" panose="020B0502040204020203" pitchFamily="34" charset="0"/>
              </a:rPr>
              <a:t>from the rest.</a:t>
            </a:r>
          </a:p>
          <a:p>
            <a:r>
              <a:rPr lang="en-US" dirty="0" smtClean="0">
                <a:latin typeface="Bahnschrift" panose="020B0502040204020203" pitchFamily="34" charset="0"/>
              </a:rPr>
              <a:t>Cover important </a:t>
            </a:r>
            <a:r>
              <a:rPr lang="en-US" b="1" dirty="0" smtClean="0">
                <a:latin typeface="Bahnschrift" panose="020B0502040204020203" pitchFamily="34" charset="0"/>
              </a:rPr>
              <a:t>tips and tricks </a:t>
            </a:r>
            <a:r>
              <a:rPr lang="en-US" dirty="0" smtClean="0">
                <a:latin typeface="Bahnschrift" panose="020B0502040204020203" pitchFamily="34" charset="0"/>
              </a:rPr>
              <a:t>that you should use in your essay writing.</a:t>
            </a:r>
          </a:p>
          <a:p>
            <a:r>
              <a:rPr lang="en-US" dirty="0" smtClean="0">
                <a:latin typeface="Bahnschrift" panose="020B0502040204020203" pitchFamily="34" charset="0"/>
              </a:rPr>
              <a:t>Look at some </a:t>
            </a:r>
            <a:r>
              <a:rPr lang="en-US" b="1" dirty="0" smtClean="0">
                <a:latin typeface="Bahnschrift" panose="020B0502040204020203" pitchFamily="34" charset="0"/>
              </a:rPr>
              <a:t>examples of impressive common app essays</a:t>
            </a:r>
            <a:r>
              <a:rPr lang="en-US" dirty="0" smtClean="0">
                <a:latin typeface="Bahnschrift" panose="020B0502040204020203" pitchFamily="34" charset="0"/>
              </a:rPr>
              <a:t>.</a:t>
            </a:r>
          </a:p>
          <a:p>
            <a:r>
              <a:rPr lang="en-US" dirty="0" smtClean="0">
                <a:latin typeface="Bahnschrift" panose="020B0502040204020203" pitchFamily="34" charset="0"/>
              </a:rPr>
              <a:t>Have </a:t>
            </a:r>
            <a:r>
              <a:rPr lang="en-US" b="1" dirty="0" smtClean="0">
                <a:latin typeface="Bahnschrift" panose="020B0502040204020203" pitchFamily="34" charset="0"/>
              </a:rPr>
              <a:t>a Q &amp; A session</a:t>
            </a:r>
            <a:r>
              <a:rPr lang="en-US" dirty="0" smtClean="0">
                <a:latin typeface="Bahnschrift" panose="020B0502040204020203" pitchFamily="34" charset="0"/>
              </a:rPr>
              <a:t>.</a:t>
            </a:r>
          </a:p>
          <a:p>
            <a:pPr marL="0" indent="0">
              <a:buNone/>
            </a:pPr>
            <a:endParaRPr lang="en-US" dirty="0" smtClean="0">
              <a:latin typeface="Bahnschrift SemiLight" panose="020B0502040204020203" pitchFamily="34"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0651" y="504938"/>
            <a:ext cx="1284922" cy="1284922"/>
          </a:xfrm>
          <a:prstGeom prst="rect">
            <a:avLst/>
          </a:prstGeom>
        </p:spPr>
      </p:pic>
    </p:spTree>
    <p:extLst>
      <p:ext uri="{BB962C8B-B14F-4D97-AF65-F5344CB8AC3E}">
        <p14:creationId xmlns:p14="http://schemas.microsoft.com/office/powerpoint/2010/main" val="14403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smtClean="0">
                <a:latin typeface="Arial Rounded MT Bold" panose="020F0704030504030204" pitchFamily="34" charset="0"/>
              </a:rPr>
              <a:t>TERMINOLOGIES</a:t>
            </a:r>
            <a:endParaRPr lang="en-US" sz="4800" dirty="0">
              <a:latin typeface="Arial Rounded MT Bold" panose="020F0704030504030204" pitchFamily="34" charset="0"/>
            </a:endParaRPr>
          </a:p>
        </p:txBody>
      </p:sp>
      <p:sp>
        <p:nvSpPr>
          <p:cNvPr id="3" name="Content Placeholder 2"/>
          <p:cNvSpPr>
            <a:spLocks noGrp="1"/>
          </p:cNvSpPr>
          <p:nvPr>
            <p:ph idx="1"/>
          </p:nvPr>
        </p:nvSpPr>
        <p:spPr/>
        <p:txBody>
          <a:bodyPr/>
          <a:lstStyle/>
          <a:p>
            <a:r>
              <a:rPr lang="en-US" sz="2400" b="1" dirty="0" smtClean="0">
                <a:latin typeface="Bahnschrift" panose="020B0502040204020203" pitchFamily="34" charset="0"/>
              </a:rPr>
              <a:t>Personal Statement</a:t>
            </a:r>
            <a:r>
              <a:rPr lang="en-US" dirty="0" smtClean="0">
                <a:latin typeface="Bahnschrift" panose="020B0502040204020203" pitchFamily="34" charset="0"/>
              </a:rPr>
              <a:t>: An </a:t>
            </a:r>
            <a:r>
              <a:rPr lang="en-US" dirty="0">
                <a:latin typeface="Bahnschrift" panose="020B0502040204020203" pitchFamily="34" charset="0"/>
              </a:rPr>
              <a:t>essay you write to show a college admissions committee </a:t>
            </a:r>
            <a:r>
              <a:rPr lang="en-US" i="1" u="sng" dirty="0">
                <a:latin typeface="Bahnschrift" panose="020B0502040204020203" pitchFamily="34" charset="0"/>
              </a:rPr>
              <a:t>who you are </a:t>
            </a:r>
            <a:r>
              <a:rPr lang="en-US" dirty="0">
                <a:latin typeface="Bahnschrift" panose="020B0502040204020203" pitchFamily="34" charset="0"/>
              </a:rPr>
              <a:t>and </a:t>
            </a:r>
            <a:r>
              <a:rPr lang="en-US" i="1" u="sng" dirty="0">
                <a:latin typeface="Bahnschrift" panose="020B0502040204020203" pitchFamily="34" charset="0"/>
              </a:rPr>
              <a:t>why you deserve to be admitted to their school</a:t>
            </a:r>
            <a:r>
              <a:rPr lang="en-US" dirty="0" smtClean="0">
                <a:latin typeface="Bahnschrift" panose="020B0502040204020203" pitchFamily="34" charset="0"/>
              </a:rPr>
              <a:t>. We will refer to the personal statement as the </a:t>
            </a:r>
            <a:r>
              <a:rPr lang="en-US" b="1" i="1" dirty="0" smtClean="0">
                <a:latin typeface="Bahnschrift" panose="020B0502040204020203" pitchFamily="34" charset="0"/>
              </a:rPr>
              <a:t>Common App essay </a:t>
            </a:r>
            <a:r>
              <a:rPr lang="en-US" dirty="0" smtClean="0">
                <a:latin typeface="Bahnschrift" panose="020B0502040204020203" pitchFamily="34" charset="0"/>
              </a:rPr>
              <a:t>especially when talking about US schools. </a:t>
            </a:r>
          </a:p>
          <a:p>
            <a:r>
              <a:rPr lang="en-US" sz="2400" b="1" dirty="0" smtClean="0">
                <a:latin typeface="Bahnschrift" panose="020B0502040204020203" pitchFamily="34" charset="0"/>
              </a:rPr>
              <a:t>Essay Prompt</a:t>
            </a:r>
            <a:r>
              <a:rPr lang="en-US" dirty="0" smtClean="0">
                <a:latin typeface="Bahnschrift" panose="020B0502040204020203" pitchFamily="34" charset="0"/>
              </a:rPr>
              <a:t>: An </a:t>
            </a:r>
            <a:r>
              <a:rPr lang="en-US" dirty="0">
                <a:latin typeface="Bahnschrift" panose="020B0502040204020203" pitchFamily="34" charset="0"/>
              </a:rPr>
              <a:t>essay you write to show a college admissions committee who you are and why you deserve to be admitted to their school</a:t>
            </a:r>
            <a:r>
              <a:rPr lang="en-US" dirty="0" smtClean="0">
                <a:latin typeface="Bahnschrift" panose="020B0502040204020203" pitchFamily="34" charset="0"/>
              </a:rPr>
              <a:t>.</a:t>
            </a:r>
          </a:p>
          <a:p>
            <a:r>
              <a:rPr lang="en-US" sz="2400" b="1" dirty="0">
                <a:latin typeface="Bahnschrift" panose="020B0502040204020203" pitchFamily="34" charset="0"/>
              </a:rPr>
              <a:t>Supplemental </a:t>
            </a:r>
            <a:r>
              <a:rPr lang="en-US" sz="2400" b="1" dirty="0" smtClean="0">
                <a:latin typeface="Bahnschrift" panose="020B0502040204020203" pitchFamily="34" charset="0"/>
              </a:rPr>
              <a:t>essay: </a:t>
            </a:r>
            <a:r>
              <a:rPr lang="en-US" dirty="0" smtClean="0">
                <a:latin typeface="Bahnschrift" panose="020B0502040204020203" pitchFamily="34" charset="0"/>
              </a:rPr>
              <a:t>An extra </a:t>
            </a:r>
            <a:r>
              <a:rPr lang="en-US" dirty="0">
                <a:latin typeface="Bahnschrift" panose="020B0502040204020203" pitchFamily="34" charset="0"/>
              </a:rPr>
              <a:t>school or program specific essay beyond the basic personal statement.</a:t>
            </a:r>
          </a:p>
          <a:p>
            <a:endParaRPr lang="en-US" dirty="0">
              <a:latin typeface="Bahnschrift"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9710" y="550658"/>
            <a:ext cx="1193482" cy="1193482"/>
          </a:xfrm>
          <a:prstGeom prst="rect">
            <a:avLst/>
          </a:prstGeom>
        </p:spPr>
      </p:pic>
    </p:spTree>
    <p:extLst>
      <p:ext uri="{BB962C8B-B14F-4D97-AF65-F5344CB8AC3E}">
        <p14:creationId xmlns:p14="http://schemas.microsoft.com/office/powerpoint/2010/main" val="49122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4" y="466343"/>
            <a:ext cx="9701212" cy="1362113"/>
          </a:xfrm>
        </p:spPr>
        <p:txBody>
          <a:bodyPr>
            <a:normAutofit/>
          </a:bodyPr>
          <a:lstStyle/>
          <a:p>
            <a:r>
              <a:rPr lang="en-US" sz="3200" dirty="0" smtClean="0">
                <a:latin typeface="Arial Rounded MT Bold" panose="020F0704030504030204" pitchFamily="34" charset="0"/>
              </a:rPr>
              <a:t>WHY IS THE PERSONAL STATEMENT IMPORTANT?</a:t>
            </a:r>
            <a:endParaRPr lang="en-US" sz="3200" dirty="0">
              <a:latin typeface="Arial Rounded MT Bold" panose="020F0704030504030204" pitchFamily="34" charset="0"/>
            </a:endParaRPr>
          </a:p>
        </p:txBody>
      </p:sp>
      <p:sp>
        <p:nvSpPr>
          <p:cNvPr id="9" name="Text Placeholder 8"/>
          <p:cNvSpPr>
            <a:spLocks noGrp="1"/>
          </p:cNvSpPr>
          <p:nvPr>
            <p:ph type="body" sz="half" idx="2"/>
          </p:nvPr>
        </p:nvSpPr>
        <p:spPr>
          <a:xfrm>
            <a:off x="600075" y="2071688"/>
            <a:ext cx="10858499" cy="4500561"/>
          </a:xfrm>
        </p:spPr>
        <p:txBody>
          <a:bodyPr>
            <a:normAutofit/>
          </a:bodyPr>
          <a:lstStyle/>
          <a:p>
            <a:pPr marL="457200" indent="-457200">
              <a:buFont typeface="+mj-lt"/>
              <a:buAutoNum type="arabicPeriod"/>
            </a:pPr>
            <a:r>
              <a:rPr lang="en-US" sz="2400" dirty="0" smtClean="0">
                <a:latin typeface="Bahnschrift" panose="020B0502040204020203" pitchFamily="34" charset="0"/>
              </a:rPr>
              <a:t>Showcases your </a:t>
            </a:r>
            <a:r>
              <a:rPr lang="en-US" sz="2400" b="1" dirty="0" smtClean="0">
                <a:latin typeface="Bahnschrift" panose="020B0502040204020203" pitchFamily="34" charset="0"/>
              </a:rPr>
              <a:t>writing ability</a:t>
            </a:r>
            <a:r>
              <a:rPr lang="en-US" sz="2400" dirty="0" smtClean="0">
                <a:latin typeface="Bahnschrift" panose="020B0502040204020203" pitchFamily="34" charset="0"/>
              </a:rPr>
              <a:t>.</a:t>
            </a:r>
          </a:p>
          <a:p>
            <a:pPr marL="457200" indent="-457200">
              <a:buFont typeface="+mj-lt"/>
              <a:buAutoNum type="arabicPeriod"/>
            </a:pPr>
            <a:r>
              <a:rPr lang="en-US" sz="2400" dirty="0" smtClean="0">
                <a:latin typeface="Bahnschrift" panose="020B0502040204020203" pitchFamily="34" charset="0"/>
              </a:rPr>
              <a:t>It’s the way that admissions officers get insight into </a:t>
            </a:r>
            <a:r>
              <a:rPr lang="en-US" sz="2400" b="1" dirty="0" smtClean="0">
                <a:latin typeface="Bahnschrift" panose="020B0502040204020203" pitchFamily="34" charset="0"/>
              </a:rPr>
              <a:t>your personality</a:t>
            </a:r>
            <a:r>
              <a:rPr lang="en-US" sz="2400" dirty="0" smtClean="0">
                <a:latin typeface="Bahnschrift" panose="020B0502040204020203" pitchFamily="34" charset="0"/>
              </a:rPr>
              <a:t>.</a:t>
            </a:r>
          </a:p>
          <a:p>
            <a:pPr marL="457200" indent="-457200">
              <a:buFont typeface="+mj-lt"/>
              <a:buAutoNum type="arabicPeriod"/>
            </a:pPr>
            <a:r>
              <a:rPr lang="en-US" sz="2400" dirty="0" smtClean="0">
                <a:latin typeface="Bahnschrift" panose="020B0502040204020203" pitchFamily="34" charset="0"/>
              </a:rPr>
              <a:t>It is the one part that </a:t>
            </a:r>
            <a:r>
              <a:rPr lang="en-US" sz="2400" b="1" dirty="0" smtClean="0">
                <a:latin typeface="Bahnschrift" panose="020B0502040204020203" pitchFamily="34" charset="0"/>
              </a:rPr>
              <a:t>you have control over</a:t>
            </a:r>
            <a:r>
              <a:rPr lang="en-US" sz="2400" dirty="0" smtClean="0">
                <a:latin typeface="Bahnschrift" panose="020B0502040204020203" pitchFamily="34" charset="0"/>
              </a:rPr>
              <a:t> and can be used as a way to </a:t>
            </a:r>
            <a:r>
              <a:rPr lang="en-US" sz="2400" b="1" dirty="0" smtClean="0">
                <a:latin typeface="Bahnschrift" panose="020B0502040204020203" pitchFamily="34" charset="0"/>
              </a:rPr>
              <a:t>promote yourself</a:t>
            </a:r>
            <a:r>
              <a:rPr lang="en-US" sz="2400" dirty="0" smtClean="0">
                <a:latin typeface="Bahnschrift" panose="020B0502040204020203" pitchFamily="34" charset="0"/>
              </a:rPr>
              <a:t>.</a:t>
            </a:r>
          </a:p>
          <a:p>
            <a:pPr marL="457200" indent="-457200">
              <a:buFont typeface="+mj-lt"/>
              <a:buAutoNum type="arabicPeriod"/>
            </a:pPr>
            <a:r>
              <a:rPr lang="en-US" sz="2400" dirty="0" smtClean="0">
                <a:latin typeface="Bahnschrift" panose="020B0502040204020203" pitchFamily="34" charset="0"/>
              </a:rPr>
              <a:t>Can be used to </a:t>
            </a:r>
            <a:r>
              <a:rPr lang="en-US" sz="2400" b="1" dirty="0" smtClean="0">
                <a:latin typeface="Bahnschrift" panose="020B0502040204020203" pitchFamily="34" charset="0"/>
              </a:rPr>
              <a:t>distinguish students </a:t>
            </a:r>
            <a:r>
              <a:rPr lang="en-US" sz="2400" dirty="0" smtClean="0">
                <a:latin typeface="Bahnschrift" panose="020B0502040204020203" pitchFamily="34" charset="0"/>
              </a:rPr>
              <a:t>who have similar academic lessons.</a:t>
            </a:r>
          </a:p>
          <a:p>
            <a:endParaRPr lang="en-US" sz="2400" dirty="0" smtClean="0">
              <a:latin typeface="Bahnschrift" panose="020B0502040204020203" pitchFamily="34" charset="0"/>
            </a:endParaRPr>
          </a:p>
          <a:p>
            <a:pPr algn="ctr"/>
            <a:r>
              <a:rPr lang="en-US" sz="2400" i="1" dirty="0" smtClean="0">
                <a:latin typeface="Bahnschrift" panose="020B0502040204020203" pitchFamily="34" charset="0"/>
              </a:rPr>
              <a:t>Basically, the essay(s) </a:t>
            </a:r>
            <a:r>
              <a:rPr lang="en-US" sz="2400" b="1" i="1" dirty="0" smtClean="0">
                <a:latin typeface="Bahnschrift" panose="020B0502040204020203" pitchFamily="34" charset="0"/>
              </a:rPr>
              <a:t>bring(s) the your application to life</a:t>
            </a:r>
            <a:r>
              <a:rPr lang="en-US" sz="2400" i="1" dirty="0" smtClean="0">
                <a:latin typeface="Bahnschrift" panose="020B0502040204020203" pitchFamily="34" charset="0"/>
              </a:rPr>
              <a:t>. Admissions officers are able to have put a person behind all the numbers, ranks and achievements shown in the rest of the application</a:t>
            </a:r>
            <a:r>
              <a:rPr lang="en-US" sz="2400" dirty="0" smtClean="0">
                <a:latin typeface="Bahnschrift" panose="020B0502040204020203" pitchFamily="34" charset="0"/>
              </a:rPr>
              <a:t>.</a:t>
            </a:r>
          </a:p>
          <a:p>
            <a:endParaRPr lang="en-US" sz="2400" dirty="0" smtClean="0">
              <a:latin typeface="Bahnschrift" panose="020B0502040204020203" pitchFamily="34" charset="0"/>
            </a:endParaRPr>
          </a:p>
          <a:p>
            <a:pPr marL="457200" indent="-457200">
              <a:buFont typeface="+mj-lt"/>
              <a:buAutoNum type="arabicPeriod"/>
            </a:pPr>
            <a:endParaRPr lang="en-US" sz="2800" dirty="0">
              <a:latin typeface="Bahnschrift" panose="020B0502040204020203" pitchFamily="34" charset="0"/>
            </a:endParaRPr>
          </a:p>
        </p:txBody>
      </p:sp>
      <p:pic>
        <p:nvPicPr>
          <p:cNvPr id="6" name="Content Placeholder 5"/>
          <p:cNvPicPr>
            <a:picLocks noGrp="1" noChangeAspect="1"/>
          </p:cNvPicPr>
          <p:nvPr>
            <p:ph type="pic" idx="1"/>
          </p:nvPr>
        </p:nvPicPr>
        <p:blipFill>
          <a:blip r:embed="rId2">
            <a:extLst>
              <a:ext uri="{28A0092B-C50C-407E-A947-70E740481C1C}">
                <a14:useLocalDpi xmlns:a14="http://schemas.microsoft.com/office/drawing/2010/main" val="0"/>
              </a:ext>
            </a:extLst>
          </a:blip>
          <a:srcRect t="3357" b="3357"/>
          <a:stretch>
            <a:fillRect/>
          </a:stretch>
        </p:blipFill>
        <p:spPr>
          <a:xfrm>
            <a:off x="10371961" y="466343"/>
            <a:ext cx="1386652" cy="1273837"/>
          </a:xfrm>
        </p:spPr>
      </p:pic>
    </p:spTree>
    <p:extLst>
      <p:ext uri="{BB962C8B-B14F-4D97-AF65-F5344CB8AC3E}">
        <p14:creationId xmlns:p14="http://schemas.microsoft.com/office/powerpoint/2010/main" val="232822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Arial Rounded MT Bold" panose="020F0704030504030204" pitchFamily="34" charset="0"/>
              </a:rPr>
              <a:t>THE COMMON APP ESSAY PROMPTS</a:t>
            </a:r>
            <a:endParaRPr lang="en-US" sz="3600" dirty="0">
              <a:latin typeface="Arial Rounded MT Bold" panose="020F0704030504030204" pitchFamily="34" charset="0"/>
            </a:endParaRPr>
          </a:p>
        </p:txBody>
      </p:sp>
      <p:sp>
        <p:nvSpPr>
          <p:cNvPr id="3" name="Content Placeholder 2"/>
          <p:cNvSpPr>
            <a:spLocks noGrp="1"/>
          </p:cNvSpPr>
          <p:nvPr>
            <p:ph idx="1"/>
          </p:nvPr>
        </p:nvSpPr>
        <p:spPr>
          <a:xfrm>
            <a:off x="1280160" y="1928813"/>
            <a:ext cx="9628632" cy="4929187"/>
          </a:xfrm>
        </p:spPr>
        <p:txBody>
          <a:bodyPr>
            <a:normAutofit/>
          </a:bodyPr>
          <a:lstStyle/>
          <a:p>
            <a:pPr marL="457200" indent="-457200">
              <a:buFont typeface="+mj-lt"/>
              <a:buAutoNum type="arabicPeriod"/>
            </a:pPr>
            <a:r>
              <a:rPr lang="en-US" dirty="0">
                <a:latin typeface="Bahnschrift" panose="020B0502040204020203" pitchFamily="34" charset="0"/>
              </a:rPr>
              <a:t>Some students have a background, identity, interest, or talent that is so meaningful they believe their application would be incomplete without it. If this sounds like you, then please share your story.</a:t>
            </a:r>
          </a:p>
          <a:p>
            <a:pPr marL="457200" indent="-457200">
              <a:buFont typeface="+mj-lt"/>
              <a:buAutoNum type="arabicPeriod"/>
            </a:pPr>
            <a:r>
              <a:rPr lang="en-US" dirty="0">
                <a:latin typeface="Bahnschrift" panose="020B0502040204020203" pitchFamily="34" charset="0"/>
              </a:rPr>
              <a:t>The lessons we take from obstacles we encounter can be fundamental to later success. Recount a time when you faced a challenge, setback, or failure. How did it affect you, and what did you learn from the experience?</a:t>
            </a:r>
          </a:p>
          <a:p>
            <a:pPr marL="457200" indent="-457200">
              <a:buFont typeface="+mj-lt"/>
              <a:buAutoNum type="arabicPeriod"/>
            </a:pPr>
            <a:r>
              <a:rPr lang="en-US" dirty="0">
                <a:latin typeface="Bahnschrift" panose="020B0502040204020203" pitchFamily="34" charset="0"/>
              </a:rPr>
              <a:t>Reflect on a time when you questioned or challenged a belief or idea. What prompted your thinking? What was the outcome?</a:t>
            </a:r>
          </a:p>
          <a:p>
            <a:pPr marL="457200" indent="-457200">
              <a:buFont typeface="+mj-lt"/>
              <a:buAutoNum type="arabicPeriod"/>
            </a:pPr>
            <a:r>
              <a:rPr lang="en-US" dirty="0">
                <a:latin typeface="Bahnschrift" panose="020B0502040204020203" pitchFamily="34" charset="0"/>
              </a:rPr>
              <a:t>Reflect on something that someone has done for you that has made you happy or thankful in a surprising way. How has this gratitude affected or motivated you?</a:t>
            </a:r>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78935" y="534750"/>
            <a:ext cx="1347394" cy="1225297"/>
          </a:xfrm>
          <a:prstGeom prst="rect">
            <a:avLst/>
          </a:prstGeom>
        </p:spPr>
      </p:pic>
    </p:spTree>
    <p:extLst>
      <p:ext uri="{BB962C8B-B14F-4D97-AF65-F5344CB8AC3E}">
        <p14:creationId xmlns:p14="http://schemas.microsoft.com/office/powerpoint/2010/main" val="180183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4363" y="480630"/>
            <a:ext cx="10294429" cy="1362113"/>
          </a:xfrm>
        </p:spPr>
        <p:txBody>
          <a:bodyPr/>
          <a:lstStyle/>
          <a:p>
            <a:r>
              <a:rPr lang="en-US" sz="3200" dirty="0">
                <a:latin typeface="Arial Rounded MT Bold" panose="020F0704030504030204" pitchFamily="34" charset="0"/>
              </a:rPr>
              <a:t>THE COMMON APP ESSAY </a:t>
            </a:r>
            <a:r>
              <a:rPr lang="en-US" sz="3200" dirty="0" smtClean="0">
                <a:latin typeface="Arial Rounded MT Bold" panose="020F0704030504030204" pitchFamily="34" charset="0"/>
              </a:rPr>
              <a:t>PROMPTS…</a:t>
            </a:r>
            <a:r>
              <a:rPr lang="en-US" sz="2800" i="1" dirty="0" smtClean="0">
                <a:latin typeface="Arial Rounded MT Bold" panose="020F0704030504030204" pitchFamily="34" charset="0"/>
              </a:rPr>
              <a:t>Continued</a:t>
            </a:r>
            <a:r>
              <a:rPr lang="en-US" sz="3200" i="1" dirty="0" smtClean="0">
                <a:latin typeface="Arial Rounded MT Bold" panose="020F0704030504030204" pitchFamily="34" charset="0"/>
              </a:rPr>
              <a:t>.</a:t>
            </a:r>
            <a:endParaRPr lang="en-US" i="1" dirty="0"/>
          </a:p>
        </p:txBody>
      </p:sp>
      <p:sp>
        <p:nvSpPr>
          <p:cNvPr id="3" name="Content Placeholder 2"/>
          <p:cNvSpPr>
            <a:spLocks noGrp="1"/>
          </p:cNvSpPr>
          <p:nvPr>
            <p:ph idx="1"/>
          </p:nvPr>
        </p:nvSpPr>
        <p:spPr>
          <a:xfrm>
            <a:off x="1280160" y="2190749"/>
            <a:ext cx="9628632" cy="4552951"/>
          </a:xfrm>
        </p:spPr>
        <p:txBody>
          <a:bodyPr/>
          <a:lstStyle/>
          <a:p>
            <a:pPr marL="457200" indent="-457200">
              <a:buAutoNum type="arabicPeriod" startAt="5"/>
            </a:pPr>
            <a:r>
              <a:rPr lang="en-US" dirty="0" smtClean="0">
                <a:latin typeface="Bahnschrift" panose="020B0502040204020203" pitchFamily="34" charset="0"/>
              </a:rPr>
              <a:t>Discuss </a:t>
            </a:r>
            <a:r>
              <a:rPr lang="en-US" dirty="0">
                <a:latin typeface="Bahnschrift" panose="020B0502040204020203" pitchFamily="34" charset="0"/>
              </a:rPr>
              <a:t>an accomplishment, event, or realization that sparked a period of personal growth and a new understanding of yourself or </a:t>
            </a:r>
            <a:r>
              <a:rPr lang="en-US" dirty="0" smtClean="0">
                <a:latin typeface="Bahnschrift" panose="020B0502040204020203" pitchFamily="34" charset="0"/>
              </a:rPr>
              <a:t>others.</a:t>
            </a:r>
          </a:p>
          <a:p>
            <a:pPr marL="457200" indent="-457200">
              <a:buAutoNum type="arabicPeriod" startAt="5"/>
            </a:pPr>
            <a:r>
              <a:rPr lang="en-US" dirty="0" smtClean="0">
                <a:latin typeface="Bahnschrift" panose="020B0502040204020203" pitchFamily="34" charset="0"/>
              </a:rPr>
              <a:t>Describe </a:t>
            </a:r>
            <a:r>
              <a:rPr lang="en-US" dirty="0">
                <a:latin typeface="Bahnschrift" panose="020B0502040204020203" pitchFamily="34" charset="0"/>
              </a:rPr>
              <a:t>a topic, idea, or concept you find so engaging that it makes you lose all track of time. Why does it captivate you? What or who do you turn to when you want to learn more</a:t>
            </a:r>
            <a:r>
              <a:rPr lang="en-US" dirty="0" smtClean="0">
                <a:latin typeface="Bahnschrift" panose="020B0502040204020203" pitchFamily="34" charset="0"/>
              </a:rPr>
              <a:t>?</a:t>
            </a:r>
          </a:p>
          <a:p>
            <a:pPr marL="457200" indent="-457200">
              <a:buAutoNum type="arabicPeriod" startAt="5"/>
            </a:pPr>
            <a:r>
              <a:rPr lang="en-US" dirty="0" smtClean="0">
                <a:latin typeface="Bahnschrift" panose="020B0502040204020203" pitchFamily="34" charset="0"/>
              </a:rPr>
              <a:t> Share </a:t>
            </a:r>
            <a:r>
              <a:rPr lang="en-US" dirty="0">
                <a:latin typeface="Bahnschrift" panose="020B0502040204020203" pitchFamily="34" charset="0"/>
              </a:rPr>
              <a:t>an essay on any topic of your choice. It can be one you've already written, one that responds to a different prompt, or one of your own design.</a:t>
            </a:r>
          </a:p>
          <a:p>
            <a:pPr marL="457200" indent="-457200">
              <a:buFont typeface="+mj-lt"/>
              <a:buAutoNum type="arabicPeriod"/>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1592" y="574946"/>
            <a:ext cx="1359408" cy="1173480"/>
          </a:xfrm>
          <a:prstGeom prst="rect">
            <a:avLst/>
          </a:prstGeom>
        </p:spPr>
      </p:pic>
    </p:spTree>
    <p:extLst>
      <p:ext uri="{BB962C8B-B14F-4D97-AF65-F5344CB8AC3E}">
        <p14:creationId xmlns:p14="http://schemas.microsoft.com/office/powerpoint/2010/main" val="1667878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Arial Rounded MT Bold" panose="020F0704030504030204" pitchFamily="34" charset="0"/>
              </a:rPr>
              <a:t>THE ESSAY WRITING PROCESS</a:t>
            </a:r>
            <a:endParaRPr lang="en-US" sz="4000" dirty="0">
              <a:latin typeface="Arial Rounded MT Bold" panose="020F0704030504030204" pitchFamily="34" charset="0"/>
            </a:endParaRPr>
          </a:p>
        </p:txBody>
      </p:sp>
      <p:sp>
        <p:nvSpPr>
          <p:cNvPr id="6" name="Text Placeholder 5"/>
          <p:cNvSpPr>
            <a:spLocks noGrp="1"/>
          </p:cNvSpPr>
          <p:nvPr>
            <p:ph type="body" sz="half" idx="2"/>
          </p:nvPr>
        </p:nvSpPr>
        <p:spPr>
          <a:xfrm>
            <a:off x="1291818" y="2114551"/>
            <a:ext cx="10538231" cy="4062412"/>
          </a:xfrm>
        </p:spPr>
        <p:txBody>
          <a:bodyPr/>
          <a:lstStyle/>
          <a:p>
            <a:pPr marL="457200" indent="-457200">
              <a:buFont typeface="+mj-lt"/>
              <a:buAutoNum type="arabicPeriod"/>
            </a:pPr>
            <a:r>
              <a:rPr lang="en-US" sz="2800" dirty="0" smtClean="0">
                <a:latin typeface="Bahnschrift" panose="020B0502040204020203" pitchFamily="34" charset="0"/>
              </a:rPr>
              <a:t>Brainstorm: Take a journey of self discovery through introspection.</a:t>
            </a:r>
          </a:p>
          <a:p>
            <a:pPr marL="457200" indent="-457200">
              <a:buFont typeface="+mj-lt"/>
              <a:buAutoNum type="arabicPeriod"/>
            </a:pPr>
            <a:r>
              <a:rPr lang="en-US" sz="2800" dirty="0" smtClean="0">
                <a:latin typeface="Bahnschrift" panose="020B0502040204020203" pitchFamily="34" charset="0"/>
              </a:rPr>
              <a:t>Select a prompt.</a:t>
            </a:r>
          </a:p>
          <a:p>
            <a:pPr marL="457200" indent="-457200">
              <a:buFont typeface="+mj-lt"/>
              <a:buAutoNum type="arabicPeriod"/>
            </a:pPr>
            <a:r>
              <a:rPr lang="en-US" sz="2800" dirty="0" smtClean="0">
                <a:latin typeface="Bahnschrift" panose="020B0502040204020203" pitchFamily="34" charset="0"/>
              </a:rPr>
              <a:t>Organize your essay.</a:t>
            </a:r>
          </a:p>
          <a:p>
            <a:pPr marL="457200" indent="-457200">
              <a:buFont typeface="+mj-lt"/>
              <a:buAutoNum type="arabicPeriod"/>
            </a:pPr>
            <a:r>
              <a:rPr lang="en-US" sz="2800" dirty="0" smtClean="0">
                <a:latin typeface="Bahnschrift" panose="020B0502040204020203" pitchFamily="34" charset="0"/>
              </a:rPr>
              <a:t>Write your first of many drafts.</a:t>
            </a:r>
          </a:p>
          <a:p>
            <a:pPr marL="457200" indent="-457200">
              <a:buFont typeface="+mj-lt"/>
              <a:buAutoNum type="arabicPeriod"/>
            </a:pPr>
            <a:r>
              <a:rPr lang="en-US" sz="2800" dirty="0" smtClean="0">
                <a:latin typeface="Bahnschrift" panose="020B0502040204020203" pitchFamily="34" charset="0"/>
              </a:rPr>
              <a:t>Revising the essay. </a:t>
            </a:r>
          </a:p>
          <a:p>
            <a:pPr marL="457200" indent="-457200">
              <a:buFont typeface="+mj-lt"/>
              <a:buAutoNum type="arabicPeriod"/>
            </a:pPr>
            <a:r>
              <a:rPr lang="en-US" sz="2800" dirty="0" smtClean="0">
                <a:latin typeface="Bahnschrift" panose="020B0502040204020203" pitchFamily="34" charset="0"/>
              </a:rPr>
              <a:t>Draft again. Revise. Repeat.</a:t>
            </a:r>
            <a:endParaRPr lang="en-US" sz="2800" dirty="0">
              <a:latin typeface="Bahnschrift" panose="020B0502040204020203" pitchFamily="34" charset="0"/>
            </a:endParaRPr>
          </a:p>
        </p:txBody>
      </p:sp>
      <p:pic>
        <p:nvPicPr>
          <p:cNvPr id="8" name="Picture Placeholder 7"/>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2194" r="1452"/>
          <a:stretch/>
        </p:blipFill>
        <p:spPr>
          <a:xfrm>
            <a:off x="10155073" y="563897"/>
            <a:ext cx="1507437" cy="1167004"/>
          </a:xfrm>
        </p:spPr>
      </p:pic>
    </p:spTree>
    <p:extLst>
      <p:ext uri="{BB962C8B-B14F-4D97-AF65-F5344CB8AC3E}">
        <p14:creationId xmlns:p14="http://schemas.microsoft.com/office/powerpoint/2010/main" val="3007955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935" y="631508"/>
            <a:ext cx="9628632" cy="1508760"/>
          </a:xfrm>
        </p:spPr>
        <p:txBody>
          <a:bodyPr>
            <a:normAutofit fontScale="90000"/>
          </a:bodyPr>
          <a:lstStyle/>
          <a:p>
            <a:pPr algn="ctr"/>
            <a:r>
              <a:rPr lang="en-US" sz="3100" dirty="0" smtClean="0">
                <a:latin typeface="Arial Rounded MT Bold" panose="020F0704030504030204" pitchFamily="34" charset="0"/>
              </a:rPr>
              <a:t>What </a:t>
            </a:r>
            <a:r>
              <a:rPr lang="en-US" sz="3100" dirty="0" smtClean="0">
                <a:latin typeface="Arial Rounded MT Bold" panose="020F0704030504030204" pitchFamily="34" charset="0"/>
              </a:rPr>
              <a:t>makes </a:t>
            </a:r>
            <a:r>
              <a:rPr lang="en-US" sz="3100" dirty="0" smtClean="0">
                <a:latin typeface="Arial Rounded MT Bold" panose="020F0704030504030204" pitchFamily="34" charset="0"/>
              </a:rPr>
              <a:t>a</a:t>
            </a:r>
            <a:br>
              <a:rPr lang="en-US" sz="3100" dirty="0" smtClean="0">
                <a:latin typeface="Arial Rounded MT Bold" panose="020F0704030504030204" pitchFamily="34" charset="0"/>
              </a:rPr>
            </a:br>
            <a:r>
              <a:rPr lang="en-US" sz="4000" dirty="0" smtClean="0">
                <a:latin typeface="Arial Rounded MT Bold" panose="020F0704030504030204" pitchFamily="34" charset="0"/>
              </a:rPr>
              <a:t>SUCCESSFUL </a:t>
            </a:r>
            <a:r>
              <a:rPr lang="en-US" sz="4000" dirty="0" smtClean="0">
                <a:latin typeface="Arial Rounded MT Bold" panose="020F0704030504030204" pitchFamily="34" charset="0"/>
              </a:rPr>
              <a:t>P</a:t>
            </a:r>
            <a:r>
              <a:rPr lang="en-US" sz="4000" dirty="0" smtClean="0">
                <a:latin typeface="Arial Rounded MT Bold" panose="020F0704030504030204" pitchFamily="34" charset="0"/>
              </a:rPr>
              <a:t>ERSONAL STATEMENT</a:t>
            </a:r>
            <a:r>
              <a:rPr lang="en-US" sz="4000" dirty="0" smtClean="0">
                <a:latin typeface="Arial Rounded MT Bold" panose="020F0704030504030204" pitchFamily="34" charset="0"/>
              </a:rPr>
              <a:t>??</a:t>
            </a:r>
            <a:r>
              <a:rPr lang="en-US" sz="4000" dirty="0" smtClean="0">
                <a:latin typeface="Arial Rounded MT Bold" panose="020F0704030504030204" pitchFamily="34" charset="0"/>
              </a:rPr>
              <a:t/>
            </a:r>
            <a:br>
              <a:rPr lang="en-US" sz="4000" dirty="0" smtClean="0">
                <a:latin typeface="Arial Rounded MT Bold" panose="020F0704030504030204" pitchFamily="34" charset="0"/>
              </a:rPr>
            </a:br>
            <a:endParaRPr lang="en-US" sz="4000" i="1" dirty="0">
              <a:latin typeface="Arial Rounded MT Bold" panose="020F0704030504030204" pitchFamily="34" charset="0"/>
            </a:endParaRPr>
          </a:p>
        </p:txBody>
      </p:sp>
      <p:sp>
        <p:nvSpPr>
          <p:cNvPr id="5" name="Text Placeholder 4"/>
          <p:cNvSpPr>
            <a:spLocks noGrp="1"/>
          </p:cNvSpPr>
          <p:nvPr>
            <p:ph type="body" sz="half" idx="2"/>
          </p:nvPr>
        </p:nvSpPr>
        <p:spPr>
          <a:xfrm>
            <a:off x="438912" y="2028825"/>
            <a:ext cx="11448288" cy="4557713"/>
          </a:xfrm>
        </p:spPr>
        <p:txBody>
          <a:bodyPr/>
          <a:lstStyle/>
          <a:p>
            <a:pPr marL="457200" indent="-457200">
              <a:buFont typeface="+mj-lt"/>
              <a:buAutoNum type="arabicPeriod"/>
            </a:pPr>
            <a:r>
              <a:rPr lang="en-US" dirty="0" smtClean="0">
                <a:latin typeface="Bahnschrift" panose="020B0502040204020203" pitchFamily="34" charset="0"/>
              </a:rPr>
              <a:t>It’s </a:t>
            </a:r>
            <a:r>
              <a:rPr lang="en-US" b="1" dirty="0" smtClean="0">
                <a:latin typeface="Bahnschrift" panose="020B0502040204020203" pitchFamily="34" charset="0"/>
              </a:rPr>
              <a:t>personal</a:t>
            </a:r>
            <a:r>
              <a:rPr lang="en-US" dirty="0" smtClean="0">
                <a:latin typeface="Bahnschrift" panose="020B0502040204020203" pitchFamily="34" charset="0"/>
              </a:rPr>
              <a:t>. It shows who you really are and is able to express your feelings, portray vulnerability, and capture your emotions.</a:t>
            </a:r>
          </a:p>
          <a:p>
            <a:pPr marL="457200" indent="-457200">
              <a:buFont typeface="+mj-lt"/>
              <a:buAutoNum type="arabicPeriod"/>
            </a:pPr>
            <a:r>
              <a:rPr lang="en-US" dirty="0" smtClean="0">
                <a:latin typeface="Bahnschrift" panose="020B0502040204020203" pitchFamily="34" charset="0"/>
              </a:rPr>
              <a:t>It’s </a:t>
            </a:r>
            <a:r>
              <a:rPr lang="en-US" b="1" dirty="0" smtClean="0">
                <a:latin typeface="Bahnschrift" panose="020B0502040204020203" pitchFamily="34" charset="0"/>
              </a:rPr>
              <a:t>eloquently written</a:t>
            </a:r>
            <a:r>
              <a:rPr lang="en-US" dirty="0" smtClean="0">
                <a:latin typeface="Bahnschrift" panose="020B0502040204020203" pitchFamily="34" charset="0"/>
              </a:rPr>
              <a:t>. </a:t>
            </a:r>
            <a:r>
              <a:rPr lang="en-US" dirty="0" smtClean="0">
                <a:latin typeface="Bahnschrift" panose="020B0502040204020203" pitchFamily="34" charset="0"/>
              </a:rPr>
              <a:t>You should be able to </a:t>
            </a:r>
            <a:r>
              <a:rPr lang="en-US" dirty="0">
                <a:latin typeface="Bahnschrift" panose="020B0502040204020203" pitchFamily="34" charset="0"/>
              </a:rPr>
              <a:t>express </a:t>
            </a:r>
            <a:r>
              <a:rPr lang="en-US" dirty="0" smtClean="0">
                <a:latin typeface="Bahnschrift" panose="020B0502040204020203" pitchFamily="34" charset="0"/>
              </a:rPr>
              <a:t>yourself and your </a:t>
            </a:r>
            <a:r>
              <a:rPr lang="en-US" dirty="0">
                <a:latin typeface="Bahnschrift" panose="020B0502040204020203" pitchFamily="34" charset="0"/>
              </a:rPr>
              <a:t>ideas clearly and </a:t>
            </a:r>
            <a:r>
              <a:rPr lang="en-US" dirty="0" smtClean="0">
                <a:latin typeface="Bahnschrift" panose="020B0502040204020203" pitchFamily="34" charset="0"/>
              </a:rPr>
              <a:t>concisely. Should have strictly zero grammatical and spelling errors!</a:t>
            </a:r>
          </a:p>
          <a:p>
            <a:pPr marL="457200" indent="-457200">
              <a:buFont typeface="+mj-lt"/>
              <a:buAutoNum type="arabicPeriod"/>
            </a:pPr>
            <a:r>
              <a:rPr lang="en-US" dirty="0" smtClean="0">
                <a:latin typeface="Bahnschrift" panose="020B0502040204020203" pitchFamily="34" charset="0"/>
              </a:rPr>
              <a:t>It perfectly aligns with the other components of the application.</a:t>
            </a:r>
          </a:p>
          <a:p>
            <a:pPr marL="457200" indent="-457200">
              <a:buFont typeface="+mj-lt"/>
              <a:buAutoNum type="arabicPeriod"/>
            </a:pPr>
            <a:r>
              <a:rPr lang="en-US" dirty="0" smtClean="0">
                <a:latin typeface="Bahnschrift" panose="020B0502040204020203" pitchFamily="34" charset="0"/>
              </a:rPr>
              <a:t>It’s </a:t>
            </a:r>
            <a:r>
              <a:rPr lang="en-US" b="1" dirty="0" smtClean="0">
                <a:latin typeface="Bahnschrift" panose="020B0502040204020203" pitchFamily="34" charset="0"/>
              </a:rPr>
              <a:t>not redundant</a:t>
            </a:r>
            <a:r>
              <a:rPr lang="en-US" dirty="0" smtClean="0">
                <a:latin typeface="Bahnschrift" panose="020B0502040204020203" pitchFamily="34" charset="0"/>
              </a:rPr>
              <a:t>. Should focus on areas that have not been mentioned in the rest of the application.</a:t>
            </a:r>
          </a:p>
          <a:p>
            <a:pPr marL="457200" indent="-457200">
              <a:buFont typeface="+mj-lt"/>
              <a:buAutoNum type="arabicPeriod"/>
            </a:pPr>
            <a:r>
              <a:rPr lang="en-US" dirty="0" smtClean="0">
                <a:latin typeface="Bahnschrift" panose="020B0502040204020203" pitchFamily="34" charset="0"/>
              </a:rPr>
              <a:t>It’s </a:t>
            </a:r>
            <a:r>
              <a:rPr lang="en-US" b="1" dirty="0" smtClean="0">
                <a:latin typeface="Bahnschrift" panose="020B0502040204020203" pitchFamily="34" charset="0"/>
              </a:rPr>
              <a:t>creative</a:t>
            </a:r>
            <a:r>
              <a:rPr lang="en-US" dirty="0" smtClean="0">
                <a:latin typeface="Bahnschrift" panose="020B0502040204020203" pitchFamily="34" charset="0"/>
              </a:rPr>
              <a:t>. </a:t>
            </a:r>
            <a:r>
              <a:rPr lang="en-US" dirty="0">
                <a:latin typeface="Bahnschrift" panose="020B0502040204020203" pitchFamily="34" charset="0"/>
              </a:rPr>
              <a:t>T</a:t>
            </a:r>
            <a:r>
              <a:rPr lang="en-US" dirty="0" smtClean="0">
                <a:latin typeface="Bahnschrift" panose="020B0502040204020203" pitchFamily="34" charset="0"/>
              </a:rPr>
              <a:t>he idea should be well thought of and constructed in a manner that is unique and refreshing to the reader.</a:t>
            </a:r>
          </a:p>
          <a:p>
            <a:pPr marL="457200" indent="-457200">
              <a:buFont typeface="+mj-lt"/>
              <a:buAutoNum type="arabicPeriod"/>
            </a:pPr>
            <a:endParaRPr lang="en-US" dirty="0">
              <a:latin typeface="Bahnschrift" panose="020B0502040204020203" pitchFamily="34" charset="0"/>
            </a:endParaRPr>
          </a:p>
        </p:txBody>
      </p:sp>
      <p:pic>
        <p:nvPicPr>
          <p:cNvPr id="6" name="Picture Placeholder 5"/>
          <p:cNvPicPr>
            <a:picLocks noGrp="1" noChangeAspect="1"/>
          </p:cNvPicPr>
          <p:nvPr>
            <p:ph type="pic" idx="1"/>
          </p:nvPr>
        </p:nvPicPr>
        <p:blipFill>
          <a:blip r:embed="rId2">
            <a:extLst>
              <a:ext uri="{28A0092B-C50C-407E-A947-70E740481C1C}">
                <a14:useLocalDpi xmlns:a14="http://schemas.microsoft.com/office/drawing/2010/main" val="0"/>
              </a:ext>
            </a:extLst>
          </a:blip>
          <a:srcRect l="2271" r="2271"/>
          <a:stretch>
            <a:fillRect/>
          </a:stretch>
        </p:blipFill>
        <p:spPr>
          <a:xfrm>
            <a:off x="10422287" y="494321"/>
            <a:ext cx="1327754" cy="1238977"/>
          </a:xfrm>
        </p:spPr>
      </p:pic>
    </p:spTree>
    <p:extLst>
      <p:ext uri="{BB962C8B-B14F-4D97-AF65-F5344CB8AC3E}">
        <p14:creationId xmlns:p14="http://schemas.microsoft.com/office/powerpoint/2010/main" val="128578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4350" y="466343"/>
            <a:ext cx="9386888" cy="1362113"/>
          </a:xfrm>
        </p:spPr>
        <p:txBody>
          <a:bodyPr>
            <a:normAutofit/>
          </a:bodyPr>
          <a:lstStyle/>
          <a:p>
            <a:pPr algn="ctr"/>
            <a:r>
              <a:rPr lang="en-US" sz="3200" dirty="0" smtClean="0">
                <a:latin typeface="Arial Rounded MT Bold" panose="020F0704030504030204" pitchFamily="34" charset="0"/>
              </a:rPr>
              <a:t>AWESOME TIPS AND TRICKS TO APPLY ON YOUR ESSAY(S)</a:t>
            </a:r>
            <a:endParaRPr lang="en-US" sz="3200" dirty="0">
              <a:latin typeface="Arial Rounded MT Bold" panose="020F0704030504030204" pitchFamily="34" charset="0"/>
            </a:endParaRPr>
          </a:p>
        </p:txBody>
      </p:sp>
      <p:sp>
        <p:nvSpPr>
          <p:cNvPr id="6" name="Text Placeholder 5"/>
          <p:cNvSpPr>
            <a:spLocks noGrp="1"/>
          </p:cNvSpPr>
          <p:nvPr>
            <p:ph type="body" sz="half" idx="2"/>
          </p:nvPr>
        </p:nvSpPr>
        <p:spPr>
          <a:xfrm>
            <a:off x="514350" y="2114551"/>
            <a:ext cx="10815639" cy="4371974"/>
          </a:xfrm>
        </p:spPr>
        <p:txBody>
          <a:bodyPr>
            <a:normAutofit fontScale="92500"/>
          </a:bodyPr>
          <a:lstStyle/>
          <a:p>
            <a:pPr marL="457200" indent="-457200">
              <a:buFont typeface="+mj-lt"/>
              <a:buAutoNum type="arabicPeriod"/>
            </a:pPr>
            <a:r>
              <a:rPr lang="en-US" dirty="0" smtClean="0">
                <a:latin typeface="Bahnschrift" panose="020B0502040204020203" pitchFamily="34" charset="0"/>
              </a:rPr>
              <a:t>Start your essay writing process early!!</a:t>
            </a:r>
          </a:p>
          <a:p>
            <a:pPr marL="457200" indent="-457200">
              <a:buFont typeface="+mj-lt"/>
              <a:buAutoNum type="arabicPeriod"/>
            </a:pPr>
            <a:r>
              <a:rPr lang="en-US" dirty="0" smtClean="0">
                <a:latin typeface="Bahnschrift" panose="020B0502040204020203" pitchFamily="34" charset="0"/>
              </a:rPr>
              <a:t>Pick a topic that you are genuinely excited about.</a:t>
            </a:r>
          </a:p>
          <a:p>
            <a:pPr marL="457200" indent="-457200">
              <a:buFont typeface="+mj-lt"/>
              <a:buAutoNum type="arabicPeriod"/>
            </a:pPr>
            <a:r>
              <a:rPr lang="en-US" dirty="0" smtClean="0">
                <a:latin typeface="Bahnschrift" panose="020B0502040204020203" pitchFamily="34" charset="0"/>
              </a:rPr>
              <a:t>Be as specific as you can. Avoid vague and generic descriptions/statements/ideas.</a:t>
            </a:r>
          </a:p>
          <a:p>
            <a:pPr marL="457200" indent="-457200">
              <a:buFont typeface="+mj-lt"/>
              <a:buAutoNum type="arabicPeriod"/>
            </a:pPr>
            <a:r>
              <a:rPr lang="en-US" dirty="0" smtClean="0">
                <a:latin typeface="Bahnschrift" panose="020B0502040204020203" pitchFamily="34" charset="0"/>
              </a:rPr>
              <a:t>Use your own voice.</a:t>
            </a:r>
          </a:p>
          <a:p>
            <a:pPr marL="457200" indent="-457200">
              <a:buFont typeface="+mj-lt"/>
              <a:buAutoNum type="arabicPeriod"/>
            </a:pPr>
            <a:r>
              <a:rPr lang="en-US" dirty="0" smtClean="0">
                <a:latin typeface="Bahnschrift" panose="020B0502040204020203" pitchFamily="34" charset="0"/>
              </a:rPr>
              <a:t>Show, don’t tell!</a:t>
            </a:r>
          </a:p>
          <a:p>
            <a:pPr marL="457200" indent="-457200">
              <a:buFont typeface="+mj-lt"/>
              <a:buAutoNum type="arabicPeriod"/>
            </a:pPr>
            <a:r>
              <a:rPr lang="en-US" dirty="0" smtClean="0">
                <a:latin typeface="Bahnschrift" panose="020B0502040204020203" pitchFamily="34" charset="0"/>
              </a:rPr>
              <a:t>Allow your friends and advisors to read your essay in order to gain an objective opinion.</a:t>
            </a:r>
          </a:p>
          <a:p>
            <a:pPr marL="457200" indent="-457200">
              <a:buFont typeface="+mj-lt"/>
              <a:buAutoNum type="arabicPeriod"/>
            </a:pPr>
            <a:r>
              <a:rPr lang="en-US" dirty="0" smtClean="0">
                <a:latin typeface="Bahnschrift" panose="020B0502040204020203" pitchFamily="34" charset="0"/>
              </a:rPr>
              <a:t>Write at least 3 drafts.</a:t>
            </a:r>
          </a:p>
          <a:p>
            <a:pPr marL="457200" indent="-457200">
              <a:buFont typeface="+mj-lt"/>
              <a:buAutoNum type="arabicPeriod"/>
            </a:pPr>
            <a:r>
              <a:rPr lang="en-US" dirty="0">
                <a:latin typeface="Bahnschrift" panose="020B0502040204020203" pitchFamily="34" charset="0"/>
              </a:rPr>
              <a:t>R</a:t>
            </a:r>
            <a:r>
              <a:rPr lang="en-US" dirty="0" smtClean="0">
                <a:latin typeface="Bahnschrift" panose="020B0502040204020203" pitchFamily="34" charset="0"/>
              </a:rPr>
              <a:t>ead your essay carefully and objectively, constantly edit and work on ways that you can improve it.</a:t>
            </a:r>
            <a:endParaRPr lang="en-US" dirty="0">
              <a:latin typeface="Bahnschrift" panose="020B0502040204020203" pitchFamily="34" charset="0"/>
            </a:endParaRPr>
          </a:p>
        </p:txBody>
      </p:sp>
      <p:pic>
        <p:nvPicPr>
          <p:cNvPr id="11" name="Picture Placeholder 10"/>
          <p:cNvPicPr>
            <a:picLocks noGrp="1" noChangeAspect="1"/>
          </p:cNvPicPr>
          <p:nvPr>
            <p:ph type="pic" idx="1"/>
          </p:nvPr>
        </p:nvPicPr>
        <p:blipFill>
          <a:blip r:embed="rId2">
            <a:extLst>
              <a:ext uri="{28A0092B-C50C-407E-A947-70E740481C1C}">
                <a14:useLocalDpi xmlns:a14="http://schemas.microsoft.com/office/drawing/2010/main" val="0"/>
              </a:ext>
            </a:extLst>
          </a:blip>
          <a:srcRect t="3357" b="3357"/>
          <a:stretch>
            <a:fillRect/>
          </a:stretch>
        </p:blipFill>
        <p:spPr>
          <a:xfrm>
            <a:off x="10475750" y="524409"/>
            <a:ext cx="1335250" cy="1245980"/>
          </a:xfrm>
        </p:spPr>
      </p:pic>
    </p:spTree>
    <p:extLst>
      <p:ext uri="{BB962C8B-B14F-4D97-AF65-F5344CB8AC3E}">
        <p14:creationId xmlns:p14="http://schemas.microsoft.com/office/powerpoint/2010/main" val="2895488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275" y="466343"/>
            <a:ext cx="7472364" cy="1362113"/>
          </a:xfrm>
        </p:spPr>
        <p:txBody>
          <a:bodyPr>
            <a:normAutofit/>
          </a:bodyPr>
          <a:lstStyle/>
          <a:p>
            <a:pPr algn="ctr"/>
            <a:r>
              <a:rPr lang="en-US" sz="4800" dirty="0" smtClean="0">
                <a:latin typeface="Arial Rounded MT Bold" panose="020F0704030504030204" pitchFamily="34" charset="0"/>
              </a:rPr>
              <a:t>CHECK THIS OUT!</a:t>
            </a:r>
            <a:endParaRPr lang="en-US" sz="4800" dirty="0">
              <a:latin typeface="Arial Rounded MT Bold" panose="020F0704030504030204" pitchFamily="34" charset="0"/>
            </a:endParaRPr>
          </a:p>
        </p:txBody>
      </p:sp>
      <p:sp>
        <p:nvSpPr>
          <p:cNvPr id="3" name="Text Placeholder 2"/>
          <p:cNvSpPr>
            <a:spLocks noGrp="1"/>
          </p:cNvSpPr>
          <p:nvPr>
            <p:ph type="body" sz="half" idx="2"/>
          </p:nvPr>
        </p:nvSpPr>
        <p:spPr>
          <a:xfrm>
            <a:off x="5936457" y="2488643"/>
            <a:ext cx="5198130" cy="2712008"/>
          </a:xfrm>
        </p:spPr>
        <p:txBody>
          <a:bodyPr>
            <a:normAutofit/>
          </a:bodyPr>
          <a:lstStyle/>
          <a:p>
            <a:r>
              <a:rPr lang="en-US" sz="4400" dirty="0" smtClean="0">
                <a:latin typeface="Bahnschrift" panose="020B0502040204020203" pitchFamily="34" charset="0"/>
              </a:rPr>
              <a:t>Let us now look at some really awesome essays :)</a:t>
            </a:r>
            <a:endParaRPr lang="en-US" sz="4400" dirty="0">
              <a:latin typeface="Bahnschrift" panose="020B0502040204020203" pitchFamily="34" charset="0"/>
            </a:endParaRPr>
          </a:p>
        </p:txBody>
      </p:sp>
      <p:pic>
        <p:nvPicPr>
          <p:cNvPr id="7" name="Picture Placeholder 6"/>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8574" t="7676" r="19809" b="9943"/>
          <a:stretch/>
        </p:blipFill>
        <p:spPr>
          <a:xfrm>
            <a:off x="589425" y="2243138"/>
            <a:ext cx="5054138" cy="4143374"/>
          </a:xfrm>
        </p:spPr>
      </p:pic>
    </p:spTree>
    <p:extLst>
      <p:ext uri="{BB962C8B-B14F-4D97-AF65-F5344CB8AC3E}">
        <p14:creationId xmlns:p14="http://schemas.microsoft.com/office/powerpoint/2010/main" val="23422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6248" y="466344"/>
            <a:ext cx="3406140" cy="1362113"/>
          </a:xfrm>
        </p:spPr>
        <p:txBody>
          <a:bodyPr>
            <a:normAutofit/>
          </a:bodyPr>
          <a:lstStyle/>
          <a:p>
            <a:pPr algn="ctr"/>
            <a:r>
              <a:rPr lang="en-US" sz="6600" dirty="0" smtClean="0">
                <a:latin typeface="Arial Rounded MT Bold" panose="020F0704030504030204" pitchFamily="34" charset="0"/>
              </a:rPr>
              <a:t>Q &amp; A</a:t>
            </a:r>
            <a:endParaRPr lang="en-US" sz="6600" dirty="0">
              <a:latin typeface="Arial Rounded MT Bold" panose="020F0704030504030204" pitchFamily="34" charset="0"/>
            </a:endParaRPr>
          </a:p>
        </p:txBody>
      </p:sp>
      <p:sp>
        <p:nvSpPr>
          <p:cNvPr id="3" name="TextBox 2"/>
          <p:cNvSpPr txBox="1"/>
          <p:nvPr/>
        </p:nvSpPr>
        <p:spPr>
          <a:xfrm>
            <a:off x="2697480" y="2828925"/>
            <a:ext cx="6543675" cy="3139321"/>
          </a:xfrm>
          <a:prstGeom prst="rect">
            <a:avLst/>
          </a:prstGeom>
          <a:noFill/>
        </p:spPr>
        <p:txBody>
          <a:bodyPr wrap="square" rtlCol="0">
            <a:spAutoFit/>
          </a:bodyPr>
          <a:lstStyle/>
          <a:p>
            <a:pPr algn="ctr"/>
            <a:r>
              <a:rPr lang="en-US" sz="6600" dirty="0" smtClean="0">
                <a:solidFill>
                  <a:schemeClr val="accent1">
                    <a:lumMod val="50000"/>
                  </a:schemeClr>
                </a:solidFill>
                <a:latin typeface="Bahnschrift" panose="020B0502040204020203" pitchFamily="34" charset="0"/>
              </a:rPr>
              <a:t>You are welcome to</a:t>
            </a:r>
          </a:p>
          <a:p>
            <a:pPr algn="ctr"/>
            <a:r>
              <a:rPr lang="en-US" sz="6600" dirty="0" smtClean="0">
                <a:solidFill>
                  <a:schemeClr val="accent1">
                    <a:lumMod val="50000"/>
                  </a:schemeClr>
                </a:solidFill>
                <a:latin typeface="Bahnschrift" panose="020B0502040204020203" pitchFamily="34" charset="0"/>
              </a:rPr>
              <a:t>ASK AWAY </a:t>
            </a:r>
            <a:r>
              <a:rPr lang="en-US" sz="6600" dirty="0" smtClean="0">
                <a:solidFill>
                  <a:schemeClr val="accent1">
                    <a:lumMod val="50000"/>
                  </a:schemeClr>
                </a:solidFill>
                <a:latin typeface="Bahnschrift" panose="020B0502040204020203" pitchFamily="34" charset="0"/>
                <a:sym typeface="Wingdings" panose="05000000000000000000" pitchFamily="2" charset="2"/>
              </a:rPr>
              <a:t></a:t>
            </a:r>
            <a:endParaRPr lang="en-US" sz="6600" dirty="0">
              <a:solidFill>
                <a:schemeClr val="accent1">
                  <a:lumMod val="50000"/>
                </a:schemeClr>
              </a:solidFill>
              <a:latin typeface="Bahnschrift" panose="020B0502040204020203" pitchFamily="34" charset="0"/>
            </a:endParaRPr>
          </a:p>
        </p:txBody>
      </p:sp>
    </p:spTree>
    <p:extLst>
      <p:ext uri="{BB962C8B-B14F-4D97-AF65-F5344CB8AC3E}">
        <p14:creationId xmlns:p14="http://schemas.microsoft.com/office/powerpoint/2010/main" val="3914199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5C7BA"/>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862" y="80962"/>
            <a:ext cx="6777038" cy="6777038"/>
          </a:xfrm>
          <a:prstGeom prst="rect">
            <a:avLst/>
          </a:prstGeom>
          <a:solidFill>
            <a:srgbClr val="00B0F0"/>
          </a:solidFill>
        </p:spPr>
      </p:pic>
    </p:spTree>
    <p:extLst>
      <p:ext uri="{BB962C8B-B14F-4D97-AF65-F5344CB8AC3E}">
        <p14:creationId xmlns:p14="http://schemas.microsoft.com/office/powerpoint/2010/main" val="271475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27.potx" id="{6B18C398-4F76-4BDC-B8A4-D02A96E0AA82}" vid="{FBF1AC64-E511-41D2-AA23-0E693E79CD77}"/>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presentation, chalkboard illustrations design (widescreen)</Template>
  <TotalTime>435</TotalTime>
  <Words>819</Words>
  <Application>Microsoft Office PowerPoint</Application>
  <PresentationFormat>Widescreen</PresentationFormat>
  <Paragraphs>58</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 Rounded MT Bold</vt:lpstr>
      <vt:lpstr>Bahnschrift</vt:lpstr>
      <vt:lpstr>Bahnschrift SemiLight</vt:lpstr>
      <vt:lpstr>Calibri</vt:lpstr>
      <vt:lpstr>Wingdings</vt:lpstr>
      <vt:lpstr>Educational subjects 16x9</vt:lpstr>
      <vt:lpstr>The Personal Statement Part I</vt:lpstr>
      <vt:lpstr>OUR OBJECTIVES: What are we going to do today?</vt:lpstr>
      <vt:lpstr>TERMINOLOGIES</vt:lpstr>
      <vt:lpstr>WHY IS THE PERSONAL STATEMENT IMPORTANT?</vt:lpstr>
      <vt:lpstr>THE COMMON APP ESSAY PROMPTS</vt:lpstr>
      <vt:lpstr>THE COMMON APP ESSAY PROMPTS…Continued.</vt:lpstr>
      <vt:lpstr>THE ESSAY WRITING PROCESS</vt:lpstr>
      <vt:lpstr>What makes a SUCCESSFUL PERSONAL STATEMENT?? </vt:lpstr>
      <vt:lpstr>AWESOME TIPS AND TRICKS TO APPLY ON YOUR ESSAY(S)</vt:lpstr>
      <vt:lpstr>CHECK THIS OUT!</vt:lpstr>
      <vt:lpstr>Q &amp; 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Personal Statement Part I</dc:title>
  <dc:creator>LENOVO</dc:creator>
  <cp:lastModifiedBy>LENOVO</cp:lastModifiedBy>
  <cp:revision>27</cp:revision>
  <dcterms:created xsi:type="dcterms:W3CDTF">2021-07-12T12:10:32Z</dcterms:created>
  <dcterms:modified xsi:type="dcterms:W3CDTF">2021-07-12T19:36:20Z</dcterms:modified>
</cp:coreProperties>
</file>