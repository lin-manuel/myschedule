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8" r:id="rId4"/>
    <p:sldId id="258" r:id="rId5"/>
    <p:sldId id="259" r:id="rId6"/>
    <p:sldId id="261" r:id="rId7"/>
    <p:sldId id="262" r:id="rId8"/>
    <p:sldId id="265" r:id="rId9"/>
    <p:sldId id="266" r:id="rId10"/>
    <p:sldId id="267" r:id="rId1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310C74-B2AB-154A-8B25-C65DA8D1068E}" v="57" dt="2021-07-13T17:34:17.092"/>
    <p1510:client id="{5041C89C-9696-4AA1-88D9-E86C716D9F0D}" v="908" dt="2021-07-13T21:56:13.036"/>
    <p1510:client id="{76743876-600A-482E-92A1-05BFD494E4C7}" v="2867" dt="2021-07-13T20:02:24.153"/>
    <p1510:client id="{978FE4FB-FEE1-432D-AB87-BF247FBE2161}" v="2149" dt="2021-07-13T21:36:48.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13/07/2021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13/07/2021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13/07/2021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13/07/2021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13/07/2021</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reebie.photography/office/slides/pen_notebook.htm" TargetMode="External"/><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creativecommons.org/licenses/by/3.0/"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mrnittle.com/2015/05/19/nytimes-shares-students-college-application-essays/" TargetMode="Externa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hyperlink" Target="https://creativecommons.org/licenses/by-nd/3.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peoplematters.in/article/life-at-work/sketchnote-work-related-dos-and-donts-for-2018-17206"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peoplematters.in/article/life-at-work/sketchnote-work-related-dos-and-donts-for-2018-17206"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A picture containing text, stationary, document&#10;&#10;Description automatically generated">
            <a:extLst>
              <a:ext uri="{FF2B5EF4-FFF2-40B4-BE49-F238E27FC236}">
                <a16:creationId xmlns:a16="http://schemas.microsoft.com/office/drawing/2014/main" id="{9A4E403D-205B-46C1-A818-D172CF04335A}"/>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13903" b="1511"/>
          <a:stretch/>
        </p:blipFill>
        <p:spPr>
          <a:xfrm>
            <a:off x="-3047" y="10"/>
            <a:ext cx="12191999" cy="6857990"/>
          </a:xfrm>
          <a:prstGeom prst="rect">
            <a:avLst/>
          </a:prstGeom>
        </p:spPr>
      </p:pic>
      <p:sp>
        <p:nvSpPr>
          <p:cNvPr id="25" name="Rectangle 24">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7280" y="325550"/>
            <a:ext cx="9627080" cy="2482099"/>
          </a:xfrm>
          <a:effectLst>
            <a:outerShdw blurRad="50800" dist="38100" dir="2700000" algn="tl" rotWithShape="0">
              <a:prstClr val="black">
                <a:alpha val="40000"/>
              </a:prstClr>
            </a:outerShdw>
          </a:effectLst>
        </p:spPr>
        <p:txBody>
          <a:bodyPr vert="horz" lIns="91440" tIns="45720" rIns="91440" bIns="45720" rtlCol="0">
            <a:normAutofit/>
          </a:bodyPr>
          <a:lstStyle/>
          <a:p>
            <a:r>
              <a:rPr lang="en-US" sz="5200">
                <a:solidFill>
                  <a:srgbClr val="92D050"/>
                </a:solidFill>
                <a:latin typeface="Arial Black"/>
              </a:rPr>
              <a:t>The Personal</a:t>
            </a:r>
            <a:r>
              <a:rPr lang="en-US" sz="5200" kern="1200">
                <a:solidFill>
                  <a:srgbClr val="92D050"/>
                </a:solidFill>
                <a:latin typeface="Arial Black"/>
              </a:rPr>
              <a:t> </a:t>
            </a:r>
            <a:r>
              <a:rPr lang="en-US" sz="5200">
                <a:solidFill>
                  <a:srgbClr val="92D050"/>
                </a:solidFill>
                <a:latin typeface="Arial Black"/>
              </a:rPr>
              <a:t>Statement Part</a:t>
            </a:r>
            <a:r>
              <a:rPr lang="en-US" sz="5200" kern="1200">
                <a:solidFill>
                  <a:srgbClr val="92D050"/>
                </a:solidFill>
                <a:latin typeface="Arial Black"/>
              </a:rPr>
              <a:t> 2</a:t>
            </a:r>
          </a:p>
        </p:txBody>
      </p:sp>
      <p:sp>
        <p:nvSpPr>
          <p:cNvPr id="3" name="Subtitle 2"/>
          <p:cNvSpPr>
            <a:spLocks noGrp="1"/>
          </p:cNvSpPr>
          <p:nvPr>
            <p:ph type="subTitle" idx="1"/>
          </p:nvPr>
        </p:nvSpPr>
        <p:spPr>
          <a:xfrm>
            <a:off x="1028164" y="3180647"/>
            <a:ext cx="10144664" cy="1627763"/>
          </a:xfrm>
          <a:effectLst>
            <a:outerShdw blurRad="50800" dist="38100" dir="2700000" algn="tl" rotWithShape="0">
              <a:prstClr val="black">
                <a:alpha val="40000"/>
              </a:prstClr>
            </a:outerShdw>
          </a:effectLst>
        </p:spPr>
        <p:txBody>
          <a:bodyPr vert="horz" lIns="91440" tIns="45720" rIns="91440" bIns="45720" rtlCol="0" anchor="t">
            <a:noAutofit/>
          </a:bodyPr>
          <a:lstStyle/>
          <a:p>
            <a:pPr indent="-228600">
              <a:buFont typeface="Arial" panose="020B0604020202020204" pitchFamily="34" charset="0"/>
              <a:buChar char="•"/>
            </a:pPr>
            <a:r>
              <a:rPr lang="en-US" sz="4000">
                <a:solidFill>
                  <a:schemeClr val="accent1"/>
                </a:solidFill>
                <a:latin typeface="Times"/>
                <a:cs typeface="Times"/>
              </a:rPr>
              <a:t>Presenters</a:t>
            </a:r>
          </a:p>
          <a:p>
            <a:pPr indent="-228600">
              <a:buFont typeface="Arial" panose="020B0604020202020204" pitchFamily="34" charset="0"/>
              <a:buChar char="•"/>
            </a:pPr>
            <a:r>
              <a:rPr lang="en-US" sz="4000" err="1">
                <a:solidFill>
                  <a:schemeClr val="accent1"/>
                </a:solidFill>
                <a:latin typeface="Times"/>
                <a:cs typeface="Times"/>
              </a:rPr>
              <a:t>Mukamani</a:t>
            </a:r>
            <a:r>
              <a:rPr lang="en-US" sz="4000">
                <a:solidFill>
                  <a:schemeClr val="accent1"/>
                </a:solidFill>
                <a:latin typeface="Times"/>
                <a:cs typeface="Times"/>
              </a:rPr>
              <a:t> </a:t>
            </a:r>
            <a:r>
              <a:rPr lang="en-US" sz="4000" err="1">
                <a:solidFill>
                  <a:schemeClr val="accent1"/>
                </a:solidFill>
                <a:latin typeface="Times"/>
                <a:cs typeface="Times"/>
              </a:rPr>
              <a:t>Luchera</a:t>
            </a:r>
            <a:endParaRPr lang="en-US" sz="4000">
              <a:solidFill>
                <a:schemeClr val="accent1"/>
              </a:solidFill>
              <a:latin typeface="Times"/>
              <a:cs typeface="Times"/>
            </a:endParaRPr>
          </a:p>
          <a:p>
            <a:pPr indent="-228600">
              <a:buFont typeface="Arial" panose="020B0604020202020204" pitchFamily="34" charset="0"/>
              <a:buChar char="•"/>
            </a:pPr>
            <a:r>
              <a:rPr lang="en-US" sz="4000">
                <a:solidFill>
                  <a:schemeClr val="accent1"/>
                </a:solidFill>
                <a:latin typeface="Times"/>
                <a:cs typeface="Times"/>
              </a:rPr>
              <a:t>Esther Nzau</a:t>
            </a:r>
          </a:p>
          <a:p>
            <a:pPr indent="-228600">
              <a:buFont typeface="Arial" panose="020B0604020202020204" pitchFamily="34" charset="0"/>
              <a:buChar char="•"/>
            </a:pPr>
            <a:endParaRPr lang="en-US" sz="2200">
              <a:solidFill>
                <a:srgbClr val="FFFFFF"/>
              </a:solidFill>
            </a:endParaRPr>
          </a:p>
        </p:txBody>
      </p:sp>
      <p:sp>
        <p:nvSpPr>
          <p:cNvPr id="4" name="TextBox 3">
            <a:extLst>
              <a:ext uri="{FF2B5EF4-FFF2-40B4-BE49-F238E27FC236}">
                <a16:creationId xmlns:a16="http://schemas.microsoft.com/office/drawing/2014/main" id="{BE5A5659-82D7-4BC2-85BD-69FDA213E32C}"/>
              </a:ext>
            </a:extLst>
          </p:cNvPr>
          <p:cNvSpPr txBox="1"/>
          <p:nvPr/>
        </p:nvSpPr>
        <p:spPr>
          <a:xfrm>
            <a:off x="9576785" y="5703338"/>
            <a:ext cx="2814752" cy="57934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indent="-228600">
              <a:lnSpc>
                <a:spcPct val="90000"/>
              </a:lnSpc>
              <a:spcAft>
                <a:spcPts val="600"/>
              </a:spcAft>
              <a:buFont typeface="Arial" panose="020B0604020202020204" pitchFamily="34" charset="0"/>
              <a:buChar char="•"/>
            </a:pPr>
            <a:r>
              <a:rPr lang="en-US" sz="3600">
                <a:solidFill>
                  <a:srgbClr val="FFFF00"/>
                </a:solidFill>
              </a:rPr>
              <a:t>ECC 2021</a:t>
            </a:r>
            <a:endParaRPr lang="en-US" sz="3600">
              <a:solidFill>
                <a:srgbClr val="FFFF00"/>
              </a:solidFill>
              <a:cs typeface="Calibri"/>
            </a:endParaRPr>
          </a:p>
        </p:txBody>
      </p:sp>
      <p:sp>
        <p:nvSpPr>
          <p:cNvPr id="7" name="TextBox 6">
            <a:extLst>
              <a:ext uri="{FF2B5EF4-FFF2-40B4-BE49-F238E27FC236}">
                <a16:creationId xmlns:a16="http://schemas.microsoft.com/office/drawing/2014/main" id="{C681CC04-AABC-454B-B851-70E99395971E}"/>
              </a:ext>
            </a:extLst>
          </p:cNvPr>
          <p:cNvSpPr txBox="1"/>
          <p:nvPr/>
        </p:nvSpPr>
        <p:spPr>
          <a:xfrm>
            <a:off x="9987708" y="6657945"/>
            <a:ext cx="220124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a:t>
            </a:r>
            <a:r>
              <a:rPr lang="en-US" sz="700">
                <a:solidFill>
                  <a:srgbClr val="FFFFFF"/>
                </a:solidFill>
              </a:rPr>
              <a:t>.</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81CC5389-CB4A-43B7-9A0E-5447CE0BC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3" name="Color">
              <a:extLst>
                <a:ext uri="{FF2B5EF4-FFF2-40B4-BE49-F238E27FC236}">
                  <a16:creationId xmlns:a16="http://schemas.microsoft.com/office/drawing/2014/main" id="{017160F5-4BB5-41FB-B2D8-0AE0A6D76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olor">
              <a:extLst>
                <a:ext uri="{FF2B5EF4-FFF2-40B4-BE49-F238E27FC236}">
                  <a16:creationId xmlns:a16="http://schemas.microsoft.com/office/drawing/2014/main" id="{5AB10530-0B6F-40EF-9B05-F388D1BCB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Color">
            <a:extLst>
              <a:ext uri="{FF2B5EF4-FFF2-40B4-BE49-F238E27FC236}">
                <a16:creationId xmlns:a16="http://schemas.microsoft.com/office/drawing/2014/main" id="{145B2F28-3A18-4BC2-8E92-9AF66F147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04" y="598259"/>
            <a:ext cx="10889442" cy="568074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4" descr="A picture containing text&#10;&#10;Description automatically generated">
            <a:extLst>
              <a:ext uri="{FF2B5EF4-FFF2-40B4-BE49-F238E27FC236}">
                <a16:creationId xmlns:a16="http://schemas.microsoft.com/office/drawing/2014/main" id="{17E00B87-93F3-4D91-A789-FD600D55D482}"/>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6755" r="12787"/>
          <a:stretch/>
        </p:blipFill>
        <p:spPr>
          <a:xfrm>
            <a:off x="6185041" y="610484"/>
            <a:ext cx="5365729" cy="5655024"/>
          </a:xfrm>
          <a:prstGeom prst="rect">
            <a:avLst/>
          </a:prstGeom>
        </p:spPr>
      </p:pic>
      <p:grpSp>
        <p:nvGrpSpPr>
          <p:cNvPr id="38" name="Group 37">
            <a:extLst>
              <a:ext uri="{FF2B5EF4-FFF2-40B4-BE49-F238E27FC236}">
                <a16:creationId xmlns:a16="http://schemas.microsoft.com/office/drawing/2014/main" id="{FA65A26F-1F64-451C-BFA2-F92410951F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39" name="Freeform: Shape 38">
              <a:extLst>
                <a:ext uri="{FF2B5EF4-FFF2-40B4-BE49-F238E27FC236}">
                  <a16:creationId xmlns:a16="http://schemas.microsoft.com/office/drawing/2014/main" id="{635C965A-C516-42B1-844F-9472408C9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C4C44BFB-148D-4919-BEE5-0138A35BCC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CD704AD9-4DAA-4F0F-8B02-8B765658A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9F9F0EF2-FB12-49A3-B73C-E38141A55F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49A9DBF1-1403-4BE8-B87E-0393E9CDE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3979BDB7-FA20-4F60-97B1-CF3696395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3B7D32B5-D9D6-467E-8349-4A1A840FA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BF7CA5F-95AA-4B8F-970C-606E00C95CC7}"/>
              </a:ext>
            </a:extLst>
          </p:cNvPr>
          <p:cNvSpPr>
            <a:spLocks noGrp="1"/>
          </p:cNvSpPr>
          <p:nvPr>
            <p:ph type="ctrTitle"/>
          </p:nvPr>
        </p:nvSpPr>
        <p:spPr>
          <a:xfrm>
            <a:off x="653209" y="589872"/>
            <a:ext cx="5514737" cy="1323612"/>
          </a:xfrm>
        </p:spPr>
        <p:txBody>
          <a:bodyPr vert="horz" lIns="91440" tIns="45720" rIns="91440" bIns="45720" rtlCol="0" anchor="b">
            <a:normAutofit/>
          </a:bodyPr>
          <a:lstStyle/>
          <a:p>
            <a:pPr algn="l"/>
            <a:r>
              <a:rPr lang="en-US" sz="3700">
                <a:solidFill>
                  <a:schemeClr val="tx2"/>
                </a:solidFill>
                <a:latin typeface="Arial Black"/>
              </a:rPr>
              <a:t>     </a:t>
            </a:r>
            <a:r>
              <a:rPr lang="en-US" sz="3700" kern="1200">
                <a:solidFill>
                  <a:schemeClr val="tx2"/>
                </a:solidFill>
                <a:latin typeface="Arial Black"/>
              </a:rPr>
              <a:t>Introduction</a:t>
            </a:r>
          </a:p>
        </p:txBody>
      </p:sp>
      <p:sp>
        <p:nvSpPr>
          <p:cNvPr id="3" name="Subtitle 2">
            <a:extLst>
              <a:ext uri="{FF2B5EF4-FFF2-40B4-BE49-F238E27FC236}">
                <a16:creationId xmlns:a16="http://schemas.microsoft.com/office/drawing/2014/main" id="{87E1DC89-186B-4ACE-8A74-E07971574AE0}"/>
              </a:ext>
            </a:extLst>
          </p:cNvPr>
          <p:cNvSpPr>
            <a:spLocks noGrp="1"/>
          </p:cNvSpPr>
          <p:nvPr>
            <p:ph type="subTitle" idx="1"/>
          </p:nvPr>
        </p:nvSpPr>
        <p:spPr>
          <a:xfrm>
            <a:off x="653210" y="1909978"/>
            <a:ext cx="5442849" cy="4358151"/>
          </a:xfrm>
        </p:spPr>
        <p:txBody>
          <a:bodyPr vert="horz" lIns="91440" tIns="45720" rIns="91440" bIns="45720" rtlCol="0" anchor="t">
            <a:noAutofit/>
          </a:bodyPr>
          <a:lstStyle/>
          <a:p>
            <a:pPr marL="457200" indent="-228600" algn="l">
              <a:buFont typeface="Arial" panose="020B0604020202020204" pitchFamily="34" charset="0"/>
              <a:buChar char="•"/>
            </a:pPr>
            <a:r>
              <a:rPr lang="en-US">
                <a:solidFill>
                  <a:schemeClr val="tx2"/>
                </a:solidFill>
              </a:rPr>
              <a:t>E</a:t>
            </a:r>
            <a:r>
              <a:rPr lang="en-US">
                <a:solidFill>
                  <a:schemeClr val="tx2"/>
                </a:solidFill>
                <a:latin typeface="Times"/>
                <a:cs typeface="Times"/>
              </a:rPr>
              <a:t>ssays are arguably the most important soft factors considered when making college admission decision.</a:t>
            </a:r>
          </a:p>
          <a:p>
            <a:pPr marL="457200" indent="-228600" algn="l">
              <a:buFont typeface="Arial" panose="020B0604020202020204" pitchFamily="34" charset="0"/>
              <a:buChar char="•"/>
            </a:pPr>
            <a:r>
              <a:rPr lang="en-US">
                <a:solidFill>
                  <a:schemeClr val="tx2"/>
                </a:solidFill>
                <a:latin typeface="Times"/>
                <a:cs typeface="Times"/>
              </a:rPr>
              <a:t>And in a year where more colleges than ever are test optional, soft factors like the essay will carry even more weight in the admissions process this fall.</a:t>
            </a:r>
          </a:p>
          <a:p>
            <a:pPr marL="457200" indent="-228600" algn="l">
              <a:buFont typeface="Arial" panose="020B0604020202020204" pitchFamily="34" charset="0"/>
              <a:buChar char="•"/>
            </a:pPr>
            <a:r>
              <a:rPr lang="en-US">
                <a:solidFill>
                  <a:schemeClr val="tx2"/>
                </a:solidFill>
                <a:latin typeface="Times"/>
                <a:cs typeface="Times"/>
              </a:rPr>
              <a:t>To improve your essays, certain things are crucial to implement and others to avoid in one's personal statement.</a:t>
            </a:r>
          </a:p>
          <a:p>
            <a:pPr indent="-228600" algn="l">
              <a:buFont typeface="Arial" panose="020B0604020202020204" pitchFamily="34" charset="0"/>
              <a:buChar char="•"/>
            </a:pPr>
            <a:endParaRPr lang="en-US">
              <a:solidFill>
                <a:schemeClr val="tx2"/>
              </a:solidFill>
              <a:cs typeface="Calibri"/>
            </a:endParaRPr>
          </a:p>
          <a:p>
            <a:pPr marL="342900" indent="-228600" algn="l">
              <a:buFont typeface="Arial" panose="020B0604020202020204" pitchFamily="34" charset="0"/>
              <a:buChar char="•"/>
            </a:pPr>
            <a:endParaRPr lang="en-US" sz="1300">
              <a:solidFill>
                <a:schemeClr val="tx2"/>
              </a:solidFill>
            </a:endParaRPr>
          </a:p>
        </p:txBody>
      </p:sp>
      <p:sp>
        <p:nvSpPr>
          <p:cNvPr id="25" name="TextBox 24">
            <a:extLst>
              <a:ext uri="{FF2B5EF4-FFF2-40B4-BE49-F238E27FC236}">
                <a16:creationId xmlns:a16="http://schemas.microsoft.com/office/drawing/2014/main" id="{3CA17941-A752-4A84-9A38-DD678907CD10}"/>
              </a:ext>
            </a:extLst>
          </p:cNvPr>
          <p:cNvSpPr txBox="1"/>
          <p:nvPr/>
        </p:nvSpPr>
        <p:spPr>
          <a:xfrm>
            <a:off x="9109425" y="5993564"/>
            <a:ext cx="234070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BY-ND</a:t>
            </a:r>
            <a:r>
              <a:rPr lang="en-US" sz="700">
                <a:solidFill>
                  <a:srgbClr val="FFFFFF"/>
                </a:solidFill>
              </a:rPr>
              <a:t>.</a:t>
            </a:r>
          </a:p>
        </p:txBody>
      </p:sp>
    </p:spTree>
    <p:extLst>
      <p:ext uri="{BB962C8B-B14F-4D97-AF65-F5344CB8AC3E}">
        <p14:creationId xmlns:p14="http://schemas.microsoft.com/office/powerpoint/2010/main" val="4162075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3FA16239-4EC6-4FEB-AEE0-5399A9161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8">
            <a:extLst>
              <a:ext uri="{FF2B5EF4-FFF2-40B4-BE49-F238E27FC236}">
                <a16:creationId xmlns:a16="http://schemas.microsoft.com/office/drawing/2014/main" id="{2BE4B43C-E9B9-48A5-95C0-41EA1E9C4A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 name="Freeform 5">
              <a:extLst>
                <a:ext uri="{FF2B5EF4-FFF2-40B4-BE49-F238E27FC236}">
                  <a16:creationId xmlns:a16="http://schemas.microsoft.com/office/drawing/2014/main" id="{74647552-E486-4A45-A328-46689ABD2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 name="Freeform 6">
              <a:extLst>
                <a:ext uri="{FF2B5EF4-FFF2-40B4-BE49-F238E27FC236}">
                  <a16:creationId xmlns:a16="http://schemas.microsoft.com/office/drawing/2014/main" id="{49C4D0F7-FB9C-4341-9B3F-AF4194DCF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7">
              <a:extLst>
                <a:ext uri="{FF2B5EF4-FFF2-40B4-BE49-F238E27FC236}">
                  <a16:creationId xmlns:a16="http://schemas.microsoft.com/office/drawing/2014/main" id="{35856CA2-89DB-45ED-9BAB-A74BF3684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 name="Freeform 8">
              <a:extLst>
                <a:ext uri="{FF2B5EF4-FFF2-40B4-BE49-F238E27FC236}">
                  <a16:creationId xmlns:a16="http://schemas.microsoft.com/office/drawing/2014/main" id="{BC28E980-AD8A-409F-B68A-EA8024CAF4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9">
              <a:extLst>
                <a:ext uri="{FF2B5EF4-FFF2-40B4-BE49-F238E27FC236}">
                  <a16:creationId xmlns:a16="http://schemas.microsoft.com/office/drawing/2014/main" id="{A4A0B206-8937-487B-B814-6038EA7B6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10">
              <a:extLst>
                <a:ext uri="{FF2B5EF4-FFF2-40B4-BE49-F238E27FC236}">
                  <a16:creationId xmlns:a16="http://schemas.microsoft.com/office/drawing/2014/main" id="{80F02C1F-CA60-4731-BD94-1DBD21070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1">
              <a:extLst>
                <a:ext uri="{FF2B5EF4-FFF2-40B4-BE49-F238E27FC236}">
                  <a16:creationId xmlns:a16="http://schemas.microsoft.com/office/drawing/2014/main" id="{B46B647C-DB48-4E86-8BAD-FC9373AAD8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2">
              <a:extLst>
                <a:ext uri="{FF2B5EF4-FFF2-40B4-BE49-F238E27FC236}">
                  <a16:creationId xmlns:a16="http://schemas.microsoft.com/office/drawing/2014/main" id="{1E89C26B-6CB2-42D8-8BB3-3E26FED30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3">
              <a:extLst>
                <a:ext uri="{FF2B5EF4-FFF2-40B4-BE49-F238E27FC236}">
                  <a16:creationId xmlns:a16="http://schemas.microsoft.com/office/drawing/2014/main" id="{160F0CF2-8023-4534-ADC9-A59BEE3FC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4">
              <a:extLst>
                <a:ext uri="{FF2B5EF4-FFF2-40B4-BE49-F238E27FC236}">
                  <a16:creationId xmlns:a16="http://schemas.microsoft.com/office/drawing/2014/main" id="{49150B67-0A82-4B3E-822F-074379AA4F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15">
              <a:extLst>
                <a:ext uri="{FF2B5EF4-FFF2-40B4-BE49-F238E27FC236}">
                  <a16:creationId xmlns:a16="http://schemas.microsoft.com/office/drawing/2014/main" id="{525671B3-0E8E-4D8A-B0D1-BD3784E8E0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1" name="Freeform 16">
              <a:extLst>
                <a:ext uri="{FF2B5EF4-FFF2-40B4-BE49-F238E27FC236}">
                  <a16:creationId xmlns:a16="http://schemas.microsoft.com/office/drawing/2014/main" id="{5CCDCC7C-C689-4233-A61E-9004CD6909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2" name="Freeform 17">
              <a:extLst>
                <a:ext uri="{FF2B5EF4-FFF2-40B4-BE49-F238E27FC236}">
                  <a16:creationId xmlns:a16="http://schemas.microsoft.com/office/drawing/2014/main" id="{C538E84F-390F-4BB2-A10A-926A6C365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8">
              <a:extLst>
                <a:ext uri="{FF2B5EF4-FFF2-40B4-BE49-F238E27FC236}">
                  <a16:creationId xmlns:a16="http://schemas.microsoft.com/office/drawing/2014/main" id="{228E4807-1196-4E27-9169-ABC2C822E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9">
              <a:extLst>
                <a:ext uri="{FF2B5EF4-FFF2-40B4-BE49-F238E27FC236}">
                  <a16:creationId xmlns:a16="http://schemas.microsoft.com/office/drawing/2014/main" id="{E54BEE83-39BF-44E5-85A6-D4CD4E42DF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20">
              <a:extLst>
                <a:ext uri="{FF2B5EF4-FFF2-40B4-BE49-F238E27FC236}">
                  <a16:creationId xmlns:a16="http://schemas.microsoft.com/office/drawing/2014/main" id="{C47F9A38-DBF0-4CDB-BF1E-B6513FCA5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1">
              <a:extLst>
                <a:ext uri="{FF2B5EF4-FFF2-40B4-BE49-F238E27FC236}">
                  <a16:creationId xmlns:a16="http://schemas.microsoft.com/office/drawing/2014/main" id="{BBC95025-5AF8-4EE5-BF4C-ED4C3B8563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2">
              <a:extLst>
                <a:ext uri="{FF2B5EF4-FFF2-40B4-BE49-F238E27FC236}">
                  <a16:creationId xmlns:a16="http://schemas.microsoft.com/office/drawing/2014/main" id="{A9F174C7-84C3-4723-A1AE-C812524B5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8" name="Freeform 23">
              <a:extLst>
                <a:ext uri="{FF2B5EF4-FFF2-40B4-BE49-F238E27FC236}">
                  <a16:creationId xmlns:a16="http://schemas.microsoft.com/office/drawing/2014/main" id="{6996D3DB-ACC4-449B-9388-C1A6791FF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0" name="Freeform: Shape 29">
            <a:extLst>
              <a:ext uri="{FF2B5EF4-FFF2-40B4-BE49-F238E27FC236}">
                <a16:creationId xmlns:a16="http://schemas.microsoft.com/office/drawing/2014/main" id="{30AD7924-1265-4ADB-A88C-804B0BD8E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058957"/>
          </a:xfrm>
          <a:custGeom>
            <a:avLst/>
            <a:gdLst>
              <a:gd name="connsiteX0" fmla="*/ 0 w 12192000"/>
              <a:gd name="connsiteY0" fmla="*/ 0 h 5058957"/>
              <a:gd name="connsiteX1" fmla="*/ 12192000 w 12192000"/>
              <a:gd name="connsiteY1" fmla="*/ 0 h 5058957"/>
              <a:gd name="connsiteX2" fmla="*/ 12192000 w 12192000"/>
              <a:gd name="connsiteY2" fmla="*/ 259692 h 5058957"/>
              <a:gd name="connsiteX3" fmla="*/ 12192000 w 12192000"/>
              <a:gd name="connsiteY3" fmla="*/ 3542069 h 5058957"/>
              <a:gd name="connsiteX4" fmla="*/ 12192000 w 12192000"/>
              <a:gd name="connsiteY4" fmla="*/ 3734194 h 5058957"/>
              <a:gd name="connsiteX5" fmla="*/ 12192000 w 12192000"/>
              <a:gd name="connsiteY5" fmla="*/ 4710012 h 5058957"/>
              <a:gd name="connsiteX6" fmla="*/ 12113803 w 12192000"/>
              <a:gd name="connsiteY6" fmla="*/ 4718295 h 5058957"/>
              <a:gd name="connsiteX7" fmla="*/ 6753597 w 12192000"/>
              <a:gd name="connsiteY7" fmla="*/ 5041852 h 5058957"/>
              <a:gd name="connsiteX8" fmla="*/ 400746 w 12192000"/>
              <a:gd name="connsiteY8" fmla="*/ 4870509 h 5058957"/>
              <a:gd name="connsiteX9" fmla="*/ 0 w 12192000"/>
              <a:gd name="connsiteY9" fmla="*/ 4833533 h 5058957"/>
              <a:gd name="connsiteX10" fmla="*/ 0 w 12192000"/>
              <a:gd name="connsiteY10" fmla="*/ 3734194 h 5058957"/>
              <a:gd name="connsiteX11" fmla="*/ 0 w 12192000"/>
              <a:gd name="connsiteY11" fmla="*/ 3542069 h 5058957"/>
              <a:gd name="connsiteX12" fmla="*/ 0 w 12192000"/>
              <a:gd name="connsiteY12" fmla="*/ 259692 h 505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5058957">
                <a:moveTo>
                  <a:pt x="0" y="0"/>
                </a:moveTo>
                <a:lnTo>
                  <a:pt x="12192000" y="0"/>
                </a:lnTo>
                <a:lnTo>
                  <a:pt x="12192000" y="259692"/>
                </a:lnTo>
                <a:lnTo>
                  <a:pt x="12192000" y="3542069"/>
                </a:lnTo>
                <a:lnTo>
                  <a:pt x="12192000" y="3734194"/>
                </a:lnTo>
                <a:lnTo>
                  <a:pt x="12192000" y="4710012"/>
                </a:lnTo>
                <a:lnTo>
                  <a:pt x="12113803" y="4718295"/>
                </a:lnTo>
                <a:cubicBezTo>
                  <a:pt x="10139508" y="4916244"/>
                  <a:pt x="8237152" y="5009247"/>
                  <a:pt x="6753597" y="5041852"/>
                </a:cubicBezTo>
                <a:cubicBezTo>
                  <a:pt x="4940362" y="5081701"/>
                  <a:pt x="2657278" y="5062371"/>
                  <a:pt x="400746" y="4870509"/>
                </a:cubicBezTo>
                <a:lnTo>
                  <a:pt x="0" y="4833533"/>
                </a:lnTo>
                <a:lnTo>
                  <a:pt x="0" y="3734194"/>
                </a:lnTo>
                <a:lnTo>
                  <a:pt x="0" y="3542069"/>
                </a:lnTo>
                <a:lnTo>
                  <a:pt x="0" y="259692"/>
                </a:lnTo>
                <a:close/>
              </a:path>
            </a:pathLst>
          </a:custGeom>
          <a:solidFill>
            <a:schemeClr val="bg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FE8F905-8EB3-4B18-9C22-F583BAAC9431}"/>
              </a:ext>
            </a:extLst>
          </p:cNvPr>
          <p:cNvSpPr>
            <a:spLocks noGrp="1"/>
          </p:cNvSpPr>
          <p:nvPr>
            <p:ph type="title"/>
          </p:nvPr>
        </p:nvSpPr>
        <p:spPr>
          <a:xfrm>
            <a:off x="1755648" y="1289304"/>
            <a:ext cx="8677656" cy="3172968"/>
          </a:xfrm>
        </p:spPr>
        <p:txBody>
          <a:bodyPr vert="horz" lIns="91440" tIns="45720" rIns="91440" bIns="45720" rtlCol="0" anchor="ctr">
            <a:normAutofit/>
          </a:bodyPr>
          <a:lstStyle/>
          <a:p>
            <a:pPr algn="ctr"/>
            <a:r>
              <a:rPr lang="en-US" sz="6000" kern="1200">
                <a:solidFill>
                  <a:schemeClr val="tx1"/>
                </a:solidFill>
                <a:latin typeface="+mj-lt"/>
                <a:ea typeface="+mj-ea"/>
                <a:cs typeface="+mj-cs"/>
              </a:rPr>
              <a:t>The DOs and DONTs</a:t>
            </a:r>
          </a:p>
        </p:txBody>
      </p:sp>
    </p:spTree>
    <p:extLst>
      <p:ext uri="{BB962C8B-B14F-4D97-AF65-F5344CB8AC3E}">
        <p14:creationId xmlns:p14="http://schemas.microsoft.com/office/powerpoint/2010/main" val="3222298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1" descr="A picture containing text&#10;&#10;Description automatically generated">
            <a:extLst>
              <a:ext uri="{FF2B5EF4-FFF2-40B4-BE49-F238E27FC236}">
                <a16:creationId xmlns:a16="http://schemas.microsoft.com/office/drawing/2014/main" id="{81D2F755-EE8C-4A3C-AE26-F786F6F7FF79}"/>
              </a:ext>
            </a:extLst>
          </p:cNvPr>
          <p:cNvPicPr>
            <a:picLocks noChangeAspect="1"/>
          </p:cNvPicPr>
          <p:nvPr/>
        </p:nvPicPr>
        <p:blipFill rotWithShape="1">
          <a:blip r:embed="rId2">
            <a:alphaModFix amt="35000"/>
            <a:extLst>
              <a:ext uri="{837473B0-CC2E-450A-ABE3-18F120FF3D39}">
                <a1611:picAttrSrcUrl xmlns:a1611="http://schemas.microsoft.com/office/drawing/2016/11/main" r:id="rId3"/>
              </a:ext>
            </a:extLst>
          </a:blip>
          <a:srcRect t="3953" b="21047"/>
          <a:stretch/>
        </p:blipFill>
        <p:spPr>
          <a:xfrm>
            <a:off x="20" y="1"/>
            <a:ext cx="12191980" cy="6857999"/>
          </a:xfrm>
          <a:prstGeom prst="rect">
            <a:avLst/>
          </a:prstGeom>
        </p:spPr>
      </p:pic>
      <p:sp>
        <p:nvSpPr>
          <p:cNvPr id="2" name="Title 1">
            <a:extLst>
              <a:ext uri="{FF2B5EF4-FFF2-40B4-BE49-F238E27FC236}">
                <a16:creationId xmlns:a16="http://schemas.microsoft.com/office/drawing/2014/main" id="{DF868F98-EAB0-44F8-A04D-0DBCD3595C88}"/>
              </a:ext>
            </a:extLst>
          </p:cNvPr>
          <p:cNvSpPr>
            <a:spLocks noGrp="1"/>
          </p:cNvSpPr>
          <p:nvPr>
            <p:ph type="title"/>
          </p:nvPr>
        </p:nvSpPr>
        <p:spPr>
          <a:xfrm>
            <a:off x="18692" y="1065862"/>
            <a:ext cx="2637428" cy="4726276"/>
          </a:xfrm>
        </p:spPr>
        <p:txBody>
          <a:bodyPr>
            <a:normAutofit/>
          </a:bodyPr>
          <a:lstStyle/>
          <a:p>
            <a:pPr algn="r"/>
            <a:r>
              <a:rPr lang="en-GB" sz="4000">
                <a:solidFill>
                  <a:srgbClr val="FFFFFF"/>
                </a:solidFill>
                <a:latin typeface="Arial Black"/>
                <a:cs typeface="Calibri Light"/>
              </a:rPr>
              <a:t>The DOs</a:t>
            </a:r>
            <a:r>
              <a:rPr lang="en-GB" sz="4000">
                <a:solidFill>
                  <a:srgbClr val="FFFFFF"/>
                </a:solidFill>
                <a:cs typeface="Calibri Light"/>
              </a:rPr>
              <a:t> </a:t>
            </a:r>
            <a:endParaRPr lang="en-GB" sz="4000">
              <a:solidFill>
                <a:srgbClr val="FFFFFF"/>
              </a:solidFill>
            </a:endParaRPr>
          </a:p>
        </p:txBody>
      </p:sp>
      <p:cxnSp>
        <p:nvCxnSpPr>
          <p:cNvPr id="49" name="Straight Connector 48">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C49EF2-6601-4C3C-A1BB-2F7A052A3096}"/>
              </a:ext>
            </a:extLst>
          </p:cNvPr>
          <p:cNvSpPr>
            <a:spLocks noGrp="1"/>
          </p:cNvSpPr>
          <p:nvPr>
            <p:ph idx="1"/>
          </p:nvPr>
        </p:nvSpPr>
        <p:spPr>
          <a:xfrm>
            <a:off x="2668096" y="30692"/>
            <a:ext cx="9540307" cy="6724729"/>
          </a:xfrm>
        </p:spPr>
        <p:txBody>
          <a:bodyPr vert="horz" lIns="91440" tIns="45720" rIns="91440" bIns="45720" rtlCol="0" anchor="ctr">
            <a:noAutofit/>
          </a:bodyPr>
          <a:lstStyle/>
          <a:p>
            <a:pPr>
              <a:buFont typeface="Wingdings" panose="020B0604020202020204" pitchFamily="34" charset="0"/>
              <a:buChar char="Ø"/>
            </a:pPr>
            <a:r>
              <a:rPr lang="en-GB" sz="2400">
                <a:solidFill>
                  <a:srgbClr val="FFFFFF"/>
                </a:solidFill>
                <a:latin typeface="Times"/>
                <a:cs typeface="Calibri" panose="020F0502020204030204"/>
              </a:rPr>
              <a:t>Be vulnerable – Use more expressive adjectives and describe situations rather than naming them. A popular saying is bleeding your heart out on a paper to </a:t>
            </a:r>
          </a:p>
          <a:p>
            <a:pPr>
              <a:buFont typeface="Wingdings" panose="020B0604020202020204" pitchFamily="34" charset="0"/>
              <a:buChar char="Ø"/>
            </a:pPr>
            <a:r>
              <a:rPr lang="en-GB" sz="2400">
                <a:solidFill>
                  <a:srgbClr val="FFFFFF"/>
                </a:solidFill>
                <a:latin typeface="Times"/>
                <a:cs typeface="Calibri" panose="020F0502020204030204"/>
              </a:rPr>
              <a:t>Show don't tell – This ties back to the first statement about being vulnerable where you can't just tell an admissions officer "I'm curious", you should show them by describing situations that show your curiosity.</a:t>
            </a:r>
          </a:p>
          <a:p>
            <a:pPr>
              <a:buFont typeface="Wingdings" panose="020B0604020202020204" pitchFamily="34" charset="0"/>
              <a:buChar char="Ø"/>
            </a:pPr>
            <a:r>
              <a:rPr lang="en-GB" sz="2400">
                <a:solidFill>
                  <a:srgbClr val="FFFFFF"/>
                </a:solidFill>
                <a:latin typeface="Times"/>
                <a:cs typeface="Calibri" panose="020F0502020204030204"/>
              </a:rPr>
              <a:t>Write badly - Don't be afraid to have that first horrible draft. Every journey starts with that one step. Write that bad draft and work together with your mentor to make that draft good with time. Your first draft will never be perfect.</a:t>
            </a:r>
          </a:p>
          <a:p>
            <a:pPr>
              <a:buFont typeface="Wingdings" panose="020B0604020202020204" pitchFamily="34" charset="0"/>
              <a:buChar char="Ø"/>
            </a:pPr>
            <a:r>
              <a:rPr lang="en-GB" sz="2400">
                <a:solidFill>
                  <a:srgbClr val="FFFFFF"/>
                </a:solidFill>
                <a:latin typeface="Times"/>
                <a:cs typeface="Calibri" panose="020F0502020204030204"/>
              </a:rPr>
              <a:t>Share with your mentor and at most two close friends - Your mentor and friends will give you a perspective you had not thought of before and may be quick to catch any grammatical or structural errors in your essays.</a:t>
            </a:r>
          </a:p>
          <a:p>
            <a:pPr>
              <a:buFont typeface="Wingdings" panose="020B0604020202020204" pitchFamily="34" charset="0"/>
              <a:buChar char="Ø"/>
            </a:pPr>
            <a:r>
              <a:rPr lang="en-GB" sz="2400">
                <a:solidFill>
                  <a:srgbClr val="FFFFFF"/>
                </a:solidFill>
                <a:latin typeface="Times"/>
                <a:cs typeface="Calibri" panose="020F0502020204030204"/>
              </a:rPr>
              <a:t>Overwrite - Write as many words as you please in your first draft. You will eventually cut out parts that are unnecessary and substitute  longer sentences with shorter sentences, for example, "I would love to be a ..." could be replaced by "I anticipate being a ..."</a:t>
            </a:r>
          </a:p>
        </p:txBody>
      </p:sp>
      <p:sp>
        <p:nvSpPr>
          <p:cNvPr id="42" name="TextBox 41">
            <a:extLst>
              <a:ext uri="{FF2B5EF4-FFF2-40B4-BE49-F238E27FC236}">
                <a16:creationId xmlns:a16="http://schemas.microsoft.com/office/drawing/2014/main" id="{D925FBD5-A157-455D-9163-9C622C50BBA8}"/>
              </a:ext>
            </a:extLst>
          </p:cNvPr>
          <p:cNvSpPr txBox="1"/>
          <p:nvPr/>
        </p:nvSpPr>
        <p:spPr>
          <a:xfrm>
            <a:off x="9737482" y="6657945"/>
            <a:ext cx="245451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BY-SA-NC</a:t>
            </a:r>
            <a:r>
              <a:rPr lang="en-US" sz="700">
                <a:solidFill>
                  <a:srgbClr val="FFFFFF"/>
                </a:solidFill>
              </a:rPr>
              <a:t>.</a:t>
            </a:r>
          </a:p>
        </p:txBody>
      </p:sp>
    </p:spTree>
    <p:extLst>
      <p:ext uri="{BB962C8B-B14F-4D97-AF65-F5344CB8AC3E}">
        <p14:creationId xmlns:p14="http://schemas.microsoft.com/office/powerpoint/2010/main" val="351185715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picture containing text&#10;&#10;Description automatically generated">
            <a:extLst>
              <a:ext uri="{FF2B5EF4-FFF2-40B4-BE49-F238E27FC236}">
                <a16:creationId xmlns:a16="http://schemas.microsoft.com/office/drawing/2014/main" id="{0A0ABA86-DE74-4898-BD68-11878D18845D}"/>
              </a:ext>
            </a:extLst>
          </p:cNvPr>
          <p:cNvPicPr>
            <a:picLocks noChangeAspect="1"/>
          </p:cNvPicPr>
          <p:nvPr/>
        </p:nvPicPr>
        <p:blipFill rotWithShape="1">
          <a:blip r:embed="rId2">
            <a:alphaModFix amt="35000"/>
            <a:extLst>
              <a:ext uri="{837473B0-CC2E-450A-ABE3-18F120FF3D39}">
                <a1611:picAttrSrcUrl xmlns:a1611="http://schemas.microsoft.com/office/drawing/2016/11/main" r:id="rId3"/>
              </a:ext>
            </a:extLst>
          </a:blip>
          <a:srcRect t="3953" b="21047"/>
          <a:stretch/>
        </p:blipFill>
        <p:spPr>
          <a:xfrm>
            <a:off x="20" y="1"/>
            <a:ext cx="12191980" cy="6857999"/>
          </a:xfrm>
          <a:prstGeom prst="rect">
            <a:avLst/>
          </a:prstGeom>
        </p:spPr>
      </p:pic>
      <p:sp>
        <p:nvSpPr>
          <p:cNvPr id="2" name="Title 1">
            <a:extLst>
              <a:ext uri="{FF2B5EF4-FFF2-40B4-BE49-F238E27FC236}">
                <a16:creationId xmlns:a16="http://schemas.microsoft.com/office/drawing/2014/main" id="{88C17BBE-A101-4CAF-B491-9B2122AA7EE4}"/>
              </a:ext>
            </a:extLst>
          </p:cNvPr>
          <p:cNvSpPr>
            <a:spLocks noGrp="1"/>
          </p:cNvSpPr>
          <p:nvPr>
            <p:ph type="title"/>
          </p:nvPr>
        </p:nvSpPr>
        <p:spPr>
          <a:xfrm>
            <a:off x="838201" y="1065862"/>
            <a:ext cx="3313164" cy="4726276"/>
          </a:xfrm>
        </p:spPr>
        <p:txBody>
          <a:bodyPr>
            <a:normAutofit/>
          </a:bodyPr>
          <a:lstStyle/>
          <a:p>
            <a:pPr algn="r"/>
            <a:r>
              <a:rPr lang="en-GB" sz="4000">
                <a:solidFill>
                  <a:srgbClr val="FFFFFF"/>
                </a:solidFill>
                <a:latin typeface="Arial Black"/>
                <a:cs typeface="Calibri Light"/>
              </a:rPr>
              <a:t>The DONTs</a:t>
            </a:r>
            <a:endParaRPr lang="en-GB" sz="4000">
              <a:solidFill>
                <a:srgbClr val="FFFFFF"/>
              </a:solidFill>
              <a:latin typeface="Arial Black"/>
            </a:endParaRPr>
          </a:p>
        </p:txBody>
      </p:sp>
      <p:cxnSp>
        <p:nvCxnSpPr>
          <p:cNvPr id="19" name="Straight Connector 18">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A8EDB0-132C-45C8-9C81-57E2FFC679CC}"/>
              </a:ext>
            </a:extLst>
          </p:cNvPr>
          <p:cNvSpPr>
            <a:spLocks noGrp="1"/>
          </p:cNvSpPr>
          <p:nvPr>
            <p:ph idx="1"/>
          </p:nvPr>
        </p:nvSpPr>
        <p:spPr>
          <a:xfrm>
            <a:off x="4508398" y="1939"/>
            <a:ext cx="7685627" cy="6767859"/>
          </a:xfrm>
        </p:spPr>
        <p:txBody>
          <a:bodyPr vert="horz" lIns="91440" tIns="45720" rIns="91440" bIns="45720" rtlCol="0" anchor="ctr">
            <a:normAutofit/>
          </a:bodyPr>
          <a:lstStyle/>
          <a:p>
            <a:pPr marL="0" indent="0">
              <a:buNone/>
            </a:pPr>
            <a:r>
              <a:rPr lang="en-GB" sz="2400">
                <a:solidFill>
                  <a:srgbClr val="FFFFFF"/>
                </a:solidFill>
                <a:latin typeface="Times"/>
                <a:cs typeface="Calibri" panose="020F0502020204030204"/>
              </a:rPr>
              <a:t>A) Plagiarism</a:t>
            </a:r>
          </a:p>
          <a:p>
            <a:r>
              <a:rPr lang="en-GB" sz="2400">
                <a:solidFill>
                  <a:srgbClr val="FFFFFF"/>
                </a:solidFill>
                <a:latin typeface="Times"/>
                <a:cs typeface="Calibri" panose="020F0502020204030204"/>
              </a:rPr>
              <a:t>Types     </a:t>
            </a:r>
          </a:p>
          <a:p>
            <a:pPr marL="1428750" lvl="2" indent="-514350">
              <a:buAutoNum type="arabicPeriod"/>
            </a:pPr>
            <a:r>
              <a:rPr lang="en-GB" sz="2400">
                <a:solidFill>
                  <a:srgbClr val="FFFFFF"/>
                </a:solidFill>
                <a:latin typeface="Times"/>
                <a:cs typeface="Calibri" panose="020F0502020204030204"/>
              </a:rPr>
              <a:t>Direct plagiarism (copy and paste)            </a:t>
            </a:r>
          </a:p>
          <a:p>
            <a:pPr marL="1428750" lvl="2" indent="-514350">
              <a:buAutoNum type="arabicPeriod"/>
            </a:pPr>
            <a:r>
              <a:rPr lang="en-GB" sz="2400">
                <a:solidFill>
                  <a:srgbClr val="FFFFFF"/>
                </a:solidFill>
                <a:latin typeface="Times"/>
                <a:cs typeface="Calibri" panose="020F0502020204030204"/>
              </a:rPr>
              <a:t>Mosaic plagiarism (no quotation marks)</a:t>
            </a:r>
          </a:p>
          <a:p>
            <a:pPr marL="1428750" lvl="2" indent="-514350">
              <a:buAutoNum type="arabicPeriod"/>
            </a:pPr>
            <a:r>
              <a:rPr lang="en-GB" sz="2400">
                <a:solidFill>
                  <a:srgbClr val="FFFFFF"/>
                </a:solidFill>
                <a:latin typeface="Times"/>
                <a:cs typeface="Calibri" panose="020F0502020204030204"/>
              </a:rPr>
              <a:t>Self-plagiarism</a:t>
            </a:r>
          </a:p>
          <a:p>
            <a:pPr marL="1428750" lvl="2" indent="-514350">
              <a:buAutoNum type="arabicPeriod"/>
            </a:pPr>
            <a:r>
              <a:rPr lang="en-GB" sz="2400">
                <a:solidFill>
                  <a:srgbClr val="FFFFFF"/>
                </a:solidFill>
                <a:latin typeface="Times"/>
                <a:cs typeface="Calibri" panose="020F0502020204030204"/>
              </a:rPr>
              <a:t>Accidental plagiarism   </a:t>
            </a:r>
          </a:p>
          <a:p>
            <a:pPr marL="1428750" lvl="2" indent="-514350">
              <a:buAutoNum type="arabicPeriod"/>
            </a:pPr>
            <a:endParaRPr lang="en-GB" sz="2400">
              <a:solidFill>
                <a:srgbClr val="FFFFFF"/>
              </a:solidFill>
              <a:latin typeface="Times"/>
              <a:cs typeface="Calibri" panose="020F0502020204030204"/>
            </a:endParaRPr>
          </a:p>
          <a:p>
            <a:r>
              <a:rPr lang="en-GB" sz="2400">
                <a:solidFill>
                  <a:srgbClr val="FFFFFF"/>
                </a:solidFill>
                <a:latin typeface="Times"/>
                <a:cs typeface="Calibri" panose="020F0502020204030204"/>
              </a:rPr>
              <a:t>The repercussions are as severe as getting rejected, and the school contacting other schools to also reject your application.</a:t>
            </a:r>
          </a:p>
          <a:p>
            <a:pPr marL="0" indent="0">
              <a:buNone/>
            </a:pPr>
            <a:endParaRPr lang="en-GB" sz="2000">
              <a:solidFill>
                <a:srgbClr val="FFFFFF"/>
              </a:solidFill>
              <a:cs typeface="Calibri" panose="020F0502020204030204"/>
            </a:endParaRPr>
          </a:p>
        </p:txBody>
      </p:sp>
      <p:sp>
        <p:nvSpPr>
          <p:cNvPr id="5" name="TextBox 4">
            <a:extLst>
              <a:ext uri="{FF2B5EF4-FFF2-40B4-BE49-F238E27FC236}">
                <a16:creationId xmlns:a16="http://schemas.microsoft.com/office/drawing/2014/main" id="{EB42A8C5-A694-4941-8425-E185BCD15A21}"/>
              </a:ext>
            </a:extLst>
          </p:cNvPr>
          <p:cNvSpPr txBox="1"/>
          <p:nvPr/>
        </p:nvSpPr>
        <p:spPr>
          <a:xfrm>
            <a:off x="9737482" y="6657945"/>
            <a:ext cx="245451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BY-SA-NC</a:t>
            </a:r>
            <a:r>
              <a:rPr lang="en-US" sz="700">
                <a:solidFill>
                  <a:srgbClr val="FFFFFF"/>
                </a:solidFill>
              </a:rPr>
              <a:t>.</a:t>
            </a:r>
          </a:p>
        </p:txBody>
      </p:sp>
    </p:spTree>
    <p:extLst>
      <p:ext uri="{BB962C8B-B14F-4D97-AF65-F5344CB8AC3E}">
        <p14:creationId xmlns:p14="http://schemas.microsoft.com/office/powerpoint/2010/main" val="148323645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101F9E-D4ED-4BAB-805B-3547E47DA563}"/>
              </a:ext>
            </a:extLst>
          </p:cNvPr>
          <p:cNvSpPr>
            <a:spLocks noGrp="1"/>
          </p:cNvSpPr>
          <p:nvPr>
            <p:ph idx="1"/>
          </p:nvPr>
        </p:nvSpPr>
        <p:spPr>
          <a:xfrm>
            <a:off x="1285240" y="749159"/>
            <a:ext cx="8074815" cy="5020705"/>
          </a:xfrm>
        </p:spPr>
        <p:txBody>
          <a:bodyPr vert="horz" lIns="91440" tIns="45720" rIns="91440" bIns="45720" rtlCol="0" anchor="t">
            <a:normAutofit/>
          </a:bodyPr>
          <a:lstStyle/>
          <a:p>
            <a:pPr marL="0" indent="0">
              <a:buNone/>
            </a:pPr>
            <a:r>
              <a:rPr lang="en-GB">
                <a:latin typeface="Times"/>
                <a:cs typeface="Calibri" panose="020F0502020204030204"/>
              </a:rPr>
              <a:t>B) Repetition</a:t>
            </a:r>
            <a:endParaRPr lang="en-GB" dirty="0">
              <a:latin typeface="Times"/>
              <a:cs typeface="Calibri" panose="020F0502020204030204"/>
            </a:endParaRPr>
          </a:p>
          <a:p>
            <a:pPr lvl="1"/>
            <a:r>
              <a:rPr lang="en-GB" sz="2800">
                <a:latin typeface="Times"/>
                <a:cs typeface="Calibri" panose="020F0502020204030204"/>
              </a:rPr>
              <a:t>It shows lack of creativity</a:t>
            </a:r>
            <a:endParaRPr lang="en-GB" sz="2800" dirty="0">
              <a:latin typeface="Times"/>
              <a:cs typeface="Calibri" panose="020F0502020204030204"/>
            </a:endParaRPr>
          </a:p>
          <a:p>
            <a:pPr lvl="1"/>
            <a:r>
              <a:rPr lang="en-GB" sz="2800">
                <a:latin typeface="Times"/>
                <a:cs typeface="Calibri" panose="020F0502020204030204"/>
              </a:rPr>
              <a:t>Use the correct synonyms eg prevent a situation from accelerating</a:t>
            </a:r>
            <a:endParaRPr lang="en-GB" sz="2800" dirty="0">
              <a:latin typeface="Times"/>
              <a:cs typeface="Calibri" panose="020F0502020204030204"/>
            </a:endParaRPr>
          </a:p>
          <a:p>
            <a:pPr marL="457200" lvl="1" indent="0">
              <a:buNone/>
            </a:pPr>
            <a:endParaRPr lang="en-GB" sz="2800" dirty="0">
              <a:latin typeface="Times"/>
              <a:cs typeface="Calibri" panose="020F0502020204030204"/>
            </a:endParaRPr>
          </a:p>
          <a:p>
            <a:pPr marL="0" indent="0">
              <a:buNone/>
            </a:pPr>
            <a:r>
              <a:rPr lang="en-GB">
                <a:latin typeface="Times"/>
                <a:cs typeface="Calibri" panose="020F0502020204030204"/>
              </a:rPr>
              <a:t>C) Cliché</a:t>
            </a:r>
            <a:endParaRPr lang="en-GB" dirty="0">
              <a:latin typeface="Times"/>
              <a:cs typeface="Calibri" panose="020F0502020204030204"/>
            </a:endParaRPr>
          </a:p>
          <a:p>
            <a:pPr marL="914400" lvl="1" indent="-457200"/>
            <a:r>
              <a:rPr lang="en-GB" sz="2800">
                <a:latin typeface="Times"/>
                <a:cs typeface="Calibri" panose="020F0502020204030204"/>
              </a:rPr>
              <a:t>Starting with quotes</a:t>
            </a:r>
            <a:endParaRPr lang="en-GB" sz="2800" dirty="0">
              <a:latin typeface="Times"/>
              <a:cs typeface="Calibri" panose="020F0502020204030204"/>
            </a:endParaRPr>
          </a:p>
          <a:p>
            <a:pPr marL="914400" lvl="1" indent="-457200"/>
            <a:r>
              <a:rPr lang="en-GB" sz="2800">
                <a:latin typeface="Times"/>
                <a:cs typeface="Calibri" panose="020F0502020204030204"/>
              </a:rPr>
              <a:t>Research on school specific cliches to avoid</a:t>
            </a:r>
            <a:endParaRPr lang="en-GB" sz="2800" dirty="0">
              <a:latin typeface="Times"/>
              <a:cs typeface="Calibri" panose="020F0502020204030204"/>
            </a:endParaRPr>
          </a:p>
          <a:p>
            <a:pPr lvl="1"/>
            <a:endParaRPr lang="en-GB" sz="2800" dirty="0">
              <a:latin typeface="Times"/>
              <a:cs typeface="Calibri" panose="020F0502020204030204"/>
            </a:endParaRPr>
          </a:p>
          <a:p>
            <a:pPr marL="0" indent="0">
              <a:buNone/>
            </a:pPr>
            <a:r>
              <a:rPr lang="en-GB">
                <a:latin typeface="Times"/>
                <a:cs typeface="Calibri" panose="020F0502020204030204"/>
              </a:rPr>
              <a:t>D)Deviate</a:t>
            </a:r>
            <a:endParaRPr lang="en-GB" dirty="0">
              <a:latin typeface="Times"/>
              <a:cs typeface="Calibri"/>
            </a:endParaRPr>
          </a:p>
          <a:p>
            <a:pPr marL="971550" lvl="1"/>
            <a:r>
              <a:rPr lang="en-GB" sz="2800">
                <a:latin typeface="Times"/>
                <a:cs typeface="Calibri" panose="020F0502020204030204"/>
              </a:rPr>
              <a:t>Don’t give a different topic too much attention</a:t>
            </a:r>
            <a:endParaRPr lang="en-GB" sz="2800" dirty="0">
              <a:latin typeface="Times"/>
              <a:cs typeface="Calibri" panose="020F0502020204030204"/>
            </a:endParaRPr>
          </a:p>
        </p:txBody>
      </p:sp>
    </p:spTree>
    <p:extLst>
      <p:ext uri="{BB962C8B-B14F-4D97-AF65-F5344CB8AC3E}">
        <p14:creationId xmlns:p14="http://schemas.microsoft.com/office/powerpoint/2010/main" val="4022638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BA36680-0803-4EB1-B4FC-4858BB2049C6}"/>
              </a:ext>
            </a:extLst>
          </p:cNvPr>
          <p:cNvSpPr>
            <a:spLocks noGrp="1"/>
          </p:cNvSpPr>
          <p:nvPr>
            <p:ph idx="1"/>
          </p:nvPr>
        </p:nvSpPr>
        <p:spPr>
          <a:xfrm>
            <a:off x="1285240" y="709745"/>
            <a:ext cx="8074815" cy="5060119"/>
          </a:xfrm>
        </p:spPr>
        <p:txBody>
          <a:bodyPr vert="horz" lIns="91440" tIns="45720" rIns="91440" bIns="45720" rtlCol="0" anchor="t">
            <a:normAutofit/>
          </a:bodyPr>
          <a:lstStyle/>
          <a:p>
            <a:pPr marL="0" indent="0">
              <a:buNone/>
            </a:pPr>
            <a:r>
              <a:rPr lang="en-GB">
                <a:latin typeface="Times"/>
                <a:cs typeface="Calibri"/>
              </a:rPr>
              <a:t>E) Unexplained Abbreviations</a:t>
            </a:r>
          </a:p>
          <a:p>
            <a:pPr lvl="1"/>
            <a:r>
              <a:rPr lang="en-GB" sz="2800">
                <a:latin typeface="Times"/>
                <a:ea typeface="+mn-lt"/>
                <a:cs typeface="+mn-lt"/>
              </a:rPr>
              <a:t>Do not assume the admission officer know what KCSE means or any local abbreviation.</a:t>
            </a:r>
            <a:endParaRPr lang="en-US" sz="2800">
              <a:latin typeface="Times"/>
              <a:ea typeface="+mn-lt"/>
              <a:cs typeface="+mn-lt"/>
            </a:endParaRPr>
          </a:p>
          <a:p>
            <a:pPr lvl="1"/>
            <a:endParaRPr lang="en-GB" sz="2800" dirty="0">
              <a:latin typeface="Times"/>
              <a:ea typeface="+mn-lt"/>
              <a:cs typeface="+mn-lt"/>
            </a:endParaRPr>
          </a:p>
          <a:p>
            <a:pPr marL="0" indent="0">
              <a:buNone/>
            </a:pPr>
            <a:r>
              <a:rPr lang="en-GB">
                <a:latin typeface="Times"/>
                <a:cs typeface="Calibri"/>
              </a:rPr>
              <a:t>F) Unexplained Statistics</a:t>
            </a:r>
          </a:p>
          <a:p>
            <a:pPr lvl="1"/>
            <a:r>
              <a:rPr lang="en-GB" sz="2800">
                <a:latin typeface="Times"/>
                <a:cs typeface="Calibri"/>
              </a:rPr>
              <a:t>Do not assume or make up any statistics</a:t>
            </a:r>
          </a:p>
          <a:p>
            <a:pPr lvl="1"/>
            <a:r>
              <a:rPr lang="en-GB" sz="2800">
                <a:latin typeface="Times"/>
                <a:cs typeface="Calibri"/>
              </a:rPr>
              <a:t>Do not use statistics from unreliable source (wikipedia).</a:t>
            </a:r>
          </a:p>
          <a:p>
            <a:pPr lvl="1"/>
            <a:r>
              <a:rPr lang="en-GB" sz="2800">
                <a:latin typeface="Times"/>
                <a:cs typeface="Calibri"/>
              </a:rPr>
              <a:t>Do extensive research</a:t>
            </a:r>
          </a:p>
          <a:p>
            <a:endParaRPr lang="en-GB" sz="2000">
              <a:cs typeface="Calibri"/>
            </a:endParaRPr>
          </a:p>
          <a:p>
            <a:pPr marL="0" indent="0">
              <a:buNone/>
            </a:pPr>
            <a:endParaRPr lang="en-GB" sz="2000">
              <a:cs typeface="Calibri"/>
            </a:endParaRPr>
          </a:p>
        </p:txBody>
      </p:sp>
    </p:spTree>
    <p:extLst>
      <p:ext uri="{BB962C8B-B14F-4D97-AF65-F5344CB8AC3E}">
        <p14:creationId xmlns:p14="http://schemas.microsoft.com/office/powerpoint/2010/main" val="3522931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474090D-CD95-4B41-BE3D-6596953D3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4662" y="323519"/>
            <a:ext cx="4323899" cy="6212748"/>
          </a:xfrm>
          <a:custGeom>
            <a:avLst/>
            <a:gdLst>
              <a:gd name="connsiteX0" fmla="*/ 0 w 4323899"/>
              <a:gd name="connsiteY0" fmla="*/ 0 h 6212748"/>
              <a:gd name="connsiteX1" fmla="*/ 742501 w 4323899"/>
              <a:gd name="connsiteY1" fmla="*/ 0 h 6212748"/>
              <a:gd name="connsiteX2" fmla="*/ 4323899 w 4323899"/>
              <a:gd name="connsiteY2" fmla="*/ 0 h 6212748"/>
              <a:gd name="connsiteX3" fmla="*/ 4323899 w 4323899"/>
              <a:gd name="connsiteY3" fmla="*/ 2864954 h 6212748"/>
              <a:gd name="connsiteX4" fmla="*/ 880454 w 4323899"/>
              <a:gd name="connsiteY4" fmla="*/ 6212748 h 6212748"/>
              <a:gd name="connsiteX5" fmla="*/ 0 w 4323899"/>
              <a:gd name="connsiteY5" fmla="*/ 6212748 h 6212748"/>
              <a:gd name="connsiteX6" fmla="*/ 0 w 4323899"/>
              <a:gd name="connsiteY6" fmla="*/ 6210962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3899" h="6212748">
                <a:moveTo>
                  <a:pt x="0" y="0"/>
                </a:moveTo>
                <a:lnTo>
                  <a:pt x="742501" y="0"/>
                </a:lnTo>
                <a:lnTo>
                  <a:pt x="4323899" y="0"/>
                </a:lnTo>
                <a:lnTo>
                  <a:pt x="4323899" y="2864954"/>
                </a:lnTo>
                <a:lnTo>
                  <a:pt x="880454" y="6212748"/>
                </a:lnTo>
                <a:lnTo>
                  <a:pt x="0" y="6212748"/>
                </a:lnTo>
                <a:lnTo>
                  <a:pt x="0" y="6210962"/>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8F3E811-B104-4DFF-951A-008C860FF1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AE530D5-75EF-4355-8AFC-21CB0D42858F}"/>
              </a:ext>
            </a:extLst>
          </p:cNvPr>
          <p:cNvSpPr>
            <a:spLocks noGrp="1"/>
          </p:cNvSpPr>
          <p:nvPr>
            <p:ph idx="1"/>
          </p:nvPr>
        </p:nvSpPr>
        <p:spPr>
          <a:xfrm>
            <a:off x="645545" y="609717"/>
            <a:ext cx="6885948" cy="5480503"/>
          </a:xfrm>
        </p:spPr>
        <p:txBody>
          <a:bodyPr vert="horz" lIns="91440" tIns="45720" rIns="91440" bIns="45720" rtlCol="0" anchor="ctr">
            <a:normAutofit/>
          </a:bodyPr>
          <a:lstStyle/>
          <a:p>
            <a:pPr marL="0" indent="0">
              <a:buNone/>
            </a:pPr>
            <a:r>
              <a:rPr lang="en-GB">
                <a:latin typeface="Times"/>
                <a:cs typeface="Calibri" panose="020F0502020204030204"/>
              </a:rPr>
              <a:t>G) Name dropping</a:t>
            </a:r>
            <a:endParaRPr lang="en-GB" dirty="0">
              <a:latin typeface="Times"/>
              <a:cs typeface="Calibri" panose="020F0502020204030204"/>
            </a:endParaRPr>
          </a:p>
          <a:p>
            <a:pPr lvl="1"/>
            <a:r>
              <a:rPr lang="en-GB" sz="2800">
                <a:latin typeface="Times"/>
                <a:cs typeface="Calibri" panose="020F0502020204030204"/>
              </a:rPr>
              <a:t>Don’t shift the attention from you.</a:t>
            </a:r>
            <a:endParaRPr lang="en-GB" sz="2800" dirty="0">
              <a:latin typeface="Times"/>
              <a:cs typeface="Calibri" panose="020F0502020204030204"/>
            </a:endParaRPr>
          </a:p>
          <a:p>
            <a:pPr marL="0" indent="0">
              <a:buNone/>
            </a:pPr>
            <a:endParaRPr lang="en-GB" dirty="0">
              <a:latin typeface="Times"/>
              <a:cs typeface="Calibri" panose="020F0502020204030204"/>
            </a:endParaRPr>
          </a:p>
          <a:p>
            <a:pPr marL="0" indent="0">
              <a:buNone/>
            </a:pPr>
            <a:r>
              <a:rPr lang="en-GB">
                <a:latin typeface="Times"/>
                <a:cs typeface="Calibri" panose="020F0502020204030204"/>
              </a:rPr>
              <a:t>H) controversy</a:t>
            </a:r>
            <a:endParaRPr lang="en-GB" dirty="0">
              <a:latin typeface="Times"/>
              <a:cs typeface="Calibri" panose="020F0502020204030204"/>
            </a:endParaRPr>
          </a:p>
          <a:p>
            <a:pPr lvl="1"/>
            <a:r>
              <a:rPr lang="en-GB" sz="2800">
                <a:latin typeface="Times"/>
                <a:cs typeface="Calibri" panose="020F0502020204030204"/>
              </a:rPr>
              <a:t>Avoid making a stance on sensitive topics</a:t>
            </a:r>
            <a:endParaRPr lang="en-GB" sz="2800" dirty="0">
              <a:latin typeface="Times"/>
              <a:cs typeface="Calibri" panose="020F0502020204030204"/>
            </a:endParaRPr>
          </a:p>
          <a:p>
            <a:pPr lvl="1"/>
            <a:r>
              <a:rPr lang="en-GB" sz="2800">
                <a:latin typeface="Times"/>
                <a:cs typeface="Calibri" panose="020F0502020204030204"/>
              </a:rPr>
              <a:t>Avoid using any use of slur</a:t>
            </a:r>
            <a:endParaRPr lang="en-GB" sz="2800" dirty="0">
              <a:latin typeface="Times"/>
              <a:cs typeface="Calibri" panose="020F0502020204030204"/>
            </a:endParaRPr>
          </a:p>
          <a:p>
            <a:pPr marL="0" indent="0">
              <a:buNone/>
            </a:pPr>
            <a:endParaRPr lang="en-GB" dirty="0">
              <a:latin typeface="Times"/>
              <a:cs typeface="Calibri" panose="020F0502020204030204"/>
            </a:endParaRPr>
          </a:p>
          <a:p>
            <a:pPr marL="0" indent="0">
              <a:buNone/>
            </a:pPr>
            <a:r>
              <a:rPr lang="en-GB">
                <a:latin typeface="Times"/>
                <a:cs typeface="Calibri" panose="020F0502020204030204"/>
              </a:rPr>
              <a:t>I) Do not panic!!</a:t>
            </a:r>
            <a:endParaRPr lang="en-GB" dirty="0">
              <a:latin typeface="Times"/>
              <a:cs typeface="Calibri" panose="020F0502020204030204"/>
            </a:endParaRPr>
          </a:p>
        </p:txBody>
      </p:sp>
    </p:spTree>
    <p:extLst>
      <p:ext uri="{BB962C8B-B14F-4D97-AF65-F5344CB8AC3E}">
        <p14:creationId xmlns:p14="http://schemas.microsoft.com/office/powerpoint/2010/main" val="4243111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934AA-0D09-4A0C-91C3-62F8251377E0}"/>
              </a:ext>
            </a:extLst>
          </p:cNvPr>
          <p:cNvSpPr>
            <a:spLocks noGrp="1"/>
          </p:cNvSpPr>
          <p:nvPr>
            <p:ph type="title"/>
          </p:nvPr>
        </p:nvSpPr>
        <p:spPr>
          <a:xfrm>
            <a:off x="481013" y="3752849"/>
            <a:ext cx="3290887" cy="2452687"/>
          </a:xfrm>
        </p:spPr>
        <p:txBody>
          <a:bodyPr anchor="ctr">
            <a:normAutofit/>
          </a:bodyPr>
          <a:lstStyle/>
          <a:p>
            <a:r>
              <a:rPr lang="en-US" sz="3300">
                <a:latin typeface="Arial Black"/>
              </a:rPr>
              <a:t>Continuation</a:t>
            </a:r>
            <a:endParaRPr lang="en-US" sz="3300"/>
          </a:p>
        </p:txBody>
      </p:sp>
      <p:pic>
        <p:nvPicPr>
          <p:cNvPr id="4" name="Picture 4" descr="Royalty-Free photo: Failure and success text showing in ...">
            <a:extLst>
              <a:ext uri="{FF2B5EF4-FFF2-40B4-BE49-F238E27FC236}">
                <a16:creationId xmlns:a16="http://schemas.microsoft.com/office/drawing/2014/main" id="{4AD82FAB-4B6A-4A3B-9353-47E5764C5BF6}"/>
              </a:ext>
            </a:extLst>
          </p:cNvPr>
          <p:cNvPicPr>
            <a:picLocks noChangeAspect="1"/>
          </p:cNvPicPr>
          <p:nvPr/>
        </p:nvPicPr>
        <p:blipFill rotWithShape="1">
          <a:blip r:embed="rId2"/>
          <a:srcRect t="19813" b="22216"/>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4E8D2BC1-D9FE-44FD-92B4-48700841D9E0}"/>
              </a:ext>
            </a:extLst>
          </p:cNvPr>
          <p:cNvSpPr>
            <a:spLocks noGrp="1"/>
          </p:cNvSpPr>
          <p:nvPr>
            <p:ph idx="1"/>
          </p:nvPr>
        </p:nvSpPr>
        <p:spPr>
          <a:xfrm>
            <a:off x="3778284" y="3522813"/>
            <a:ext cx="8434318" cy="3315327"/>
          </a:xfrm>
        </p:spPr>
        <p:txBody>
          <a:bodyPr vert="horz" lIns="91440" tIns="45720" rIns="91440" bIns="45720" rtlCol="0" anchor="ctr">
            <a:normAutofit/>
          </a:bodyPr>
          <a:lstStyle/>
          <a:p>
            <a:pPr>
              <a:buFont typeface="Wingdings" panose="020B0604020202020204" pitchFamily="34" charset="0"/>
              <a:buChar char="Ø"/>
            </a:pPr>
            <a:r>
              <a:rPr lang="en-US">
                <a:latin typeface="Times"/>
                <a:cs typeface="Calibri" panose="020F0502020204030204"/>
              </a:rPr>
              <a:t>We will now go through the examples of successful essays not read yesterday, and more, and analyze them</a:t>
            </a:r>
            <a:r>
              <a:rPr lang="en-US" sz="1800">
                <a:latin typeface="Times"/>
                <a:cs typeface="Calibri" panose="020F0502020204030204"/>
              </a:rPr>
              <a:t>.</a:t>
            </a:r>
            <a:endParaRPr lang="en-US" sz="1800">
              <a:cs typeface="Calibri" panose="020F0502020204030204"/>
            </a:endParaRPr>
          </a:p>
        </p:txBody>
      </p:sp>
    </p:spTree>
    <p:extLst>
      <p:ext uri="{BB962C8B-B14F-4D97-AF65-F5344CB8AC3E}">
        <p14:creationId xmlns:p14="http://schemas.microsoft.com/office/powerpoint/2010/main" val="1469680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D14E9-54DE-4D30-8420-8C0A6163B1B8}"/>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4600"/>
              <a:t>       QUESTIONS</a:t>
            </a:r>
          </a:p>
        </p:txBody>
      </p:sp>
      <p:sp>
        <p:nvSpPr>
          <p:cNvPr id="8" name="Freeform: Shape 7">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Question mark on green pastel background">
            <a:extLst>
              <a:ext uri="{FF2B5EF4-FFF2-40B4-BE49-F238E27FC236}">
                <a16:creationId xmlns:a16="http://schemas.microsoft.com/office/drawing/2014/main" id="{4613EF92-0BD1-49CF-A7E5-DFD3C360E984}"/>
              </a:ext>
            </a:extLst>
          </p:cNvPr>
          <p:cNvPicPr>
            <a:picLocks noChangeAspect="1"/>
          </p:cNvPicPr>
          <p:nvPr/>
        </p:nvPicPr>
        <p:blipFill rotWithShape="1">
          <a:blip r:embed="rId2"/>
          <a:srcRect l="23134" r="4" b="4"/>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87595163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The Personal Statement Part 2</vt:lpstr>
      <vt:lpstr>     Introduction</vt:lpstr>
      <vt:lpstr>The DOs and DONTs</vt:lpstr>
      <vt:lpstr>The DOs </vt:lpstr>
      <vt:lpstr>The DONTs</vt:lpstr>
      <vt:lpstr>PowerPoint Presentation</vt:lpstr>
      <vt:lpstr>PowerPoint Presentation</vt:lpstr>
      <vt:lpstr>PowerPoint Presentation</vt:lpstr>
      <vt:lpstr>Continuation</vt:lpstr>
      <vt:lpstr>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426</cp:revision>
  <dcterms:created xsi:type="dcterms:W3CDTF">2021-07-13T17:29:49Z</dcterms:created>
  <dcterms:modified xsi:type="dcterms:W3CDTF">2021-07-13T21:58:34Z</dcterms:modified>
</cp:coreProperties>
</file>