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1" r:id="rId27"/>
    <p:sldId id="278" r:id="rId28"/>
    <p:sldId id="279" r:id="rId29"/>
    <p:sldId id="280" r:id="rId30"/>
  </p:sldIdLst>
  <p:sldSz cx="9144000" cy="5143500" type="screen16x9"/>
  <p:notesSz cx="7772400" cy="100584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23ED4-359A-4A80-AC74-8309D797501F}" v="11" dt="2023-05-15T12:48:3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93F240-8BF5-4B19-AF96-0D5241F35F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EEF4915-B36B-43B3-BA3D-6B20D18B9437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41A8FF1-8477-482E-9D96-685E70B588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DEDBD1-760D-4663-8DAE-1821CFA1D22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3A7AE6-4E4B-47F6-83A1-9D240360C16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02D1B2-F236-4573-BE20-BFE053965D5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3833A7-C8A8-48CB-B843-0E8F30A4568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A267B4-224A-443F-BDCC-B8FE0559061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4812BFD-2149-414E-A92D-A5DB7675060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64A7F93-7682-470B-9525-4183640F9C7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2025C3-33CE-4700-8A6A-CE6E8EB7B9E5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353E30A-37F1-40FB-B91E-2074041A64A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172F9F-49F1-4699-B3E0-5AE0161C083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D5BFA9-92CF-49E2-BBBE-1AB80B7546E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BA9F63B-AA71-4EB2-94AC-92D84A74586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A94A1B4-65D1-4A48-BA1B-F2BB1CD78D5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AE61011-0B36-417B-8313-3C41DD3FEE8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E24579E-D032-4417-8F30-6BBD2CD1A7F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94C888-071D-4557-877B-ECB216EEE9C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BF76389-D7CE-442D-B302-27B0C1C52ED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EFD28C9-4C90-4845-8097-A6805A3AE0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5D53CE2-A6A0-4F06-BCB2-8C72DCD4802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C63A79-2FDA-4EBC-8522-08DFD2C3618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A0021C-CA4A-4DE4-A81F-8AE17F2A353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A3B222A-26F6-492A-BF3E-C97F1C5705F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F65836C-8AF6-48FE-8D0F-1B610B25C8A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0BF7C33-6E2A-4A1A-850C-4F909B68D1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0DC2426-AA44-4511-A5D3-B3365D9B01C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66F1F71-7C11-4137-B684-45DF993E98A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4396809-EA40-4EE2-B7F3-C71C72A8112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E71285D-3073-42F9-AC0F-FFC90848AB3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F9AE0E1-E08B-469A-A98D-AAD273E4666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7CDD796-EF92-4D04-9E35-C7F814A4EF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02F5E0A-4C39-46A1-B127-A9D548FFF4F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9CFF620-281B-4A66-BDB3-284B7770ADB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B01A38A-4224-44B4-91F0-0678176A013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0878BC-9FD1-4CB1-A5B7-30C00753847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23BE3-34F4-4390-A7BB-A9B2FA11E8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345EE84-4131-4BC6-93D9-A4F6A5DE6A0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16DE2B1-D091-4C7D-9DA8-5A0F9CA2DB0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51B20C8-1254-4475-899D-C85C35093CF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FCAB939-C1E8-4339-BCBD-A534FAAE3DE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4FB82B1-7876-46CC-B023-C304DC8DC1F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41DC7B9-AC21-468F-ABCA-C9977C5481A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4F737B-81B4-4691-B471-641FBADDC2A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577C2E-BD7E-4DA7-A94B-F7B6BF45539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F8E0EE-D276-49A9-AAC6-03E77DD97C0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F8BD9E7-B507-4104-8457-9BC81626F5F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517480" y="1918080"/>
            <a:ext cx="4108320" cy="9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BEBD47-987B-4B5F-A90E-B24CE29FFEE3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30560" y="573120"/>
            <a:ext cx="468216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8680" y="1308960"/>
            <a:ext cx="8126640" cy="30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53AD21-6458-4A0D-8ADE-952883B2E294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bg object 17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bg object 18"/>
          <p:cNvPicPr/>
          <p:nvPr/>
        </p:nvPicPr>
        <p:blipFill>
          <a:blip r:embed="rId14"/>
          <a:stretch/>
        </p:blipFill>
        <p:spPr>
          <a:xfrm>
            <a:off x="961200" y="1313280"/>
            <a:ext cx="7381440" cy="369432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30560" y="573120"/>
            <a:ext cx="468216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51E181-CB02-4AC2-90DC-DE8103B016D5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32" name="PlaceHolder 3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CC69DA-BBDE-4831-AB12-8B3B9D321E26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YeKonsNxyw0oLEO7YTn5yVqmVtR0IRBS/view?usp=sharing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hyperlink" Target="https://drive.google.com/file/d/1FKrcaZH4hcGpZKLq-paEzRozlX_8-78F/view?usp=shari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static1.squarespace.com/static/527cc9ffe4b06105448def23/t/60888efd9cba7a144ac17721/1619562248094/Handout%2B-%2BFree%2BGuide%2Bto%2Bthe%2BPersonal%2BStatement.pdf" TargetMode="External"/><Relationship Id="rId3" Type="http://schemas.openxmlformats.org/officeDocument/2006/relationships/hyperlink" Target="https://drive.google.com/file/d/1FN3VIoYvUi-40CEx5EKBiKcHRQKJO98y/view?usp=sharing" TargetMode="External"/><Relationship Id="rId7" Type="http://schemas.openxmlformats.org/officeDocument/2006/relationships/hyperlink" Target="https://drive.google.com/file/d/1N9hdxGuu9J4dSrKTN6OhQPt0o6eM_9NX/view?usp=sharing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rive.google.com/file/d/1N41AqsnTn-pZBa9nEO4pVNKRYNDzgUGl/view?usp=sharing" TargetMode="External"/><Relationship Id="rId5" Type="http://schemas.openxmlformats.org/officeDocument/2006/relationships/hyperlink" Target="https://www.collegeessayguy.com/blog/personal-statement" TargetMode="External"/><Relationship Id="rId4" Type="http://schemas.openxmlformats.org/officeDocument/2006/relationships/hyperlink" Target="https://drive.google.com/file/d/1-sAk4TPGbROeBTVFdjpdwnnMJ7sXVe4c/view?usp=sharing" TargetMode="External"/><Relationship Id="rId9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sterclass.com/articles/writing-101-what-is-a-cliche-learn-when-to-use-cliches-in-writing-and-20-common-cliches-all-writers-should-avoid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ubqWKkwW1w&amp;list=PLb4nf3EZb-Hqn0HRMPjyP4DJUT85YdO-i&amp;pp=iAQB" TargetMode="External"/><Relationship Id="rId2" Type="http://schemas.openxmlformats.org/officeDocument/2006/relationships/hyperlink" Target="https://www.collegeessayguy.com/personal-statement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princetonreview.com/college-admissions/college-counseling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object 2"/>
          <p:cNvSpPr/>
          <p:nvPr/>
        </p:nvSpPr>
        <p:spPr>
          <a:xfrm>
            <a:off x="1524960" y="672480"/>
            <a:ext cx="1081800" cy="1125000"/>
          </a:xfrm>
          <a:custGeom>
            <a:avLst/>
            <a:gdLst>
              <a:gd name="textAreaLeft" fmla="*/ 0 w 1081800"/>
              <a:gd name="textAreaRight" fmla="*/ 1082160 w 1081800"/>
              <a:gd name="textAreaTop" fmla="*/ 0 h 1125000"/>
              <a:gd name="textAreaBottom" fmla="*/ 1125360 h 1125000"/>
            </a:gdLst>
            <a:ahLst/>
            <a:cxnLst/>
            <a:rect l="textAreaLeft" t="textAreaTop" r="textAreaRight" b="textAreaBottom"/>
            <a:pathLst>
              <a:path w="1082039" h="1125220">
                <a:moveTo>
                  <a:pt x="0" y="1124950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noFill/>
          <a:ln w="28574">
            <a:solidFill>
              <a:srgbClr val="8BC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3"/>
          <p:cNvSpPr/>
          <p:nvPr/>
        </p:nvSpPr>
        <p:spPr>
          <a:xfrm>
            <a:off x="6537600" y="3342960"/>
            <a:ext cx="1081800" cy="1125000"/>
          </a:xfrm>
          <a:custGeom>
            <a:avLst/>
            <a:gdLst>
              <a:gd name="textAreaLeft" fmla="*/ 0 w 1081800"/>
              <a:gd name="textAreaRight" fmla="*/ 1082160 w 1081800"/>
              <a:gd name="textAreaTop" fmla="*/ 0 h 1125000"/>
              <a:gd name="textAreaBottom" fmla="*/ 1125360 h 1125000"/>
            </a:gdLst>
            <a:ahLst/>
            <a:cxnLst/>
            <a:rect l="textAreaLeft" t="textAreaTop" r="textAreaRight" b="textAreaBottom"/>
            <a:pathLst>
              <a:path w="1082040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noFill/>
          <a:ln w="28574">
            <a:solidFill>
              <a:srgbClr val="8BC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bject 4"/>
          <p:cNvSpPr/>
          <p:nvPr/>
        </p:nvSpPr>
        <p:spPr>
          <a:xfrm>
            <a:off x="4359600" y="2817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4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bject 5"/>
          <p:cNvSpPr/>
          <p:nvPr/>
        </p:nvSpPr>
        <p:spPr>
          <a:xfrm>
            <a:off x="1997640" y="1891440"/>
            <a:ext cx="4845240" cy="62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000" b="0" strike="noStrike" spc="-12">
                <a:solidFill>
                  <a:srgbClr val="FFFFFF"/>
                </a:solidFill>
                <a:latin typeface="Times New Roman"/>
              </a:rPr>
              <a:t>The</a:t>
            </a:r>
            <a:r>
              <a:rPr lang="en-US" sz="4000" b="0" strike="noStrike" spc="-52">
                <a:solidFill>
                  <a:srgbClr val="FFFFFF"/>
                </a:solidFill>
                <a:latin typeface="Times New Roman"/>
              </a:rPr>
              <a:t> </a:t>
            </a:r>
            <a:r>
              <a:rPr lang="en-US" sz="4000" b="0" strike="noStrike" spc="-7">
                <a:solidFill>
                  <a:srgbClr val="FFFFFF"/>
                </a:solidFill>
                <a:latin typeface="Times New Roman"/>
              </a:rPr>
              <a:t>Personal</a:t>
            </a:r>
            <a:r>
              <a:rPr lang="en-US" sz="4000" b="0" strike="noStrike" spc="-46">
                <a:solidFill>
                  <a:srgbClr val="FFFFFF"/>
                </a:solidFill>
                <a:latin typeface="Times New Roman"/>
              </a:rPr>
              <a:t> </a:t>
            </a:r>
            <a:r>
              <a:rPr lang="en-US" sz="4000" b="0" strike="noStrike" spc="-7">
                <a:solidFill>
                  <a:srgbClr val="FFFFFF"/>
                </a:solidFill>
                <a:latin typeface="Times New Roman"/>
              </a:rPr>
              <a:t>Statement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bject 6"/>
          <p:cNvSpPr/>
          <p:nvPr/>
        </p:nvSpPr>
        <p:spPr>
          <a:xfrm>
            <a:off x="2360160" y="3515400"/>
            <a:ext cx="3583440" cy="11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>
                <a:solidFill>
                  <a:srgbClr val="8BC34A"/>
                </a:solidFill>
                <a:latin typeface="Times New Roman"/>
              </a:rPr>
              <a:t>Presenters: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>
                <a:solidFill>
                  <a:srgbClr val="8BC34A"/>
                </a:solidFill>
                <a:latin typeface="Times New Roman"/>
              </a:rPr>
              <a:t>~ Ian Toyota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>
                <a:solidFill>
                  <a:srgbClr val="8BC34A"/>
                </a:solidFill>
                <a:latin typeface="Times New Roman"/>
              </a:rPr>
              <a:t> ~ Sean Donovan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47960" y="361080"/>
            <a:ext cx="24296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-35">
                <a:solidFill>
                  <a:srgbClr val="FFFFFF"/>
                </a:solidFill>
                <a:latin typeface="Georgia"/>
              </a:rPr>
              <a:t>OBJECTIVES: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7" name="object 3"/>
          <p:cNvPicPr/>
          <p:nvPr/>
        </p:nvPicPr>
        <p:blipFill>
          <a:blip r:embed="rId2"/>
          <a:stretch/>
        </p:blipFill>
        <p:spPr>
          <a:xfrm>
            <a:off x="74880" y="931680"/>
            <a:ext cx="6027840" cy="4097880"/>
          </a:xfrm>
          <a:prstGeom prst="rect">
            <a:avLst/>
          </a:prstGeom>
          <a:ln w="0">
            <a:noFill/>
          </a:ln>
        </p:spPr>
      </p:pic>
      <p:sp>
        <p:nvSpPr>
          <p:cNvPr id="178" name="object 4"/>
          <p:cNvSpPr/>
          <p:nvPr/>
        </p:nvSpPr>
        <p:spPr>
          <a:xfrm>
            <a:off x="205200" y="997920"/>
            <a:ext cx="5652360" cy="22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Look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why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personal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important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why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colleges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ask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>
              <a:lnSpc>
                <a:spcPct val="100000"/>
              </a:lnSpc>
              <a:spcBef>
                <a:spcPts val="1655"/>
              </a:spcBef>
              <a:tabLst>
                <a:tab pos="41220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for</a:t>
            </a:r>
            <a:r>
              <a:rPr lang="en-US" sz="1350" b="0" strike="noStrike" spc="-4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Cover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kind/types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of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questions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answer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to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the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personal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statement.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Discuss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what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sets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apart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great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successful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essays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from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the </a:t>
            </a:r>
            <a:r>
              <a:rPr lang="en-US" sz="1350" b="0" strike="noStrike" spc="-38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rest.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Cover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important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tips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tricks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should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use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essay </a:t>
            </a:r>
            <a:r>
              <a:rPr lang="en-US" sz="1350" b="0" strike="noStrike" spc="-38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writing.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2600" indent="-399960">
              <a:lnSpc>
                <a:spcPct val="100000"/>
              </a:lnSpc>
              <a:spcBef>
                <a:spcPts val="1655"/>
              </a:spcBef>
              <a:tabLst>
                <a:tab pos="41220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Look at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some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examples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of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impressive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common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app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essays.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object 5"/>
          <p:cNvPicPr/>
          <p:nvPr/>
        </p:nvPicPr>
        <p:blipFill>
          <a:blip r:embed="rId3"/>
          <a:stretch/>
        </p:blipFill>
        <p:spPr>
          <a:xfrm>
            <a:off x="6103080" y="1580760"/>
            <a:ext cx="2735640" cy="2800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47960" y="361080"/>
            <a:ext cx="24296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-35">
                <a:solidFill>
                  <a:srgbClr val="FFFFFF"/>
                </a:solidFill>
                <a:latin typeface="Georgia"/>
              </a:rPr>
              <a:t>OBJECTIVES: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1" name="object 9"/>
          <p:cNvPicPr/>
          <p:nvPr/>
        </p:nvPicPr>
        <p:blipFill>
          <a:blip r:embed="rId2"/>
          <a:stretch/>
        </p:blipFill>
        <p:spPr>
          <a:xfrm>
            <a:off x="74880" y="931680"/>
            <a:ext cx="8850240" cy="4097880"/>
          </a:xfrm>
          <a:prstGeom prst="rect">
            <a:avLst/>
          </a:prstGeom>
          <a:ln w="0">
            <a:noFill/>
          </a:ln>
        </p:spPr>
      </p:pic>
      <p:sp>
        <p:nvSpPr>
          <p:cNvPr id="182" name="object 10"/>
          <p:cNvSpPr/>
          <p:nvPr/>
        </p:nvSpPr>
        <p:spPr>
          <a:xfrm>
            <a:off x="147960" y="1495440"/>
            <a:ext cx="4329000" cy="25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1" u="sng" strike="noStrike" spc="12">
                <a:solidFill>
                  <a:srgbClr val="FFFFFF"/>
                </a:solidFill>
                <a:uFillTx/>
                <a:latin typeface="MS PGothic"/>
              </a:rPr>
              <a:t>High School Essay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Purpose: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To make an argument and support with evidence. Reader primarily understands how a students 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thinks.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Thesis: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Is often explicit and appears in the first paragraph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Tone: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More analytical, often examining a specific text	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11"/>
          <p:cNvSpPr/>
          <p:nvPr/>
        </p:nvSpPr>
        <p:spPr>
          <a:xfrm>
            <a:off x="4610880" y="1495440"/>
            <a:ext cx="4314240" cy="313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1" u="sng" strike="noStrike" spc="12">
                <a:solidFill>
                  <a:srgbClr val="FFFFFF"/>
                </a:solidFill>
                <a:uFillTx/>
                <a:latin typeface="MS PGothic"/>
              </a:rPr>
              <a:t>Personal Statement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Purpose: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To demonstrate the values, skills, qualities, and interests you’ll bring with you to a college campus. Reader understands how a student 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thinks, feels, works, plays and lives.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Thesis: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is often implied or not stated at all. If one does appear, its often at/near the end.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2000"/>
              </a:lnSpc>
              <a:tabLst>
                <a:tab pos="0" algn="l"/>
              </a:tabLst>
            </a:pP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Tone: </a:t>
            </a:r>
            <a:r>
              <a:rPr lang="en-US" sz="1350" b="0" strike="noStrike" spc="12">
                <a:solidFill>
                  <a:srgbClr val="FFFFFF"/>
                </a:solidFill>
                <a:latin typeface="MS PGothic"/>
              </a:rPr>
              <a:t>More casual and personal ( you are the subject of the text)	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85800" y="1047600"/>
            <a:ext cx="7772400" cy="32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116"/>
              </a:spcBef>
              <a:tabLst>
                <a:tab pos="412200" algn="l"/>
              </a:tabLst>
            </a:pPr>
            <a:r>
              <a:rPr lang="en-US" sz="1350" b="1" strike="noStrike" spc="12">
                <a:solidFill>
                  <a:srgbClr val="FFFFFF"/>
                </a:solidFill>
                <a:latin typeface="MS PGothic"/>
              </a:rPr>
              <a:t>Difference between a high school essay and a personal statement</a:t>
            </a:r>
            <a:endParaRPr lang="en-US" sz="135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33640" y="435600"/>
            <a:ext cx="7367400" cy="5169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128">
                <a:solidFill>
                  <a:srgbClr val="FFFFFF"/>
                </a:solidFill>
                <a:latin typeface="Georgia"/>
              </a:rPr>
              <a:t>What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34">
                <a:solidFill>
                  <a:srgbClr val="FFFFFF"/>
                </a:solidFill>
                <a:latin typeface="Georgia"/>
              </a:rPr>
              <a:t>is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94">
                <a:solidFill>
                  <a:srgbClr val="FFFFFF"/>
                </a:solidFill>
                <a:latin typeface="Georgia"/>
              </a:rPr>
              <a:t>the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9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9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72">
                <a:solidFill>
                  <a:srgbClr val="FFFFFF"/>
                </a:solidFill>
                <a:latin typeface="Georgia"/>
              </a:rPr>
              <a:t>Statement?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6" name="object 3"/>
          <p:cNvPicPr/>
          <p:nvPr/>
        </p:nvPicPr>
        <p:blipFill>
          <a:blip r:embed="rId2"/>
          <a:stretch/>
        </p:blipFill>
        <p:spPr>
          <a:xfrm>
            <a:off x="160560" y="1167120"/>
            <a:ext cx="5695560" cy="3822480"/>
          </a:xfrm>
          <a:prstGeom prst="rect">
            <a:avLst/>
          </a:prstGeom>
          <a:ln w="0">
            <a:noFill/>
          </a:ln>
        </p:spPr>
      </p:pic>
      <p:sp>
        <p:nvSpPr>
          <p:cNvPr id="187" name="object 4"/>
          <p:cNvSpPr/>
          <p:nvPr/>
        </p:nvSpPr>
        <p:spPr>
          <a:xfrm>
            <a:off x="309960" y="1234080"/>
            <a:ext cx="5247360" cy="30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39312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Personal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Statement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1">
                <a:solidFill>
                  <a:srgbClr val="FFFFFF"/>
                </a:solidFill>
                <a:latin typeface="Comic Sans MS"/>
              </a:rPr>
              <a:t>: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this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1">
                <a:solidFill>
                  <a:srgbClr val="FFFFFF"/>
                </a:solidFill>
                <a:latin typeface="Comic Sans MS"/>
              </a:rPr>
              <a:t>unique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write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about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"/>
              </a:spcBef>
              <a:tabLst>
                <a:tab pos="393120" algn="l"/>
              </a:tabLst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393840">
              <a:lnSpc>
                <a:spcPct val="100000"/>
              </a:lnSpc>
              <a:tabLst>
                <a:tab pos="393120" algn="l"/>
              </a:tabLst>
            </a:pP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yourself.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Think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it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as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metaphorical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heart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 application.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93840" indent="-380880">
              <a:lnSpc>
                <a:spcPct val="2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It is meant to capture your ‘Human nature’ and more specifically </a:t>
            </a:r>
            <a:r>
              <a:rPr lang="en-US" sz="1200" b="0" strike="noStrike" spc="-34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certain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events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 life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brought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out the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same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about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93840" indent="-380880">
              <a:lnSpc>
                <a:spcPct val="100000"/>
              </a:lnSpc>
              <a:spcBef>
                <a:spcPts val="45"/>
              </a:spcBef>
              <a:tabLst>
                <a:tab pos="0" algn="l"/>
              </a:tabLst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12600" indent="-380880">
              <a:lnSpc>
                <a:spcPct val="100000"/>
              </a:lnSpc>
              <a:tabLst>
                <a:tab pos="39312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personal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statement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should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mirror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reflecting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2600" indent="-380880">
              <a:lnSpc>
                <a:spcPct val="100000"/>
              </a:lnSpc>
              <a:spcBef>
                <a:spcPts val="45"/>
              </a:spcBef>
              <a:tabLst>
                <a:tab pos="393120" algn="l"/>
              </a:tabLst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851040" indent="-335160">
              <a:lnSpc>
                <a:spcPct val="100000"/>
              </a:lnSpc>
              <a:spcBef>
                <a:spcPts val="6"/>
              </a:spcBef>
              <a:buClr>
                <a:srgbClr val="FFFFFF"/>
              </a:buClr>
              <a:buFont typeface="Star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Vulnerability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how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/plan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overcome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851040" indent="-360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Star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Skills-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these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cognitive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or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non-cognitive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skills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851040" indent="-360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Star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Passions-</a:t>
            </a:r>
            <a:r>
              <a:rPr lang="en-US" sz="1200" b="0" strike="noStrike" spc="-2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0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desires</a:t>
            </a:r>
            <a:r>
              <a:rPr lang="en-US" sz="120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20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interests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851040" indent="-360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Star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Values-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virtues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traits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20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build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00" b="0" strike="noStrike" spc="-7">
                <a:solidFill>
                  <a:srgbClr val="FFFFFF"/>
                </a:solidFill>
                <a:latin typeface="Comic Sans MS"/>
              </a:rPr>
              <a:t>personality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object 5"/>
          <p:cNvPicPr/>
          <p:nvPr/>
        </p:nvPicPr>
        <p:blipFill>
          <a:blip r:embed="rId3"/>
          <a:stretch/>
        </p:blipFill>
        <p:spPr>
          <a:xfrm>
            <a:off x="5856840" y="1884960"/>
            <a:ext cx="2981880" cy="2387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12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1" name="object 4"/>
          <p:cNvPicPr/>
          <p:nvPr/>
        </p:nvPicPr>
        <p:blipFill>
          <a:blip r:embed="rId2"/>
          <a:stretch/>
        </p:blipFill>
        <p:spPr>
          <a:xfrm>
            <a:off x="139320" y="1489680"/>
            <a:ext cx="5342760" cy="3653280"/>
          </a:xfrm>
          <a:prstGeom prst="rect">
            <a:avLst/>
          </a:prstGeom>
          <a:ln w="0">
            <a:noFill/>
          </a:ln>
        </p:spPr>
      </p:pic>
      <p:sp>
        <p:nvSpPr>
          <p:cNvPr id="192" name="object 5"/>
          <p:cNvSpPr/>
          <p:nvPr/>
        </p:nvSpPr>
        <p:spPr>
          <a:xfrm>
            <a:off x="212400" y="1555560"/>
            <a:ext cx="5163480" cy="28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203040" indent="-191160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SzPct val="93000"/>
              <a:buFont typeface="StarSymbol"/>
              <a:buAutoNum type="arabicPeriod"/>
              <a:tabLst>
                <a:tab pos="203760" algn="l"/>
              </a:tabLst>
            </a:pPr>
            <a:r>
              <a:rPr lang="en-US" sz="1400" b="1" u="heavy" strike="noStrike" spc="9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Introspection/</a:t>
            </a:r>
            <a:r>
              <a:rPr lang="en-US" sz="1400" b="1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00" b="1" u="heavy" strike="noStrike" spc="9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Self</a:t>
            </a:r>
            <a:r>
              <a:rPr lang="en-US" sz="14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00" b="1" u="heavy" strike="noStrike" spc="9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reflection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ts val="2979"/>
              </a:lnSpc>
              <a:spcBef>
                <a:spcPts val="329"/>
              </a:spcBef>
              <a:tabLst>
                <a:tab pos="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This involves brainstorming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 unique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topic that will separate you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from the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50,000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applicants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will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be competing with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79200" indent="-390600">
              <a:lnSpc>
                <a:spcPct val="100000"/>
              </a:lnSpc>
              <a:spcBef>
                <a:spcPts val="1134"/>
              </a:spcBef>
              <a:tabLst>
                <a:tab pos="46944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Always</a:t>
            </a:r>
            <a:r>
              <a:rPr lang="en-US" sz="12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2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PS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mind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79200" indent="-390600">
              <a:lnSpc>
                <a:spcPct val="100000"/>
              </a:lnSpc>
              <a:spcBef>
                <a:spcPts val="1480"/>
              </a:spcBef>
              <a:tabLst>
                <a:tab pos="46944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Make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sure your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train of thought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travels along the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rails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of: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927000" lvl="1" indent="-339120">
              <a:lnSpc>
                <a:spcPct val="100000"/>
              </a:lnSpc>
              <a:spcBef>
                <a:spcPts val="1474"/>
              </a:spcBef>
              <a:buClr>
                <a:srgbClr val="FFFFFF"/>
              </a:buClr>
              <a:buFont typeface="StarSymbol"/>
              <a:buAutoNum type="arabicPeriod"/>
              <a:tabLst>
                <a:tab pos="926640" algn="l"/>
                <a:tab pos="92700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250" b="0" strike="noStrike" spc="-3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my</a:t>
            </a:r>
            <a:r>
              <a:rPr lang="en-US" sz="1250" b="0" strike="noStrike" spc="-3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topic</a:t>
            </a:r>
            <a:r>
              <a:rPr lang="en-US" sz="1250" b="0" strike="noStrike" spc="-3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emotional?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927000" lvl="1" indent="-364320">
              <a:lnSpc>
                <a:spcPct val="100000"/>
              </a:lnSpc>
              <a:spcBef>
                <a:spcPts val="1480"/>
              </a:spcBef>
              <a:buClr>
                <a:srgbClr val="FFFFFF"/>
              </a:buClr>
              <a:buFont typeface="StarSymbol"/>
              <a:buAutoNum type="arabicPeriod"/>
              <a:tabLst>
                <a:tab pos="926640" algn="l"/>
                <a:tab pos="92700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250" b="0" strike="noStrike" spc="-3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my</a:t>
            </a:r>
            <a:r>
              <a:rPr lang="en-US" sz="1250" b="0" strike="noStrike" spc="-3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topic</a:t>
            </a:r>
            <a:r>
              <a:rPr lang="en-US" sz="1250" b="0" strike="noStrike" spc="-3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authentic?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927000" lvl="1" indent="-364320">
              <a:lnSpc>
                <a:spcPct val="100000"/>
              </a:lnSpc>
              <a:spcBef>
                <a:spcPts val="1480"/>
              </a:spcBef>
              <a:buClr>
                <a:srgbClr val="FFFFFF"/>
              </a:buClr>
              <a:buFont typeface="StarSymbol"/>
              <a:buAutoNum type="arabicPeriod"/>
              <a:tabLst>
                <a:tab pos="926640" algn="l"/>
                <a:tab pos="92700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Is my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topic distinct or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above</a:t>
            </a:r>
            <a:r>
              <a:rPr lang="en-US" sz="12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normal expectations?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object 6"/>
          <p:cNvPicPr/>
          <p:nvPr/>
        </p:nvPicPr>
        <p:blipFill>
          <a:blip r:embed="rId3"/>
          <a:stretch/>
        </p:blipFill>
        <p:spPr>
          <a:xfrm>
            <a:off x="5482080" y="2057760"/>
            <a:ext cx="3356640" cy="2517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6604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6" name="object 4"/>
          <p:cNvPicPr/>
          <p:nvPr/>
        </p:nvPicPr>
        <p:blipFill>
          <a:blip r:embed="rId2"/>
          <a:stretch/>
        </p:blipFill>
        <p:spPr>
          <a:xfrm>
            <a:off x="202485" y="1558080"/>
            <a:ext cx="5856480" cy="3340440"/>
          </a:xfrm>
          <a:prstGeom prst="rect">
            <a:avLst/>
          </a:prstGeom>
          <a:ln w="0">
            <a:noFill/>
          </a:ln>
        </p:spPr>
      </p:pic>
      <p:sp>
        <p:nvSpPr>
          <p:cNvPr id="197" name="object 5"/>
          <p:cNvSpPr/>
          <p:nvPr/>
        </p:nvSpPr>
        <p:spPr>
          <a:xfrm>
            <a:off x="192960" y="1558080"/>
            <a:ext cx="5856840" cy="179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920" rIns="0" bIns="0" anchor="t">
            <a:spAutoFit/>
          </a:bodyPr>
          <a:lstStyle/>
          <a:p>
            <a:pPr marL="152280">
              <a:lnSpc>
                <a:spcPct val="100000"/>
              </a:lnSpc>
              <a:spcBef>
                <a:spcPts val="629"/>
              </a:spcBef>
              <a:tabLst>
                <a:tab pos="542160" algn="l"/>
              </a:tabLst>
            </a:pPr>
            <a:r>
              <a:rPr lang="en-US" sz="1250" b="0" strike="noStrike" spc="4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You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to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see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yourself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through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inner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lenses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152280">
              <a:lnSpc>
                <a:spcPct val="100000"/>
              </a:lnSpc>
              <a:spcBef>
                <a:spcPts val="1514"/>
              </a:spcBef>
              <a:tabLst>
                <a:tab pos="542160" algn="l"/>
              </a:tabLst>
            </a:pPr>
            <a:r>
              <a:rPr lang="en-US" sz="1250" b="0" strike="noStrike" spc="4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Ask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yourself what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makes you human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152280">
              <a:lnSpc>
                <a:spcPct val="100000"/>
              </a:lnSpc>
              <a:spcBef>
                <a:spcPts val="1514"/>
              </a:spcBef>
              <a:tabLst>
                <a:tab pos="542160" algn="l"/>
              </a:tabLst>
            </a:pPr>
            <a:r>
              <a:rPr lang="en-US" sz="1250" b="0" strike="noStrike" spc="4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Close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eyes,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take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deep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breath,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think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about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and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only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 indent="-390600">
              <a:lnSpc>
                <a:spcPct val="200000"/>
              </a:lnSpc>
              <a:tabLst>
                <a:tab pos="0" algn="l"/>
              </a:tabLst>
            </a:pPr>
            <a:r>
              <a:rPr lang="en-US" sz="1250" b="0" strike="noStrike" spc="4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Think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of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those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key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events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bring/has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brought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out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human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in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152280" indent="-390600">
              <a:lnSpc>
                <a:spcPct val="100000"/>
              </a:lnSpc>
              <a:spcBef>
                <a:spcPts val="1514"/>
              </a:spcBef>
              <a:tabLst>
                <a:tab pos="542160" algn="l"/>
              </a:tabLst>
            </a:pPr>
            <a:r>
              <a:rPr lang="en-US" sz="1250" b="0" strike="noStrike" spc="4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might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find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yourself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stirring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worst</a:t>
            </a:r>
            <a:r>
              <a:rPr lang="en-US" sz="12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of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past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emotions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object 6"/>
          <p:cNvPicPr/>
          <p:nvPr/>
        </p:nvPicPr>
        <p:blipFill>
          <a:blip r:embed="rId3"/>
          <a:stretch/>
        </p:blipFill>
        <p:spPr>
          <a:xfrm>
            <a:off x="6049800" y="2282400"/>
            <a:ext cx="2832120" cy="1891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2232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1" name="object 4"/>
          <p:cNvPicPr/>
          <p:nvPr/>
        </p:nvPicPr>
        <p:blipFill>
          <a:blip r:embed="rId2"/>
          <a:stretch/>
        </p:blipFill>
        <p:spPr>
          <a:xfrm>
            <a:off x="150120" y="1456560"/>
            <a:ext cx="6199200" cy="3543840"/>
          </a:xfrm>
          <a:prstGeom prst="rect">
            <a:avLst/>
          </a:prstGeom>
          <a:ln w="0">
            <a:noFill/>
          </a:ln>
        </p:spPr>
      </p:pic>
      <p:sp>
        <p:nvSpPr>
          <p:cNvPr id="202" name="object 5"/>
          <p:cNvSpPr/>
          <p:nvPr/>
        </p:nvSpPr>
        <p:spPr>
          <a:xfrm>
            <a:off x="150120" y="1456560"/>
            <a:ext cx="6199200" cy="29383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85680">
              <a:lnSpc>
                <a:spcPct val="100000"/>
              </a:lnSpc>
              <a:spcBef>
                <a:spcPts val="615"/>
              </a:spcBef>
            </a:pPr>
            <a:r>
              <a:rPr lang="en-US" sz="1450" b="1" u="heavy" strike="noStrike" spc="-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2.</a:t>
            </a:r>
            <a:r>
              <a:rPr lang="en-US" sz="1450" b="1" u="heavy" strike="noStrike" spc="-26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Write</a:t>
            </a:r>
            <a:r>
              <a:rPr lang="en-US" sz="1450" b="1" u="heavy" strike="noStrike" spc="-2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your</a:t>
            </a:r>
            <a:r>
              <a:rPr lang="en-US" sz="1450" b="1" u="heavy" strike="noStrike" spc="-26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ideas</a:t>
            </a:r>
            <a:r>
              <a:rPr lang="en-US" sz="1450" b="1" u="heavy" strike="noStrike" spc="-2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down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  <a:p>
            <a:pPr marL="152280">
              <a:lnSpc>
                <a:spcPct val="100000"/>
              </a:lnSpc>
              <a:spcBef>
                <a:spcPts val="1471"/>
              </a:spcBef>
              <a:tabLst>
                <a:tab pos="542160" algn="l"/>
              </a:tabLst>
            </a:pPr>
            <a:r>
              <a:rPr lang="en-US" sz="12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Jot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down the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topics you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see fit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as soon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as they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pop to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mind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 indent="-390600">
              <a:lnSpc>
                <a:spcPct val="200000"/>
              </a:lnSpc>
              <a:tabLst>
                <a:tab pos="0" algn="l"/>
              </a:tabLst>
            </a:pPr>
            <a:r>
              <a:rPr lang="en-US" sz="12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Start reflecting on the anecdotes that will describe the topic to full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length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 indent="-390600">
              <a:lnSpc>
                <a:spcPct val="200000"/>
              </a:lnSpc>
              <a:tabLst>
                <a:tab pos="0" algn="l"/>
              </a:tabLst>
            </a:pPr>
            <a:r>
              <a:rPr lang="en-US" sz="12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Anecdotes bring your ideas to life. They give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personal touch to whatever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are trying to narrate. They should be interesting, amusing , inspiring or thought provoking.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 indent="-390600">
              <a:lnSpc>
                <a:spcPct val="200000"/>
              </a:lnSpc>
              <a:tabLst>
                <a:tab pos="0" algn="l"/>
              </a:tabLst>
            </a:pPr>
            <a:r>
              <a:rPr lang="en-US" sz="12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If your essay is vulnerable, you should have an anecdote(s) that show(s)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how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you overcame the same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3" name="object 6"/>
          <p:cNvGrpSpPr/>
          <p:nvPr/>
        </p:nvGrpSpPr>
        <p:grpSpPr>
          <a:xfrm>
            <a:off x="6349680" y="1497240"/>
            <a:ext cx="2724840" cy="3502800"/>
            <a:chOff x="6349680" y="1497240"/>
            <a:chExt cx="2724840" cy="3502800"/>
          </a:xfrm>
        </p:grpSpPr>
        <p:pic>
          <p:nvPicPr>
            <p:cNvPr id="204" name="object 7"/>
            <p:cNvPicPr/>
            <p:nvPr/>
          </p:nvPicPr>
          <p:blipFill>
            <a:blip r:embed="rId3"/>
            <a:stretch/>
          </p:blipFill>
          <p:spPr>
            <a:xfrm>
              <a:off x="6349680" y="1497240"/>
              <a:ext cx="2724840" cy="1820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5" name="object 8"/>
            <p:cNvPicPr/>
            <p:nvPr/>
          </p:nvPicPr>
          <p:blipFill>
            <a:blip r:embed="rId4"/>
            <a:stretch/>
          </p:blipFill>
          <p:spPr>
            <a:xfrm>
              <a:off x="6349680" y="3276720"/>
              <a:ext cx="2724840" cy="172332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232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7" name="object 3"/>
          <p:cNvPicPr/>
          <p:nvPr/>
        </p:nvPicPr>
        <p:blipFill>
          <a:blip r:embed="rId2"/>
          <a:stretch/>
        </p:blipFill>
        <p:spPr>
          <a:xfrm>
            <a:off x="323640" y="1200600"/>
            <a:ext cx="8431920" cy="1624320"/>
          </a:xfrm>
          <a:prstGeom prst="rect">
            <a:avLst/>
          </a:prstGeom>
          <a:ln w="0">
            <a:noFill/>
          </a:ln>
        </p:spPr>
      </p:pic>
      <p:sp>
        <p:nvSpPr>
          <p:cNvPr id="208" name="object 4"/>
          <p:cNvSpPr/>
          <p:nvPr/>
        </p:nvSpPr>
        <p:spPr>
          <a:xfrm>
            <a:off x="396720" y="1266480"/>
            <a:ext cx="806544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3.</a:t>
            </a:r>
            <a:r>
              <a:rPr lang="en-US" sz="1450" b="1" u="heavy" strike="noStrike" spc="-3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Choosing</a:t>
            </a:r>
            <a:r>
              <a:rPr lang="en-US" sz="1450" b="1" u="heavy" strike="noStrike" spc="-3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a</a:t>
            </a:r>
            <a:r>
              <a:rPr lang="en-US" sz="1450" b="1" u="heavy" strike="noStrike" spc="-3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prompt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409680">
              <a:lnSpc>
                <a:spcPct val="114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50" b="0" strike="noStrike" spc="-7">
                <a:solidFill>
                  <a:srgbClr val="FFFFFF"/>
                </a:solidFill>
                <a:latin typeface="Comic Sans MS"/>
              </a:rPr>
              <a:t>With the ideas in place, you can start thinking on which prompt to answer in the Common </a:t>
            </a:r>
            <a:r>
              <a:rPr lang="en-US" sz="1450" b="0" strike="noStrike" spc="-42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50" b="0" strike="noStrike" spc="-7">
                <a:solidFill>
                  <a:srgbClr val="FFFFFF"/>
                </a:solidFill>
                <a:latin typeface="Comic Sans MS"/>
              </a:rPr>
              <a:t>App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object 5"/>
          <p:cNvPicPr/>
          <p:nvPr/>
        </p:nvPicPr>
        <p:blipFill>
          <a:blip r:embed="rId3"/>
          <a:stretch/>
        </p:blipFill>
        <p:spPr>
          <a:xfrm>
            <a:off x="2211840" y="2089080"/>
            <a:ext cx="4170960" cy="294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266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2" name="object 4"/>
          <p:cNvPicPr/>
          <p:nvPr/>
        </p:nvPicPr>
        <p:blipFill>
          <a:blip r:embed="rId2"/>
          <a:stretch/>
        </p:blipFill>
        <p:spPr>
          <a:xfrm>
            <a:off x="193320" y="1489680"/>
            <a:ext cx="6314400" cy="3484440"/>
          </a:xfrm>
          <a:prstGeom prst="rect">
            <a:avLst/>
          </a:prstGeom>
          <a:ln w="0">
            <a:noFill/>
          </a:ln>
        </p:spPr>
      </p:pic>
      <p:sp>
        <p:nvSpPr>
          <p:cNvPr id="213" name="object 5"/>
          <p:cNvSpPr/>
          <p:nvPr/>
        </p:nvSpPr>
        <p:spPr>
          <a:xfrm>
            <a:off x="266400" y="1556280"/>
            <a:ext cx="6133680" cy="33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following are last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year prompts that you may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start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accommodating your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ideas.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ts val="3019"/>
              </a:lnSpc>
              <a:spcBef>
                <a:spcPts val="269"/>
              </a:spcBef>
              <a:tabLst>
                <a:tab pos="0" algn="l"/>
              </a:tabLst>
            </a:pPr>
            <a:r>
              <a:rPr lang="en-US" sz="1250" b="0" strike="noStrike" spc="9" dirty="0">
                <a:solidFill>
                  <a:srgbClr val="FFFFFF"/>
                </a:solidFill>
                <a:latin typeface="MS PGothic"/>
              </a:rPr>
              <a:t>★	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Some students have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background, identity, interest, or talent that is so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meaningful they believe their application would be incomplete without it. If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this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sounds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like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you, then please share</a:t>
            </a:r>
            <a:r>
              <a:rPr lang="en-US" sz="12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your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story.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ts val="3019"/>
              </a:lnSpc>
              <a:spcBef>
                <a:spcPts val="14"/>
              </a:spcBef>
              <a:tabLst>
                <a:tab pos="0" algn="l"/>
              </a:tabLst>
            </a:pPr>
            <a:r>
              <a:rPr lang="en-US" sz="1250" b="0" strike="noStrike" spc="9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The lessons we take from obstacles we encounter can be fundamental to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later success. Recount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time when you faced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challenge, setback, or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failure.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 How did it affect you, and what did you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learn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from the experience?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ts val="3019"/>
              </a:lnSpc>
              <a:tabLst>
                <a:tab pos="0" algn="l"/>
              </a:tabLst>
            </a:pPr>
            <a:r>
              <a:rPr lang="en-US" sz="1250" b="0" strike="noStrike" spc="9" dirty="0">
                <a:solidFill>
                  <a:srgbClr val="FFFFFF"/>
                </a:solidFill>
                <a:latin typeface="MS PGothic"/>
              </a:rPr>
              <a:t>★		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Reflect on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time when you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questioned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or challenged </a:t>
            </a:r>
            <a:r>
              <a:rPr lang="en-US" sz="1250" b="0" strike="noStrike" spc="4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belief or idea. What </a:t>
            </a:r>
            <a:r>
              <a:rPr lang="en-US" sz="1250" b="0" strike="noStrike" spc="-36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prompted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your thinking? What was</a:t>
            </a:r>
            <a:r>
              <a:rPr lang="en-US" sz="12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" dirty="0">
                <a:solidFill>
                  <a:srgbClr val="FFFFFF"/>
                </a:solidFill>
                <a:latin typeface="Comic Sans MS"/>
              </a:rPr>
              <a:t>the outcome?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object 6"/>
          <p:cNvPicPr/>
          <p:nvPr/>
        </p:nvPicPr>
        <p:blipFill>
          <a:blip r:embed="rId3"/>
          <a:stretch/>
        </p:blipFill>
        <p:spPr>
          <a:xfrm>
            <a:off x="6508080" y="2093400"/>
            <a:ext cx="2379240" cy="1842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1816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7" name="object 4"/>
          <p:cNvPicPr/>
          <p:nvPr/>
        </p:nvPicPr>
        <p:blipFill>
          <a:blip r:embed="rId2"/>
          <a:stretch/>
        </p:blipFill>
        <p:spPr>
          <a:xfrm>
            <a:off x="144720" y="1489680"/>
            <a:ext cx="5348160" cy="3423960"/>
          </a:xfrm>
          <a:prstGeom prst="rect">
            <a:avLst/>
          </a:prstGeom>
          <a:ln w="0">
            <a:noFill/>
          </a:ln>
        </p:spPr>
      </p:pic>
      <p:sp>
        <p:nvSpPr>
          <p:cNvPr id="218" name="object 5"/>
          <p:cNvSpPr/>
          <p:nvPr/>
        </p:nvSpPr>
        <p:spPr>
          <a:xfrm>
            <a:off x="144720" y="1489680"/>
            <a:ext cx="5348880" cy="254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840" rIns="0" bIns="0" anchor="t">
            <a:spAutoFit/>
          </a:bodyPr>
          <a:lstStyle/>
          <a:p>
            <a:pPr marL="142920">
              <a:lnSpc>
                <a:spcPct val="100000"/>
              </a:lnSpc>
              <a:spcBef>
                <a:spcPts val="621"/>
              </a:spcBef>
              <a:tabLst>
                <a:tab pos="542160" algn="l"/>
              </a:tabLst>
            </a:pPr>
            <a:r>
              <a:rPr lang="en-US" sz="13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Reflect</a:t>
            </a:r>
            <a:r>
              <a:rPr lang="en-US" sz="1350" b="0" strike="noStrike" spc="-1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on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something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someone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has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done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for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>
              <a:lnSpc>
                <a:spcPct val="200000"/>
              </a:lnSpc>
              <a:tabLst>
                <a:tab pos="542160" algn="l"/>
              </a:tabLst>
            </a:pP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has made you happy or thankful in </a:t>
            </a:r>
            <a:r>
              <a:rPr lang="en-US" sz="1350" b="0" strike="noStrike" spc="-1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surprising way. How </a:t>
            </a:r>
            <a:r>
              <a:rPr lang="en-US" sz="1350" b="0" strike="noStrike" spc="-39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has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this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gratitude affected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or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motivated you?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>
              <a:lnSpc>
                <a:spcPct val="100000"/>
              </a:lnSpc>
              <a:tabLst>
                <a:tab pos="542160" algn="l"/>
              </a:tabLst>
            </a:pP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>
              <a:lnSpc>
                <a:spcPct val="100000"/>
              </a:lnSpc>
              <a:spcBef>
                <a:spcPts val="65"/>
              </a:spcBef>
              <a:tabLst>
                <a:tab pos="542160" algn="l"/>
              </a:tabLst>
            </a:pPr>
            <a:endParaRPr lang="en-US" sz="2100" b="0" strike="noStrike" spc="-1" dirty="0">
              <a:solidFill>
                <a:srgbClr val="000000"/>
              </a:solidFill>
              <a:latin typeface="Arial"/>
            </a:endParaRPr>
          </a:p>
          <a:p>
            <a:pPr marL="542880" indent="-399960">
              <a:lnSpc>
                <a:spcPct val="200000"/>
              </a:lnSpc>
              <a:tabLst>
                <a:tab pos="0" algn="l"/>
              </a:tabLst>
            </a:pPr>
            <a:r>
              <a:rPr lang="en-US" sz="135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Discuss an accomplishment, event, or realization that </a:t>
            </a:r>
            <a:r>
              <a:rPr lang="en-US" sz="1350" b="0" strike="noStrike" spc="-39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sparked </a:t>
            </a:r>
            <a:r>
              <a:rPr lang="en-US" sz="1350" b="0" strike="noStrike" spc="-1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period of personal growth and </a:t>
            </a:r>
            <a:r>
              <a:rPr lang="en-US" sz="1350" b="0" strike="noStrike" spc="-1" dirty="0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new </a:t>
            </a:r>
            <a:r>
              <a:rPr lang="en-US" sz="13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understanding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yourself or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others.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object 6"/>
          <p:cNvPicPr/>
          <p:nvPr/>
        </p:nvPicPr>
        <p:blipFill>
          <a:blip r:embed="rId3"/>
          <a:stretch/>
        </p:blipFill>
        <p:spPr>
          <a:xfrm>
            <a:off x="5493600" y="1489680"/>
            <a:ext cx="3262320" cy="3351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66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2" name="object 4"/>
          <p:cNvPicPr/>
          <p:nvPr/>
        </p:nvPicPr>
        <p:blipFill>
          <a:blip r:embed="rId2"/>
          <a:stretch/>
        </p:blipFill>
        <p:spPr>
          <a:xfrm>
            <a:off x="193320" y="1489680"/>
            <a:ext cx="5831280" cy="3460320"/>
          </a:xfrm>
          <a:prstGeom prst="rect">
            <a:avLst/>
          </a:prstGeom>
          <a:ln w="0">
            <a:noFill/>
          </a:ln>
        </p:spPr>
      </p:pic>
      <p:sp>
        <p:nvSpPr>
          <p:cNvPr id="223" name="object 5"/>
          <p:cNvSpPr/>
          <p:nvPr/>
        </p:nvSpPr>
        <p:spPr>
          <a:xfrm>
            <a:off x="266400" y="1557000"/>
            <a:ext cx="5662080" cy="278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98280">
              <a:lnSpc>
                <a:spcPct val="100000"/>
              </a:lnSpc>
              <a:spcBef>
                <a:spcPts val="96"/>
              </a:spcBef>
              <a:tabLst>
                <a:tab pos="513000" algn="l"/>
              </a:tabLst>
            </a:pPr>
            <a:r>
              <a:rPr lang="en-US" sz="1150" b="0" strike="noStrike" spc="-7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Describe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topic,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idea,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or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concept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find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so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engaging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it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makes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you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ct val="199000"/>
              </a:lnSpc>
              <a:tabLst>
                <a:tab pos="513000" algn="l"/>
              </a:tabLst>
            </a:pP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lose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all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track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time.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Why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does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it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captivate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you?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What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or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who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do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turn </a:t>
            </a:r>
            <a:r>
              <a:rPr lang="en-US" sz="1150" b="0" strike="noStrike" spc="-330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 when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you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want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to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learn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more?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pPr marL="469800" indent="-371520">
              <a:lnSpc>
                <a:spcPct val="199000"/>
              </a:lnSpc>
              <a:tabLst>
                <a:tab pos="0" algn="l"/>
              </a:tabLst>
            </a:pPr>
            <a:r>
              <a:rPr lang="en-US" sz="1150" b="0" strike="noStrike" spc="-7" dirty="0">
                <a:solidFill>
                  <a:srgbClr val="FFFFFF"/>
                </a:solidFill>
                <a:latin typeface="MS PGothic"/>
              </a:rPr>
              <a:t>★		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Share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an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on any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topic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of your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choice.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It can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one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you've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already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written,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one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responds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different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prompt,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or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one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own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design.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 indent="-371520">
              <a:lnSpc>
                <a:spcPct val="199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Take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time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choose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prompt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cover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all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parts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personality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you </a:t>
            </a:r>
            <a:r>
              <a:rPr lang="en-US" sz="1150" b="0" strike="noStrike" spc="-330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would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want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exploit(multifaceted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response).</a:t>
            </a:r>
            <a:r>
              <a:rPr lang="en-US" sz="11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How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1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answer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50" b="0" strike="noStrike" spc="9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certain</a:t>
            </a:r>
            <a:r>
              <a:rPr lang="en-US" sz="1150" b="0" strike="noStrike" spc="4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question </a:t>
            </a:r>
            <a:r>
              <a:rPr lang="en-US" sz="1150" b="0" strike="noStrike" spc="-1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 either</a:t>
            </a:r>
            <a:r>
              <a:rPr lang="en-US" sz="1150" b="0" strike="noStrike" spc="-7" dirty="0">
                <a:solidFill>
                  <a:srgbClr val="FFFFFF"/>
                </a:solidFill>
                <a:latin typeface="Comic Sans MS"/>
              </a:rPr>
              <a:t> give you an inch over or under your </a:t>
            </a:r>
            <a:r>
              <a:rPr lang="en-US" sz="1150" b="0" strike="noStrike" spc="-12" dirty="0">
                <a:solidFill>
                  <a:srgbClr val="FFFFFF"/>
                </a:solidFill>
                <a:latin typeface="Comic Sans MS"/>
              </a:rPr>
              <a:t>opponent.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4" name="object 6"/>
          <p:cNvGrpSpPr/>
          <p:nvPr/>
        </p:nvGrpSpPr>
        <p:grpSpPr>
          <a:xfrm>
            <a:off x="6024960" y="1489680"/>
            <a:ext cx="2730960" cy="3460320"/>
            <a:chOff x="6024960" y="1489680"/>
            <a:chExt cx="2730960" cy="3460320"/>
          </a:xfrm>
        </p:grpSpPr>
        <p:pic>
          <p:nvPicPr>
            <p:cNvPr id="225" name="object 7"/>
            <p:cNvPicPr/>
            <p:nvPr/>
          </p:nvPicPr>
          <p:blipFill>
            <a:blip r:embed="rId3"/>
            <a:stretch/>
          </p:blipFill>
          <p:spPr>
            <a:xfrm>
              <a:off x="6024960" y="1489680"/>
              <a:ext cx="2730960" cy="3460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6" name="object 8"/>
            <p:cNvPicPr/>
            <p:nvPr/>
          </p:nvPicPr>
          <p:blipFill>
            <a:blip r:embed="rId4"/>
            <a:stretch/>
          </p:blipFill>
          <p:spPr>
            <a:xfrm>
              <a:off x="6024960" y="1489680"/>
              <a:ext cx="2730960" cy="180900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5416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9" name="object 4"/>
          <p:cNvPicPr/>
          <p:nvPr/>
        </p:nvPicPr>
        <p:blipFill>
          <a:blip r:embed="rId2"/>
          <a:stretch/>
        </p:blipFill>
        <p:spPr>
          <a:xfrm>
            <a:off x="181080" y="1489680"/>
            <a:ext cx="8574480" cy="3448440"/>
          </a:xfrm>
          <a:prstGeom prst="rect">
            <a:avLst/>
          </a:prstGeom>
          <a:ln w="0">
            <a:noFill/>
          </a:ln>
        </p:spPr>
      </p:pic>
      <p:sp>
        <p:nvSpPr>
          <p:cNvPr id="230" name="object 5"/>
          <p:cNvSpPr/>
          <p:nvPr/>
        </p:nvSpPr>
        <p:spPr>
          <a:xfrm>
            <a:off x="254160" y="1555560"/>
            <a:ext cx="8385480" cy="32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83680" indent="-271800">
              <a:lnSpc>
                <a:spcPct val="100000"/>
              </a:lnSpc>
              <a:spcBef>
                <a:spcPts val="99"/>
              </a:spcBef>
              <a:buClr>
                <a:srgbClr val="FFFFFF"/>
              </a:buClr>
              <a:buFont typeface="StarSymbol"/>
              <a:buAutoNum type="arabicPeriod" startAt="4"/>
              <a:tabLst>
                <a:tab pos="284400" algn="l"/>
              </a:tabLst>
            </a:pP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Weaving</a:t>
            </a:r>
            <a:r>
              <a:rPr lang="en-US" sz="145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your</a:t>
            </a:r>
            <a:r>
              <a:rPr lang="en-US" sz="145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ideas</a:t>
            </a:r>
            <a:r>
              <a:rPr lang="en-US" sz="145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into</a:t>
            </a:r>
            <a:r>
              <a:rPr lang="en-US" sz="145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the</a:t>
            </a:r>
            <a:r>
              <a:rPr lang="en-US" sz="145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4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essay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66"/>
              </a:spcBef>
              <a:tabLst>
                <a:tab pos="28440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These</a:t>
            </a:r>
            <a:r>
              <a:rPr lang="en-US" sz="1350" b="0" strike="noStrike" spc="-2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take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two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forms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927000" lvl="1" indent="-33264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Tahoma"/>
              <a:buChar char="●"/>
              <a:tabLst>
                <a:tab pos="926640" algn="l"/>
                <a:tab pos="92700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Narrative</a:t>
            </a:r>
            <a:r>
              <a:rPr lang="en-US" sz="1350" b="0" strike="noStrike" spc="-5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form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927000" lvl="1" indent="-332640">
              <a:lnSpc>
                <a:spcPct val="100000"/>
              </a:lnSpc>
              <a:spcBef>
                <a:spcPts val="244"/>
              </a:spcBef>
              <a:buClr>
                <a:srgbClr val="FFFFFF"/>
              </a:buClr>
              <a:buFont typeface="Tahoma"/>
              <a:buChar char="●"/>
              <a:tabLst>
                <a:tab pos="926640" algn="l"/>
                <a:tab pos="92700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Montage</a:t>
            </a:r>
            <a:r>
              <a:rPr lang="en-US" sz="1350" b="0" strike="noStrike" spc="-5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form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40"/>
              </a:spcBef>
              <a:tabLst>
                <a:tab pos="926640" algn="l"/>
                <a:tab pos="927000" algn="l"/>
              </a:tabLst>
            </a:pP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The</a:t>
            </a:r>
            <a:r>
              <a:rPr lang="en-US" sz="1350" b="0" u="heavy" strike="noStrike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Narrative</a:t>
            </a:r>
            <a:r>
              <a:rPr lang="en-US" sz="1350" b="0" u="heavy" strike="noStrike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essay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9960">
              <a:lnSpc>
                <a:spcPts val="3240"/>
              </a:lnSpc>
              <a:spcBef>
                <a:spcPts val="204"/>
              </a:spcBef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This involves narrating your story in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prose culmination of events. An event leads to another which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sequentially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escalates the narrative to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climax.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69840" indent="-399960">
              <a:lnSpc>
                <a:spcPct val="100000"/>
              </a:lnSpc>
              <a:spcBef>
                <a:spcPts val="1239"/>
              </a:spcBef>
              <a:tabLst>
                <a:tab pos="46944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This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common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for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vulnerable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essays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with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suitable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anecdotes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in play.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69840" indent="-399960">
              <a:lnSpc>
                <a:spcPct val="100000"/>
              </a:lnSpc>
              <a:spcBef>
                <a:spcPts val="1621"/>
              </a:spcBef>
              <a:tabLst>
                <a:tab pos="46944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essay can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begin with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third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person point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 view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to enchant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 reader(s).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02840" y="620640"/>
            <a:ext cx="801540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700" b="0" strike="noStrike" spc="63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27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700" b="0" strike="noStrike" spc="-46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27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7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2700" b="0" strike="noStrike" spc="9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700" b="0" strike="noStrike" spc="-52">
                <a:solidFill>
                  <a:srgbClr val="FFFFFF"/>
                </a:solidFill>
                <a:latin typeface="Georgia"/>
              </a:rPr>
              <a:t>YOUR</a:t>
            </a:r>
            <a:r>
              <a:rPr lang="en-US" sz="27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7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2700" b="0" strike="noStrike" spc="9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700" b="0" strike="noStrike" spc="18">
                <a:solidFill>
                  <a:srgbClr val="FFFFFF"/>
                </a:solidFill>
                <a:latin typeface="Georgia"/>
              </a:rPr>
              <a:t>STATEMENT</a:t>
            </a:r>
            <a:endParaRPr lang="en-US" sz="27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3" name="object 4"/>
          <p:cNvPicPr/>
          <p:nvPr/>
        </p:nvPicPr>
        <p:blipFill>
          <a:blip r:embed="rId2"/>
          <a:stretch/>
        </p:blipFill>
        <p:spPr>
          <a:xfrm>
            <a:off x="253440" y="1489680"/>
            <a:ext cx="6604200" cy="3569040"/>
          </a:xfrm>
          <a:prstGeom prst="rect">
            <a:avLst/>
          </a:prstGeom>
          <a:ln w="0">
            <a:noFill/>
          </a:ln>
        </p:spPr>
      </p:pic>
      <p:sp>
        <p:nvSpPr>
          <p:cNvPr id="234" name="object 5"/>
          <p:cNvSpPr/>
          <p:nvPr/>
        </p:nvSpPr>
        <p:spPr>
          <a:xfrm>
            <a:off x="383760" y="1555920"/>
            <a:ext cx="6382080" cy="206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1220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narrative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should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portray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continuous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flow of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ideas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with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no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paragraph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>
              <a:lnSpc>
                <a:spcPct val="100000"/>
              </a:lnSpc>
              <a:spcBef>
                <a:spcPts val="1295"/>
              </a:spcBef>
              <a:tabLst>
                <a:tab pos="41220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deflecting</a:t>
            </a:r>
            <a:r>
              <a:rPr lang="en-US" sz="1350" b="0" strike="noStrike" spc="-2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from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main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plot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18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Your narrative should explore styles of vivid description, self expression,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organization and uniqueness. You want the AO to have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complete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knowledge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 who you are.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18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 greatest way you can have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a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connection with the reader is to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establish an emotional stand. Keeping in mind that what affects the heart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affects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 mind more.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object 6"/>
          <p:cNvPicPr/>
          <p:nvPr/>
        </p:nvPicPr>
        <p:blipFill>
          <a:blip r:embed="rId3"/>
          <a:stretch/>
        </p:blipFill>
        <p:spPr>
          <a:xfrm>
            <a:off x="6858000" y="1788120"/>
            <a:ext cx="1980720" cy="2972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66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8" name="object 4"/>
          <p:cNvPicPr/>
          <p:nvPr/>
        </p:nvPicPr>
        <p:blipFill>
          <a:blip r:embed="rId2"/>
          <a:stretch/>
        </p:blipFill>
        <p:spPr>
          <a:xfrm>
            <a:off x="193320" y="1489680"/>
            <a:ext cx="6326280" cy="3436200"/>
          </a:xfrm>
          <a:prstGeom prst="rect">
            <a:avLst/>
          </a:prstGeom>
          <a:ln w="0">
            <a:noFill/>
          </a:ln>
        </p:spPr>
      </p:pic>
      <p:sp>
        <p:nvSpPr>
          <p:cNvPr id="239" name="object 5"/>
          <p:cNvSpPr/>
          <p:nvPr/>
        </p:nvSpPr>
        <p:spPr>
          <a:xfrm>
            <a:off x="193320" y="1489680"/>
            <a:ext cx="6326640" cy="234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840" rIns="0" bIns="0" anchor="t">
            <a:spAutoFit/>
          </a:bodyPr>
          <a:lstStyle/>
          <a:p>
            <a:pPr marL="142920">
              <a:lnSpc>
                <a:spcPct val="100000"/>
              </a:lnSpc>
              <a:spcBef>
                <a:spcPts val="621"/>
              </a:spcBef>
              <a:tabLst>
                <a:tab pos="54216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should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four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parts: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000080" indent="-332640">
              <a:lnSpc>
                <a:spcPct val="100000"/>
              </a:lnSpc>
              <a:spcBef>
                <a:spcPts val="1621"/>
              </a:spcBef>
              <a:buClr>
                <a:srgbClr val="FFFFFF"/>
              </a:buClr>
              <a:buFont typeface="Tahoma"/>
              <a:buChar char="○"/>
              <a:tabLst>
                <a:tab pos="999360" algn="l"/>
                <a:tab pos="1000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Status</a:t>
            </a:r>
            <a:r>
              <a:rPr lang="en-US" sz="1350" b="0" strike="noStrike" spc="-5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Quo (the current state of events)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000080" indent="-332640">
              <a:lnSpc>
                <a:spcPct val="100000"/>
              </a:lnSpc>
              <a:spcBef>
                <a:spcPts val="1621"/>
              </a:spcBef>
              <a:buClr>
                <a:srgbClr val="FFFFFF"/>
              </a:buClr>
              <a:buFont typeface="Tahoma"/>
              <a:buChar char="○"/>
              <a:tabLst>
                <a:tab pos="999360" algn="l"/>
                <a:tab pos="1000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Incident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changes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status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">
                <a:solidFill>
                  <a:srgbClr val="FFFFFF"/>
                </a:solidFill>
                <a:latin typeface="Comic Sans MS"/>
              </a:rPr>
              <a:t>quo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000080" indent="-332640">
              <a:lnSpc>
                <a:spcPct val="100000"/>
              </a:lnSpc>
              <a:spcBef>
                <a:spcPts val="1621"/>
              </a:spcBef>
              <a:buClr>
                <a:srgbClr val="FFFFFF"/>
              </a:buClr>
              <a:buFont typeface="Tahoma"/>
              <a:buChar char="○"/>
              <a:tabLst>
                <a:tab pos="999360" algn="l"/>
                <a:tab pos="1000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Raise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stakes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climax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000080" indent="-332640">
              <a:lnSpc>
                <a:spcPct val="100000"/>
              </a:lnSpc>
              <a:spcBef>
                <a:spcPts val="1621"/>
              </a:spcBef>
              <a:buClr>
                <a:srgbClr val="FFFFFF"/>
              </a:buClr>
              <a:buFont typeface="Tahoma"/>
              <a:buChar char="○"/>
              <a:tabLst>
                <a:tab pos="999360" algn="l"/>
                <a:tab pos="1000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Moment</a:t>
            </a:r>
            <a:r>
              <a:rPr lang="en-US" sz="1350" b="0" strike="noStrike" spc="-3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350" b="0" strike="noStrike" spc="-3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truth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000080" indent="-332640">
              <a:lnSpc>
                <a:spcPct val="100000"/>
              </a:lnSpc>
              <a:spcBef>
                <a:spcPts val="1621"/>
              </a:spcBef>
              <a:buClr>
                <a:srgbClr val="FFFFFF"/>
              </a:buClr>
              <a:buFont typeface="Tahoma"/>
              <a:buChar char="○"/>
              <a:tabLst>
                <a:tab pos="999360" algn="l"/>
                <a:tab pos="1000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Outcome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object 6"/>
          <p:cNvPicPr/>
          <p:nvPr/>
        </p:nvPicPr>
        <p:blipFill>
          <a:blip r:embed="rId3"/>
          <a:stretch/>
        </p:blipFill>
        <p:spPr>
          <a:xfrm>
            <a:off x="6519960" y="2076840"/>
            <a:ext cx="2623680" cy="1955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3"/>
          <p:cNvSpPr/>
          <p:nvPr/>
        </p:nvSpPr>
        <p:spPr>
          <a:xfrm>
            <a:off x="460800" y="115920"/>
            <a:ext cx="5692320" cy="9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PERSONAL </a:t>
            </a:r>
            <a:r>
              <a:rPr lang="en-US" sz="3000" b="0" strike="noStrike" spc="-70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object 4"/>
          <p:cNvPicPr/>
          <p:nvPr/>
        </p:nvPicPr>
        <p:blipFill>
          <a:blip r:embed="rId2"/>
          <a:stretch/>
        </p:blipFill>
        <p:spPr>
          <a:xfrm>
            <a:off x="387720" y="1361160"/>
            <a:ext cx="8367840" cy="1411560"/>
          </a:xfrm>
          <a:prstGeom prst="rect">
            <a:avLst/>
          </a:prstGeom>
          <a:ln w="0">
            <a:noFill/>
          </a:ln>
        </p:spPr>
      </p:pic>
      <p:sp>
        <p:nvSpPr>
          <p:cNvPr id="244" name="object 5"/>
          <p:cNvSpPr/>
          <p:nvPr/>
        </p:nvSpPr>
        <p:spPr>
          <a:xfrm>
            <a:off x="460800" y="1427400"/>
            <a:ext cx="576612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An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example of </a:t>
            </a:r>
            <a:r>
              <a:rPr lang="en-US" sz="1350" b="0" strike="noStrike" spc="-1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good</a:t>
            </a:r>
            <a:r>
              <a:rPr lang="en-US" sz="1350" b="0" strike="noStrike" spc="3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u="heavy" strike="noStrike" spc="-7" dirty="0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3"/>
              </a:rPr>
              <a:t>personal narrative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.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You can also</a:t>
            </a:r>
            <a:r>
              <a:rPr lang="en-US" sz="135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 dirty="0">
                <a:solidFill>
                  <a:srgbClr val="FFFFFF"/>
                </a:solidFill>
                <a:latin typeface="Comic Sans MS"/>
              </a:rPr>
              <a:t>find another</a:t>
            </a:r>
            <a:r>
              <a:rPr lang="en-US" sz="1350" b="0" strike="noStrike" spc="3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u="heavy" strike="noStrike" spc="-7" dirty="0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4"/>
              </a:rPr>
              <a:t>here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object 6"/>
          <p:cNvPicPr/>
          <p:nvPr/>
        </p:nvPicPr>
        <p:blipFill>
          <a:blip r:embed="rId5"/>
          <a:stretch/>
        </p:blipFill>
        <p:spPr>
          <a:xfrm>
            <a:off x="3211200" y="1863360"/>
            <a:ext cx="2848680" cy="3279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266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8" name="object 4"/>
          <p:cNvPicPr/>
          <p:nvPr/>
        </p:nvPicPr>
        <p:blipFill>
          <a:blip r:embed="rId2"/>
          <a:stretch/>
        </p:blipFill>
        <p:spPr>
          <a:xfrm>
            <a:off x="193320" y="1489680"/>
            <a:ext cx="6471360" cy="3520800"/>
          </a:xfrm>
          <a:prstGeom prst="rect">
            <a:avLst/>
          </a:prstGeom>
          <a:ln w="0">
            <a:noFill/>
          </a:ln>
        </p:spPr>
      </p:pic>
      <p:sp>
        <p:nvSpPr>
          <p:cNvPr id="249" name="object 5"/>
          <p:cNvSpPr/>
          <p:nvPr/>
        </p:nvSpPr>
        <p:spPr>
          <a:xfrm>
            <a:off x="266400" y="1548720"/>
            <a:ext cx="6302520" cy="29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25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Montage</a:t>
            </a:r>
            <a:r>
              <a:rPr lang="en-US" sz="1250" b="1" u="heavy" strike="noStrike" spc="-5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1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Essay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ts val="2701"/>
              </a:lnSpc>
              <a:spcBef>
                <a:spcPts val="275"/>
              </a:spcBef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Montage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technique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involves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using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separate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elements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(pictures,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words,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music, etc.) to create a new whole. A montage essay is an essay usually 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exploring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different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aspects of yourself by alluding to essence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objects.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79200" indent="-390600">
              <a:lnSpc>
                <a:spcPct val="100000"/>
              </a:lnSpc>
              <a:spcBef>
                <a:spcPts val="904"/>
              </a:spcBef>
              <a:tabLst>
                <a:tab pos="46944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Essence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objects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are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one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that you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identify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with.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One that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allude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ct val="100000"/>
              </a:lnSpc>
              <a:spcBef>
                <a:spcPts val="1196"/>
              </a:spcBef>
              <a:tabLst>
                <a:tab pos="46944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different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parts of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your identity, values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or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traits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ct val="179000"/>
              </a:lnSpc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can use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different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objects to talk about yourself. But what will weave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them </a:t>
            </a:r>
            <a:r>
              <a:rPr lang="en-US" sz="1250" b="0" strike="noStrike" spc="-35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together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is your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theme.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69800" indent="-390600">
              <a:lnSpc>
                <a:spcPct val="179000"/>
              </a:lnSpc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Think of this as an unsolved Rubiks cube. But with good craft you can make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the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 common block of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ideas.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object 6"/>
          <p:cNvPicPr/>
          <p:nvPr/>
        </p:nvPicPr>
        <p:blipFill>
          <a:blip r:embed="rId3"/>
          <a:stretch/>
        </p:blipFill>
        <p:spPr>
          <a:xfrm>
            <a:off x="6664680" y="2199960"/>
            <a:ext cx="2367360" cy="210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302400" y="573120"/>
            <a:ext cx="81410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PERSONAL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3" name="object 4"/>
          <p:cNvPicPr/>
          <p:nvPr/>
        </p:nvPicPr>
        <p:blipFill>
          <a:blip r:embed="rId2"/>
          <a:stretch/>
        </p:blipFill>
        <p:spPr>
          <a:xfrm>
            <a:off x="229320" y="1504440"/>
            <a:ext cx="5988240" cy="3423960"/>
          </a:xfrm>
          <a:prstGeom prst="rect">
            <a:avLst/>
          </a:prstGeom>
          <a:ln w="0">
            <a:noFill/>
          </a:ln>
        </p:spPr>
      </p:pic>
      <p:sp>
        <p:nvSpPr>
          <p:cNvPr id="254" name="object 5"/>
          <p:cNvSpPr/>
          <p:nvPr/>
        </p:nvSpPr>
        <p:spPr>
          <a:xfrm>
            <a:off x="388080" y="1520280"/>
            <a:ext cx="5723640" cy="17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384120" indent="-371520">
              <a:lnSpc>
                <a:spcPct val="132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US" sz="1100" b="0" strike="noStrike" spc="18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Finding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a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Thematic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Thread</a:t>
            </a:r>
            <a:r>
              <a:rPr lang="en-US" sz="1100" b="0" strike="noStrike" spc="43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18">
                <a:solidFill>
                  <a:srgbClr val="FFFFFF"/>
                </a:solidFill>
                <a:latin typeface="Tahoma"/>
              </a:rPr>
              <a:t>→</a:t>
            </a:r>
            <a:r>
              <a:rPr lang="en-US" sz="1100" b="0" strike="noStrike" spc="-1">
                <a:solidFill>
                  <a:srgbClr val="FFFFFF"/>
                </a:solidFill>
                <a:latin typeface="Tahoma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If</a:t>
            </a:r>
            <a:r>
              <a:rPr lang="en-US" sz="1100" b="0" strike="noStrike" spc="1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you’re</a:t>
            </a:r>
            <a:r>
              <a:rPr lang="en-US" sz="1100" b="0" strike="noStrike" spc="1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going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00" b="0" strike="noStrike" spc="1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build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montage,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need</a:t>
            </a:r>
            <a:r>
              <a:rPr lang="en-US" sz="1100" b="0" strike="noStrike" spc="1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find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a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way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make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the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different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experiences 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you’ll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use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feel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connected. Think of </a:t>
            </a:r>
            <a:r>
              <a:rPr lang="en-US" sz="1100" b="0" strike="noStrike" spc="-31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it this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way: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if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I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just had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paragraph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on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growing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up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Latin America,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speaking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of </a:t>
            </a:r>
            <a:r>
              <a:rPr lang="en-US" sz="1100" b="0" strike="noStrike" spc="-31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which religion,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speaking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of which literature is important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 me, speaking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of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which… you’re going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 feel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understandably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confused.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marL="384120" indent="-371520">
              <a:lnSpc>
                <a:spcPct val="132000"/>
              </a:lnSpc>
              <a:tabLst>
                <a:tab pos="0" algn="l"/>
              </a:tabLst>
            </a:pPr>
            <a:r>
              <a:rPr lang="en-US" sz="1100" b="0" strike="noStrike" spc="18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So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I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need</a:t>
            </a:r>
            <a:r>
              <a:rPr lang="en-US" sz="1100" b="0" strike="noStrike" spc="2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something</a:t>
            </a:r>
            <a:r>
              <a:rPr lang="en-US" sz="1100" b="0" strike="noStrike" spc="1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threads</a:t>
            </a:r>
            <a:r>
              <a:rPr lang="en-US" sz="1100" b="0" strike="noStrike" spc="2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pieces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together.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100" b="0" strike="noStrike" spc="2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sample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essay below (“Laptop Stickers”)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was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written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by a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student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who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collected stickers </a:t>
            </a:r>
            <a:r>
              <a:rPr lang="en-US" sz="1100" b="0" strike="noStrike" spc="-316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on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her laptop.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Each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sticker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connected to different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values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experiences.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marL="384120" indent="-371520">
              <a:lnSpc>
                <a:spcPct val="100000"/>
              </a:lnSpc>
              <a:spcBef>
                <a:spcPts val="431"/>
              </a:spcBef>
              <a:tabLst>
                <a:tab pos="0" algn="l"/>
              </a:tabLst>
            </a:pP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Stickers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are</a:t>
            </a:r>
            <a:r>
              <a:rPr lang="en-US" sz="110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her</a:t>
            </a:r>
            <a:r>
              <a:rPr lang="en-US" sz="110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thematic</a:t>
            </a:r>
            <a:r>
              <a:rPr lang="en-US" sz="110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thread.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object 6"/>
          <p:cNvSpPr/>
          <p:nvPr/>
        </p:nvSpPr>
        <p:spPr>
          <a:xfrm>
            <a:off x="302400" y="4035960"/>
            <a:ext cx="5711400" cy="53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Examples: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u="heavy" strike="noStrike" spc="12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3"/>
              </a:rPr>
              <a:t>A</a:t>
            </a:r>
            <a:r>
              <a:rPr lang="en-US" sz="1100" b="0" u="heavy" strike="noStrike" spc="9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3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3"/>
              </a:rPr>
              <a:t>Laptop Montage essay</a:t>
            </a:r>
            <a:r>
              <a:rPr lang="en-US" sz="1100" b="0" u="sng" strike="noStrike" spc="32">
                <a:solidFill>
                  <a:srgbClr val="8BC34A"/>
                </a:solidFill>
                <a:uFillTx/>
                <a:latin typeface="Comic Sans MS"/>
                <a:hlinkClick r:id="rId3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u="heavy" strike="noStrike" spc="12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4"/>
              </a:rPr>
              <a:t>A</a:t>
            </a:r>
            <a:r>
              <a:rPr lang="en-US" sz="1100" b="0" u="heavy" strike="noStrike" spc="9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4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4"/>
              </a:rPr>
              <a:t>Dance Montage</a:t>
            </a:r>
            <a:r>
              <a:rPr lang="en-US" sz="1100" b="0" u="heavy" strike="noStrike" spc="9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4"/>
              </a:rPr>
              <a:t> essay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97000"/>
              </a:lnSpc>
              <a:spcBef>
                <a:spcPts val="1154"/>
              </a:spcBef>
            </a:pP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More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 about both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essays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can 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be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found</a:t>
            </a:r>
            <a:r>
              <a:rPr lang="en-US" sz="1100" b="0" strike="noStrike" spc="38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5"/>
              </a:rPr>
              <a:t>here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.</a:t>
            </a:r>
            <a:r>
              <a:rPr lang="en-US" sz="110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Check</a:t>
            </a:r>
            <a:r>
              <a:rPr lang="en-US" sz="11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out other resources</a:t>
            </a:r>
            <a:r>
              <a:rPr lang="en-US" sz="1100" b="0" strike="noStrike" spc="3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6"/>
              </a:rPr>
              <a:t>here</a:t>
            </a:r>
            <a:r>
              <a:rPr lang="en-US" sz="1400" b="0" strike="noStrike" spc="4">
                <a:solidFill>
                  <a:srgbClr val="FFFFFF"/>
                </a:solidFill>
                <a:latin typeface="Roboto"/>
              </a:rPr>
              <a:t>,</a:t>
            </a:r>
            <a:r>
              <a:rPr lang="en-US" sz="1400" b="0" strike="noStrike" spc="-1">
                <a:solidFill>
                  <a:srgbClr val="FFFFFF"/>
                </a:solidFill>
                <a:latin typeface="Roboto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7"/>
              </a:rPr>
              <a:t>here</a:t>
            </a:r>
            <a:r>
              <a:rPr lang="en-US" sz="1100" b="0" u="sng" strike="noStrike" spc="9">
                <a:solidFill>
                  <a:srgbClr val="8BC34A"/>
                </a:solidFill>
                <a:uFillTx/>
                <a:latin typeface="Comic Sans MS"/>
                <a:hlinkClick r:id="rId7"/>
              </a:rPr>
              <a:t> </a:t>
            </a:r>
            <a:r>
              <a:rPr lang="en-US" sz="1100" b="0" strike="noStrike" spc="4">
                <a:solidFill>
                  <a:srgbClr val="FFFFFF"/>
                </a:solidFill>
                <a:latin typeface="Comic Sans MS"/>
              </a:rPr>
              <a:t>and </a:t>
            </a:r>
            <a:r>
              <a:rPr lang="en-US" sz="1100" b="0" strike="noStrike" spc="-31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100" b="0" u="heavy" strike="noStrike" spc="4">
                <a:solidFill>
                  <a:srgbClr val="8BC34A"/>
                </a:solidFill>
                <a:uFill>
                  <a:solidFill>
                    <a:srgbClr val="8BC34A"/>
                  </a:solidFill>
                </a:uFill>
                <a:latin typeface="Comic Sans MS"/>
                <a:hlinkClick r:id="rId8"/>
              </a:rPr>
              <a:t>here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object 7"/>
          <p:cNvPicPr/>
          <p:nvPr/>
        </p:nvPicPr>
        <p:blipFill>
          <a:blip r:embed="rId9"/>
          <a:stretch/>
        </p:blipFill>
        <p:spPr>
          <a:xfrm>
            <a:off x="6217920" y="1921320"/>
            <a:ext cx="2925720" cy="2333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object 2"/>
          <p:cNvGrpSpPr/>
          <p:nvPr/>
        </p:nvGrpSpPr>
        <p:grpSpPr>
          <a:xfrm>
            <a:off x="387720" y="1258560"/>
            <a:ext cx="8367840" cy="1247040"/>
            <a:chOff x="387720" y="1258560"/>
            <a:chExt cx="8367840" cy="1247040"/>
          </a:xfrm>
        </p:grpSpPr>
        <p:sp>
          <p:nvSpPr>
            <p:cNvPr id="258" name="object 3"/>
            <p:cNvSpPr/>
            <p:nvPr/>
          </p:nvSpPr>
          <p:spPr>
            <a:xfrm>
              <a:off x="492480" y="1258560"/>
              <a:ext cx="424440" cy="360"/>
            </a:xfrm>
            <a:custGeom>
              <a:avLst/>
              <a:gdLst>
                <a:gd name="textAreaLeft" fmla="*/ 0 w 424440"/>
                <a:gd name="textAreaRight" fmla="*/ 424800 w 424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24815">
                  <a:moveTo>
                    <a:pt x="0" y="0"/>
                  </a:moveTo>
                  <a:lnTo>
                    <a:pt x="424799" y="0"/>
                  </a:lnTo>
                </a:path>
              </a:pathLst>
            </a:custGeom>
            <a:noFill/>
            <a:ln w="34441">
              <a:solidFill>
                <a:srgbClr val="039BE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9" name="object 4"/>
            <p:cNvPicPr/>
            <p:nvPr/>
          </p:nvPicPr>
          <p:blipFill>
            <a:blip r:embed="rId2"/>
            <a:stretch/>
          </p:blipFill>
          <p:spPr>
            <a:xfrm>
              <a:off x="387720" y="1275840"/>
              <a:ext cx="8367840" cy="1229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60" name="object 5"/>
          <p:cNvSpPr/>
          <p:nvPr/>
        </p:nvSpPr>
        <p:spPr>
          <a:xfrm>
            <a:off x="460800" y="115920"/>
            <a:ext cx="5692320" cy="9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STEPS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WRITE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PERSONAL </a:t>
            </a:r>
            <a:r>
              <a:rPr lang="en-US" sz="3000" b="0" strike="noStrike" spc="-70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4">
                <a:solidFill>
                  <a:srgbClr val="FFFFFF"/>
                </a:solidFill>
                <a:latin typeface="Georgia"/>
              </a:rPr>
              <a:t>STATEMENT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object 6"/>
          <p:cNvSpPr/>
          <p:nvPr/>
        </p:nvSpPr>
        <p:spPr>
          <a:xfrm>
            <a:off x="537120" y="1342440"/>
            <a:ext cx="3106080" cy="8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39312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5.</a:t>
            </a:r>
            <a:r>
              <a:rPr lang="en-US" sz="120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Write</a:t>
            </a:r>
            <a:r>
              <a:rPr lang="en-US" sz="120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your</a:t>
            </a:r>
            <a:r>
              <a:rPr lang="en-US" sz="120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first</a:t>
            </a:r>
            <a:r>
              <a:rPr lang="en-US" sz="120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of</a:t>
            </a:r>
            <a:r>
              <a:rPr lang="en-US" sz="1200" b="1" u="heavy" strike="noStrike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many</a:t>
            </a:r>
            <a:r>
              <a:rPr lang="en-US" sz="120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drafts.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51"/>
              </a:spcBef>
              <a:tabLst>
                <a:tab pos="39312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6.</a:t>
            </a:r>
            <a:r>
              <a:rPr lang="en-US" sz="1200" b="1" u="heavy" strike="noStrike" spc="-3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Revising</a:t>
            </a:r>
            <a:r>
              <a:rPr lang="en-US" sz="1200" b="1" u="heavy" strike="noStrike" spc="-26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the</a:t>
            </a:r>
            <a:r>
              <a:rPr lang="en-US" sz="1200" b="1" u="heavy" strike="noStrike" spc="-3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essay.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51"/>
              </a:spcBef>
              <a:tabLst>
                <a:tab pos="39312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7.</a:t>
            </a:r>
            <a:r>
              <a:rPr lang="en-US" sz="1200" b="1" u="heavy" strike="noStrike" spc="-26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Draft</a:t>
            </a:r>
            <a:r>
              <a:rPr lang="en-US" sz="120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again.</a:t>
            </a:r>
            <a:r>
              <a:rPr lang="en-US" sz="1200" b="1" u="heavy" strike="noStrike" spc="-26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Revise.</a:t>
            </a:r>
            <a:r>
              <a:rPr lang="en-US" sz="1200" b="1" u="heavy" strike="noStrike" spc="-2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00" b="1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Repeat.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object 7"/>
          <p:cNvPicPr/>
          <p:nvPr/>
        </p:nvPicPr>
        <p:blipFill>
          <a:blip r:embed="rId3"/>
          <a:stretch/>
        </p:blipFill>
        <p:spPr>
          <a:xfrm>
            <a:off x="3457440" y="2184480"/>
            <a:ext cx="2795400" cy="2958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60800" y="573120"/>
            <a:ext cx="49316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97">
                <a:solidFill>
                  <a:srgbClr val="FFFFFF"/>
                </a:solidFill>
                <a:latin typeface="Georgia"/>
              </a:rPr>
              <a:t>WHY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46">
                <a:solidFill>
                  <a:srgbClr val="FFFFFF"/>
                </a:solidFill>
                <a:latin typeface="Georgia"/>
              </a:rPr>
              <a:t>IS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9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21">
                <a:solidFill>
                  <a:srgbClr val="FFFFFF"/>
                </a:solidFill>
                <a:latin typeface="Georgia"/>
              </a:rPr>
              <a:t>IMPORTANT?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5" name="object 4"/>
          <p:cNvPicPr/>
          <p:nvPr/>
        </p:nvPicPr>
        <p:blipFill>
          <a:blip r:embed="rId2"/>
          <a:stretch/>
        </p:blipFill>
        <p:spPr>
          <a:xfrm>
            <a:off x="141480" y="1522080"/>
            <a:ext cx="6978600" cy="3531960"/>
          </a:xfrm>
          <a:prstGeom prst="rect">
            <a:avLst/>
          </a:prstGeom>
          <a:ln w="0">
            <a:noFill/>
          </a:ln>
        </p:spPr>
      </p:pic>
      <p:sp>
        <p:nvSpPr>
          <p:cNvPr id="266" name="object 5"/>
          <p:cNvSpPr/>
          <p:nvPr/>
        </p:nvSpPr>
        <p:spPr>
          <a:xfrm>
            <a:off x="242280" y="1505880"/>
            <a:ext cx="6762240" cy="182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442080" indent="-399960">
              <a:lnSpc>
                <a:spcPct val="139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Showcases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writing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ability(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good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indication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35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academic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prowess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besides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grades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and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SAT)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42080" indent="-399960">
              <a:lnSpc>
                <a:spcPct val="139000"/>
              </a:lnSpc>
              <a:tabLst>
                <a:tab pos="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It’s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window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through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which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admission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officers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get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insight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into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your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personality.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42080" indent="-399960">
              <a:lnSpc>
                <a:spcPct val="139000"/>
              </a:lnSpc>
              <a:tabLst>
                <a:tab pos="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It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is the one part that you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control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over and can be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used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as a way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to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promote yourself.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760" indent="-399960">
              <a:lnSpc>
                <a:spcPct val="100000"/>
              </a:lnSpc>
              <a:spcBef>
                <a:spcPts val="646"/>
              </a:spcBef>
              <a:tabLst>
                <a:tab pos="442080" algn="l"/>
              </a:tabLst>
            </a:pPr>
            <a:r>
              <a:rPr lang="en-US" sz="13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Can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used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to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distinguish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students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who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have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similar</a:t>
            </a:r>
            <a:r>
              <a:rPr lang="en-US" sz="13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academic</a:t>
            </a:r>
            <a:r>
              <a:rPr lang="en-US" sz="13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qualifications.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760" indent="-399960">
              <a:lnSpc>
                <a:spcPct val="100000"/>
              </a:lnSpc>
              <a:spcBef>
                <a:spcPts val="11"/>
              </a:spcBef>
              <a:tabLst>
                <a:tab pos="442080" algn="l"/>
              </a:tabLst>
            </a:pP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6840" indent="-399960" algn="ctr">
              <a:lnSpc>
                <a:spcPct val="100000"/>
              </a:lnSpc>
              <a:tabLst>
                <a:tab pos="442080" algn="l"/>
              </a:tabLst>
            </a:pP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Basically,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 the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essay(s)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bring(s)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 the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application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to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life.</a:t>
            </a:r>
            <a:r>
              <a:rPr lang="en-US" sz="90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Admissions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6840" indent="-399960">
              <a:lnSpc>
                <a:spcPct val="100000"/>
              </a:lnSpc>
              <a:spcBef>
                <a:spcPts val="6"/>
              </a:spcBef>
              <a:tabLst>
                <a:tab pos="44208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840" indent="-399960" algn="ctr">
              <a:lnSpc>
                <a:spcPct val="100000"/>
              </a:lnSpc>
              <a:tabLst>
                <a:tab pos="442080" algn="l"/>
              </a:tabLst>
            </a:pP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officers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are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able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to have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put a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person behind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all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 the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numbers, ranks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and achievements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shown 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in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the rest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900" b="0" strike="noStrike" spc="9">
                <a:solidFill>
                  <a:srgbClr val="FFFFFF"/>
                </a:solidFill>
                <a:latin typeface="Comic Sans MS"/>
              </a:rPr>
              <a:t>of the</a:t>
            </a:r>
            <a:r>
              <a:rPr lang="en-US" sz="900" b="0" strike="noStrike" spc="4">
                <a:solidFill>
                  <a:srgbClr val="FFFFFF"/>
                </a:solidFill>
                <a:latin typeface="Comic Sans MS"/>
              </a:rPr>
              <a:t> application.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object 6"/>
          <p:cNvPicPr/>
          <p:nvPr/>
        </p:nvPicPr>
        <p:blipFill>
          <a:blip r:embed="rId3"/>
          <a:stretch/>
        </p:blipFill>
        <p:spPr>
          <a:xfrm>
            <a:off x="7120440" y="2158200"/>
            <a:ext cx="1987200" cy="2259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60800" y="573120"/>
            <a:ext cx="633636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29">
                <a:solidFill>
                  <a:srgbClr val="FFFFFF"/>
                </a:solidFill>
                <a:latin typeface="Georgia"/>
              </a:rPr>
              <a:t>WHAT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94">
                <a:solidFill>
                  <a:srgbClr val="FFFFFF"/>
                </a:solidFill>
                <a:latin typeface="Georgia"/>
              </a:rPr>
              <a:t>MAKES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PS</a:t>
            </a:r>
            <a:r>
              <a:rPr lang="en-US" sz="3000" b="0" strike="noStrike" spc="4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SUCCESSFUL?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0" name="object 4"/>
          <p:cNvPicPr/>
          <p:nvPr/>
        </p:nvPicPr>
        <p:blipFill>
          <a:blip r:embed="rId2"/>
          <a:stretch/>
        </p:blipFill>
        <p:spPr>
          <a:xfrm>
            <a:off x="387720" y="1489680"/>
            <a:ext cx="6100560" cy="3477960"/>
          </a:xfrm>
          <a:prstGeom prst="rect">
            <a:avLst/>
          </a:prstGeom>
          <a:ln w="0">
            <a:noFill/>
          </a:ln>
        </p:spPr>
      </p:pic>
      <p:sp>
        <p:nvSpPr>
          <p:cNvPr id="271" name="object 5"/>
          <p:cNvSpPr/>
          <p:nvPr/>
        </p:nvSpPr>
        <p:spPr>
          <a:xfrm>
            <a:off x="527760" y="1556640"/>
            <a:ext cx="5652360" cy="258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  <a:tabLst>
                <a:tab pos="40248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You</a:t>
            </a:r>
            <a:r>
              <a:rPr lang="en-US" sz="1250" b="0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can identify the </a:t>
            </a:r>
            <a:r>
              <a:rPr lang="en-US" sz="1250" b="0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applicant’s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core 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values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-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you can clearly see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the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03200">
              <a:lnSpc>
                <a:spcPct val="179000"/>
              </a:lnSpc>
              <a:spcBef>
                <a:spcPts val="6"/>
              </a:spcBef>
              <a:tabLst>
                <a:tab pos="402480" algn="l"/>
              </a:tabLst>
            </a:pP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applicant’s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motivation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and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sense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fulfilment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i.e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hard</a:t>
            </a:r>
            <a:r>
              <a:rPr lang="en-US" sz="1250" b="0" strike="noStrike" spc="4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work,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perseverance,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or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determination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03200" indent="-390600">
              <a:lnSpc>
                <a:spcPct val="179000"/>
              </a:lnSpc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is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vulnerable</a:t>
            </a:r>
            <a:r>
              <a:rPr lang="en-US" sz="1250" b="0" strike="noStrike" spc="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-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more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an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applicants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opens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up,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more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reader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feels closer to the writer. This has an effect of making the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applicant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memorable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03200" indent="-390600">
              <a:lnSpc>
                <a:spcPct val="179000"/>
              </a:lnSpc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 shows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insight and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growth-</a:t>
            </a:r>
            <a:r>
              <a:rPr lang="en-US" sz="1250" b="0" strike="noStrike" spc="29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an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applicant’s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response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to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adversities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is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clearly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brought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out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marL="403200" indent="-390600">
              <a:lnSpc>
                <a:spcPct val="179000"/>
              </a:lnSpc>
              <a:tabLst>
                <a:tab pos="0" algn="l"/>
              </a:tabLst>
            </a:pPr>
            <a:r>
              <a:rPr lang="en-US" sz="1250" b="0" strike="noStrike" spc="-7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 is</a:t>
            </a:r>
            <a:r>
              <a:rPr lang="en-US" sz="1250" b="0" u="heavy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2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crafty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-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is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eloquently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written,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has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vivid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description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and </a:t>
            </a:r>
            <a:r>
              <a:rPr lang="en-US" sz="1250" b="0" strike="noStrike" spc="-36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self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expression,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 has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a stream of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flow, and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7">
                <a:solidFill>
                  <a:srgbClr val="FFFFFF"/>
                </a:solidFill>
                <a:latin typeface="Comic Sans MS"/>
              </a:rPr>
              <a:t>has unique writing</a:t>
            </a:r>
            <a:r>
              <a:rPr lang="en-US" sz="1250" b="0" strike="noStrike" spc="-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250" b="0" strike="noStrike" spc="-12">
                <a:solidFill>
                  <a:srgbClr val="FFFFFF"/>
                </a:solidFill>
                <a:latin typeface="Comic Sans MS"/>
              </a:rPr>
              <a:t>styles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object 6"/>
          <p:cNvPicPr/>
          <p:nvPr/>
        </p:nvPicPr>
        <p:blipFill>
          <a:blip r:embed="rId3"/>
          <a:stretch/>
        </p:blipFill>
        <p:spPr>
          <a:xfrm>
            <a:off x="6488640" y="1489680"/>
            <a:ext cx="2203920" cy="3477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60800" y="573120"/>
            <a:ext cx="615924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29">
                <a:solidFill>
                  <a:srgbClr val="FFFFFF"/>
                </a:solidFill>
                <a:latin typeface="Georgia"/>
              </a:rPr>
              <a:t>WHAT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94">
                <a:solidFill>
                  <a:srgbClr val="FFFFFF"/>
                </a:solidFill>
                <a:latin typeface="Georgia"/>
              </a:rPr>
              <a:t>MAKES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228">
                <a:solidFill>
                  <a:srgbClr val="FFFFFF"/>
                </a:solidFill>
                <a:latin typeface="Georgia"/>
              </a:rPr>
              <a:t>A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69">
                <a:solidFill>
                  <a:srgbClr val="FFFFFF"/>
                </a:solidFill>
                <a:latin typeface="Georgia"/>
              </a:rPr>
              <a:t>PS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 SUCCESSFUL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5" name="object 4"/>
          <p:cNvPicPr/>
          <p:nvPr/>
        </p:nvPicPr>
        <p:blipFill>
          <a:blip r:embed="rId2"/>
          <a:stretch/>
        </p:blipFill>
        <p:spPr>
          <a:xfrm>
            <a:off x="387720" y="1489680"/>
            <a:ext cx="5811120" cy="3553200"/>
          </a:xfrm>
          <a:prstGeom prst="rect">
            <a:avLst/>
          </a:prstGeom>
          <a:ln w="0">
            <a:noFill/>
          </a:ln>
        </p:spPr>
      </p:pic>
      <p:sp>
        <p:nvSpPr>
          <p:cNvPr id="276" name="object 5"/>
          <p:cNvSpPr/>
          <p:nvPr/>
        </p:nvSpPr>
        <p:spPr>
          <a:xfrm>
            <a:off x="518040" y="1555920"/>
            <a:ext cx="5529960" cy="227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1220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It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perfectly</a:t>
            </a:r>
            <a:r>
              <a:rPr lang="en-US" sz="1350" b="0" u="heavy" strike="noStrike" spc="-12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aligns</a:t>
            </a:r>
            <a:r>
              <a:rPr lang="en-US" sz="1350" b="0" strike="noStrike" spc="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with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other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parts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35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application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 is not redundant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- should focus on the areas not mentioned on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other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parts of the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application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12920" indent="-399960">
              <a:lnSpc>
                <a:spcPct val="2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 is creative-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 should show the applicant’s level of rational </a:t>
            </a:r>
            <a:r>
              <a:rPr lang="en-US" sz="1350" b="0" strike="noStrike" spc="-39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thought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his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writing as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well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as in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his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expression</a:t>
            </a:r>
            <a:r>
              <a:rPr lang="en-US" sz="1350" b="0" strike="noStrike" spc="-12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350" b="0" strike="noStrike" spc="-7">
                <a:solidFill>
                  <a:srgbClr val="FFFFFF"/>
                </a:solidFill>
                <a:latin typeface="Comic Sans MS"/>
              </a:rPr>
              <a:t>of ideas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2600" indent="-399960">
              <a:lnSpc>
                <a:spcPct val="100000"/>
              </a:lnSpc>
              <a:spcBef>
                <a:spcPts val="1621"/>
              </a:spcBef>
              <a:tabLst>
                <a:tab pos="41220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It</a:t>
            </a:r>
            <a:r>
              <a:rPr lang="en-US" sz="1350" b="0" u="heavy" strike="noStrike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is</a:t>
            </a:r>
            <a:r>
              <a:rPr lang="en-US" sz="1350" b="0" u="heavy" strike="noStrike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 </a:t>
            </a:r>
            <a:r>
              <a:rPr lang="en-US" sz="1350" b="0" u="heavy" strike="noStrike" spc="-7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mic Sans MS"/>
              </a:rPr>
              <a:t>authentic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object 6"/>
          <p:cNvPicPr/>
          <p:nvPr/>
        </p:nvPicPr>
        <p:blipFill>
          <a:blip r:embed="rId3"/>
          <a:stretch/>
        </p:blipFill>
        <p:spPr>
          <a:xfrm>
            <a:off x="6199560" y="2238480"/>
            <a:ext cx="2867760" cy="175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object 2"/>
          <p:cNvSpPr/>
          <p:nvPr/>
        </p:nvSpPr>
        <p:spPr>
          <a:xfrm>
            <a:off x="492480" y="1260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60800" y="573120"/>
            <a:ext cx="492336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-12">
                <a:solidFill>
                  <a:srgbClr val="FFFFFF"/>
                </a:solidFill>
                <a:latin typeface="Georgia"/>
              </a:rPr>
              <a:t>AWESOME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12">
                <a:solidFill>
                  <a:srgbClr val="FFFFFF"/>
                </a:solidFill>
                <a:latin typeface="Georgia"/>
              </a:rPr>
              <a:t>TRICKS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52">
                <a:solidFill>
                  <a:srgbClr val="FFFFFF"/>
                </a:solidFill>
                <a:latin typeface="Georgia"/>
              </a:rPr>
              <a:t>TO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12">
                <a:solidFill>
                  <a:srgbClr val="FFFFFF"/>
                </a:solidFill>
                <a:latin typeface="Georgia"/>
              </a:rPr>
              <a:t>USE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80" name="object 4"/>
          <p:cNvPicPr/>
          <p:nvPr/>
        </p:nvPicPr>
        <p:blipFill>
          <a:blip r:embed="rId2"/>
          <a:stretch/>
        </p:blipFill>
        <p:spPr>
          <a:xfrm>
            <a:off x="387720" y="1328400"/>
            <a:ext cx="6699240" cy="3670560"/>
          </a:xfrm>
          <a:prstGeom prst="rect">
            <a:avLst/>
          </a:prstGeom>
          <a:ln w="0">
            <a:noFill/>
          </a:ln>
        </p:spPr>
      </p:pic>
      <p:sp>
        <p:nvSpPr>
          <p:cNvPr id="281" name="object 5"/>
          <p:cNvSpPr/>
          <p:nvPr/>
        </p:nvSpPr>
        <p:spPr>
          <a:xfrm>
            <a:off x="508680" y="1308960"/>
            <a:ext cx="6473520" cy="4501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79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771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Start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writing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process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early!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ahead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of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the game!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69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Pick</a:t>
            </a:r>
            <a:r>
              <a:rPr lang="en-US" sz="1400" b="0" strike="noStrike" spc="-1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1" dirty="0">
                <a:solidFill>
                  <a:srgbClr val="FFFFFF"/>
                </a:solidFill>
                <a:latin typeface="Comic Sans MS"/>
              </a:rPr>
              <a:t>a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topic</a:t>
            </a:r>
            <a:r>
              <a:rPr lang="en-US" sz="1400" b="0" strike="noStrike" spc="-1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that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400" b="0" strike="noStrike" spc="-1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are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genuinely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excited</a:t>
            </a:r>
            <a:r>
              <a:rPr lang="en-US" sz="1400" b="0" strike="noStrike" spc="-1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about.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69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Be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as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specific as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can. Avoid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vague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and generic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ideas and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descriptions.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75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Use</a:t>
            </a:r>
            <a:r>
              <a:rPr lang="en-US" sz="1400" b="0" strike="noStrike" spc="-3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400" b="0" strike="noStrike" spc="-26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own</a:t>
            </a:r>
            <a:r>
              <a:rPr lang="en-US" sz="1400" b="0" strike="noStrike" spc="-26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voice.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69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Show,</a:t>
            </a:r>
            <a:r>
              <a:rPr lang="en-US" sz="1400" b="0" strike="noStrike" spc="-3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don’t</a:t>
            </a:r>
            <a:r>
              <a:rPr lang="en-US" sz="1400" b="0" strike="noStrike" spc="-35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tell!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Allow your friends and advisors to read your essay in order to gain an </a:t>
            </a:r>
            <a:r>
              <a:rPr lang="en-US" sz="1400" b="0" strike="noStrike" spc="-406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objective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opinion.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 indent="-409680">
              <a:lnSpc>
                <a:spcPct val="100000"/>
              </a:lnSpc>
              <a:spcBef>
                <a:spcPts val="669"/>
              </a:spcBef>
              <a:tabLst>
                <a:tab pos="42156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Write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at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least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1" dirty="0">
                <a:solidFill>
                  <a:srgbClr val="FFFFFF"/>
                </a:solidFill>
                <a:latin typeface="Comic Sans MS"/>
              </a:rPr>
              <a:t>6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drafts.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Have fun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as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you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engage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with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them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	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Read your essay carefully and objectively, constantly edit and work on ways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that you can improve</a:t>
            </a:r>
            <a:r>
              <a:rPr lang="en-US" sz="1400" b="0" strike="noStrike" spc="-12" dirty="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it.</a:t>
            </a: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FFFFFF"/>
                </a:solidFill>
                <a:latin typeface="MS PGothic"/>
              </a:rPr>
              <a:t>★</a:t>
            </a:r>
            <a:r>
              <a:rPr lang="en-US" sz="1400" spc="-7" dirty="0">
                <a:solidFill>
                  <a:srgbClr val="FFFFFF"/>
                </a:solidFill>
                <a:latin typeface="Comic Sans MS"/>
              </a:rPr>
              <a:t>     Avoid cliches whenever you can! Find examples of cliches to avoid here </a:t>
            </a:r>
            <a:r>
              <a:rPr lang="en-US" sz="1400" spc="-7" dirty="0" err="1">
                <a:solidFill>
                  <a:srgbClr val="FFFFFF"/>
                </a:solidFill>
                <a:latin typeface="Comic Sans MS"/>
                <a:hlinkClick r:id="rId3"/>
              </a:rPr>
              <a:t>here</a:t>
            </a:r>
            <a:r>
              <a:rPr lang="en-US" sz="1400" spc="-7" dirty="0">
                <a:solidFill>
                  <a:srgbClr val="FFFFFF"/>
                </a:solidFill>
                <a:latin typeface="Comic Sans MS"/>
                <a:hlinkClick r:id="rId3"/>
              </a:rPr>
              <a:t>.</a:t>
            </a:r>
            <a:endParaRPr lang="en-US" sz="1400" b="0" strike="noStrike" spc="-7" dirty="0">
              <a:solidFill>
                <a:srgbClr val="FFFFFF"/>
              </a:solidFill>
              <a:latin typeface="Comic Sans MS"/>
            </a:endParaRP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r>
              <a:rPr lang="en-US" sz="1400" b="0" strike="noStrike" spc="-7" dirty="0">
                <a:solidFill>
                  <a:srgbClr val="FFFFFF"/>
                </a:solidFill>
                <a:latin typeface="Comic Sans MS"/>
              </a:rPr>
              <a:t> </a:t>
            </a: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endParaRPr lang="en-US" sz="1400" b="0" strike="noStrike" spc="-7" dirty="0">
              <a:solidFill>
                <a:srgbClr val="FFFFFF"/>
              </a:solidFill>
              <a:latin typeface="Comic Sans MS"/>
            </a:endParaRPr>
          </a:p>
          <a:p>
            <a:pPr marL="422280" indent="-409680">
              <a:lnSpc>
                <a:spcPct val="139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object 6"/>
          <p:cNvPicPr/>
          <p:nvPr/>
        </p:nvPicPr>
        <p:blipFill>
          <a:blip r:embed="rId4"/>
          <a:stretch/>
        </p:blipFill>
        <p:spPr>
          <a:xfrm>
            <a:off x="7087320" y="2052720"/>
            <a:ext cx="2051280" cy="2571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E595-A279-A4CD-B455-3C33D529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Research!</a:t>
            </a:r>
            <a:endParaRPr lang="en-K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D4458-1C98-8EA6-15C7-A80F54B1525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You will have to do a lot of background research and self-introspection before you write your first draft, and you will definitely need a guide!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 found the following resources helpful:</a:t>
            </a:r>
          </a:p>
          <a:p>
            <a:r>
              <a:rPr lang="en-US" dirty="0">
                <a:hlinkClick r:id="rId2"/>
              </a:rPr>
              <a:t>College Essay Guy</a:t>
            </a:r>
            <a:endParaRPr lang="en-US" dirty="0"/>
          </a:p>
          <a:p>
            <a:r>
              <a:rPr lang="en-US" dirty="0">
                <a:hlinkClick r:id="rId3"/>
              </a:rPr>
              <a:t>College Essay Guy YouTube Channel</a:t>
            </a:r>
            <a:endParaRPr lang="en-US" dirty="0"/>
          </a:p>
          <a:p>
            <a:r>
              <a:rPr lang="en-US" dirty="0">
                <a:hlinkClick r:id="rId4"/>
              </a:rPr>
              <a:t>The Princeton Review</a:t>
            </a:r>
            <a:endParaRPr lang="en-US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78326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230560" y="573120"/>
            <a:ext cx="4676400" cy="871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000" b="0" strike="noStrike" spc="-41">
                <a:solidFill>
                  <a:srgbClr val="FFFFFF"/>
                </a:solidFill>
                <a:latin typeface="Georgia"/>
              </a:rPr>
              <a:t>BE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AHEAD </a:t>
            </a:r>
            <a:r>
              <a:rPr lang="en-US" sz="3000" b="0" strike="noStrike" spc="-111">
                <a:solidFill>
                  <a:srgbClr val="FFFFFF"/>
                </a:solidFill>
                <a:latin typeface="Georgia"/>
              </a:rPr>
              <a:t>OF</a:t>
            </a:r>
            <a:r>
              <a:rPr lang="en-US" sz="3000" b="0" strike="noStrike" spc="-7">
                <a:solidFill>
                  <a:srgbClr val="FFFFFF"/>
                </a:solidFill>
                <a:latin typeface="Georgia"/>
              </a:rPr>
              <a:t> </a:t>
            </a:r>
            <a:r>
              <a:rPr lang="en-US" sz="3000" b="0" strike="noStrike" spc="-1">
                <a:solidFill>
                  <a:srgbClr val="FFFFFF"/>
                </a:solidFill>
                <a:latin typeface="Georgia"/>
              </a:rPr>
              <a:t>THE </a:t>
            </a:r>
            <a:r>
              <a:rPr lang="en-US" sz="3000" b="0" strike="noStrike" spc="18">
                <a:solidFill>
                  <a:srgbClr val="FFFFFF"/>
                </a:solidFill>
                <a:latin typeface="Georgia"/>
              </a:rPr>
              <a:t>GAME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bject 2"/>
          <p:cNvSpPr/>
          <p:nvPr/>
        </p:nvSpPr>
        <p:spPr>
          <a:xfrm>
            <a:off x="1524960" y="672480"/>
            <a:ext cx="1081800" cy="1125000"/>
          </a:xfrm>
          <a:custGeom>
            <a:avLst/>
            <a:gdLst>
              <a:gd name="textAreaLeft" fmla="*/ 0 w 1081800"/>
              <a:gd name="textAreaRight" fmla="*/ 1082160 w 1081800"/>
              <a:gd name="textAreaTop" fmla="*/ 0 h 1125000"/>
              <a:gd name="textAreaBottom" fmla="*/ 1125360 h 1125000"/>
            </a:gdLst>
            <a:ahLst/>
            <a:cxnLst/>
            <a:rect l="textAreaLeft" t="textAreaTop" r="textAreaRight" b="textAreaBottom"/>
            <a:pathLst>
              <a:path w="1082039" h="1125220">
                <a:moveTo>
                  <a:pt x="0" y="1124950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noFill/>
          <a:ln w="28574">
            <a:solidFill>
              <a:srgbClr val="8BC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object 3"/>
          <p:cNvSpPr/>
          <p:nvPr/>
        </p:nvSpPr>
        <p:spPr>
          <a:xfrm>
            <a:off x="6537600" y="3342960"/>
            <a:ext cx="1081800" cy="1125000"/>
          </a:xfrm>
          <a:custGeom>
            <a:avLst/>
            <a:gdLst>
              <a:gd name="textAreaLeft" fmla="*/ 0 w 1081800"/>
              <a:gd name="textAreaRight" fmla="*/ 1082160 w 1081800"/>
              <a:gd name="textAreaTop" fmla="*/ 0 h 1125000"/>
              <a:gd name="textAreaBottom" fmla="*/ 1125360 h 1125000"/>
            </a:gdLst>
            <a:ahLst/>
            <a:cxnLst/>
            <a:rect l="textAreaLeft" t="textAreaTop" r="textAreaRight" b="textAreaBottom"/>
            <a:pathLst>
              <a:path w="1082040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noFill/>
          <a:ln w="28574">
            <a:solidFill>
              <a:srgbClr val="8BC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object 4"/>
          <p:cNvSpPr/>
          <p:nvPr/>
        </p:nvSpPr>
        <p:spPr>
          <a:xfrm>
            <a:off x="4359600" y="2817360"/>
            <a:ext cx="424440" cy="360"/>
          </a:xfrm>
          <a:custGeom>
            <a:avLst/>
            <a:gdLst>
              <a:gd name="textAreaLeft" fmla="*/ 0 w 424440"/>
              <a:gd name="textAreaRight" fmla="*/ 424800 w 424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24814">
                <a:moveTo>
                  <a:pt x="0" y="0"/>
                </a:moveTo>
                <a:lnTo>
                  <a:pt x="424799" y="0"/>
                </a:lnTo>
              </a:path>
            </a:pathLst>
          </a:custGeom>
          <a:noFill/>
          <a:ln w="38099">
            <a:solidFill>
              <a:srgbClr val="039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object 5"/>
          <p:cNvSpPr/>
          <p:nvPr/>
        </p:nvSpPr>
        <p:spPr>
          <a:xfrm>
            <a:off x="2517480" y="1918080"/>
            <a:ext cx="4104360" cy="62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000" b="0" strike="noStrike" spc="222">
                <a:solidFill>
                  <a:srgbClr val="FFFFFF"/>
                </a:solidFill>
                <a:latin typeface="Georgia"/>
              </a:rPr>
              <a:t>ANY</a:t>
            </a:r>
            <a:r>
              <a:rPr lang="en-US" sz="4000" b="0" strike="noStrike" spc="-32">
                <a:solidFill>
                  <a:srgbClr val="FFFFFF"/>
                </a:solidFill>
                <a:latin typeface="Georgia"/>
              </a:rPr>
              <a:t> </a:t>
            </a:r>
            <a:r>
              <a:rPr lang="en-US" sz="4000" b="0" strike="noStrike" spc="-75">
                <a:solidFill>
                  <a:srgbClr val="FFFFFF"/>
                </a:solidFill>
                <a:latin typeface="Georgia"/>
              </a:rPr>
              <a:t>QUESTION?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object 6"/>
          <p:cNvSpPr/>
          <p:nvPr/>
        </p:nvSpPr>
        <p:spPr>
          <a:xfrm>
            <a:off x="3687840" y="3110400"/>
            <a:ext cx="1766880" cy="7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109">
                <a:solidFill>
                  <a:srgbClr val="8BC34A"/>
                </a:solidFill>
                <a:latin typeface="Georgia"/>
              </a:rPr>
              <a:t>ASK</a:t>
            </a:r>
            <a:r>
              <a:rPr lang="en-US" sz="2400" b="0" strike="noStrike" spc="-32">
                <a:solidFill>
                  <a:srgbClr val="8BC34A"/>
                </a:solidFill>
                <a:latin typeface="Georgia"/>
              </a:rPr>
              <a:t> </a:t>
            </a:r>
            <a:r>
              <a:rPr lang="en-US" sz="2400" b="0" strike="noStrike" spc="-15">
                <a:solidFill>
                  <a:srgbClr val="8BC34A"/>
                </a:solidFill>
                <a:latin typeface="Georgia"/>
              </a:rPr>
              <a:t>AWAY</a:t>
            </a:r>
            <a:r>
              <a:rPr lang="en-US" sz="2400" b="0" strike="noStrike" spc="-32">
                <a:solidFill>
                  <a:srgbClr val="8BC34A"/>
                </a:solidFill>
                <a:latin typeface="Georgia"/>
              </a:rPr>
              <a:t> </a:t>
            </a:r>
            <a:r>
              <a:rPr lang="en-US" sz="2400" b="0" strike="noStrike" spc="-231">
                <a:solidFill>
                  <a:srgbClr val="8BC34A"/>
                </a:solidFill>
                <a:latin typeface="Georgia"/>
              </a:rPr>
              <a:t>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2"/>
          <p:cNvSpPr/>
          <p:nvPr/>
        </p:nvSpPr>
        <p:spPr>
          <a:xfrm>
            <a:off x="2162520" y="4374000"/>
            <a:ext cx="481356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ALL</a:t>
            </a:r>
            <a:r>
              <a:rPr lang="en-US" sz="180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THE</a:t>
            </a:r>
            <a:r>
              <a:rPr lang="en-US" sz="18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BEST</a:t>
            </a:r>
            <a:r>
              <a:rPr lang="en-US" sz="18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IN</a:t>
            </a:r>
            <a:r>
              <a:rPr lang="en-US" sz="18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YOUR</a:t>
            </a:r>
            <a:r>
              <a:rPr lang="en-US" sz="1800" b="0" strike="noStrike" spc="-15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ESSAY</a:t>
            </a:r>
            <a:r>
              <a:rPr lang="en-US" sz="1800" b="0" strike="noStrike" spc="-21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1800" b="0" strike="noStrike" spc="-7">
                <a:solidFill>
                  <a:srgbClr val="FFFFFF"/>
                </a:solidFill>
                <a:latin typeface="Comic Sans MS"/>
              </a:rPr>
              <a:t>JOURNEY!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object 3"/>
          <p:cNvPicPr/>
          <p:nvPr/>
        </p:nvPicPr>
        <p:blipFill>
          <a:blip r:embed="rId2"/>
          <a:stretch/>
        </p:blipFill>
        <p:spPr>
          <a:xfrm>
            <a:off x="3204000" y="304920"/>
            <a:ext cx="2866680" cy="3928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BC34A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BC34A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BC34A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BC34A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2000</Words>
  <Application>Microsoft Office PowerPoint</Application>
  <PresentationFormat>On-screen Show (16:9)</PresentationFormat>
  <Paragraphs>153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MS PGothic</vt:lpstr>
      <vt:lpstr>Arial</vt:lpstr>
      <vt:lpstr>Calibri</vt:lpstr>
      <vt:lpstr>Comic Sans MS</vt:lpstr>
      <vt:lpstr>Georgia</vt:lpstr>
      <vt:lpstr>Roboto</vt:lpstr>
      <vt:lpstr>StarSymbol</vt:lpstr>
      <vt:lpstr>Symbol</vt:lpstr>
      <vt:lpstr>Tahoma</vt:lpstr>
      <vt:lpstr>Times New Roman</vt:lpstr>
      <vt:lpstr>Wingdings</vt:lpstr>
      <vt:lpstr>Office Theme</vt:lpstr>
      <vt:lpstr>Office Theme</vt:lpstr>
      <vt:lpstr>Office Theme</vt:lpstr>
      <vt:lpstr>Office Theme</vt:lpstr>
      <vt:lpstr>PowerPoint Presentation</vt:lpstr>
      <vt:lpstr>OBJECTIVES:</vt:lpstr>
      <vt:lpstr>OBJECTIVES:</vt:lpstr>
      <vt:lpstr>What is the Personal Statement?</vt:lpstr>
      <vt:lpstr>STEPS TO WRITE A PERSONAL STATEMENT</vt:lpstr>
      <vt:lpstr>STEPS TO WRITE A PERSONAL STATEMENT</vt:lpstr>
      <vt:lpstr>STEPS TO WRITE A PERSONAL STATEMENT</vt:lpstr>
      <vt:lpstr>STEPS TO WRITE A PERSONAL STATEMENT</vt:lpstr>
      <vt:lpstr>STEPS TO WRITE A PERSONAL STATEMENT</vt:lpstr>
      <vt:lpstr>STEPS TO WRITE A PERSONAL STATEMENT</vt:lpstr>
      <vt:lpstr>STEPS TO WRITE A PERSONAL STATEMENT</vt:lpstr>
      <vt:lpstr>STEPS TO WRITE A PERSONAL STATEMENT</vt:lpstr>
      <vt:lpstr>STEPS TO WRITE YOUR PERSONAL STATEMENT</vt:lpstr>
      <vt:lpstr>STEPS TO WRITE A PERSONAL STATEMENT</vt:lpstr>
      <vt:lpstr>PowerPoint Presentation</vt:lpstr>
      <vt:lpstr>STEPS TO WRITE A PERSONAL STATEMENT</vt:lpstr>
      <vt:lpstr>STEPS TO WRITE A PERSONAL STATEMENT</vt:lpstr>
      <vt:lpstr>PowerPoint Presentation</vt:lpstr>
      <vt:lpstr>WHY IS A PS IMPORTANT?</vt:lpstr>
      <vt:lpstr>WHAT MAKES A PS SUCCESSFUL?</vt:lpstr>
      <vt:lpstr>WHAT MAKES A PS SUCCESSFUL</vt:lpstr>
      <vt:lpstr>AWESOME TRICKS TO USE</vt:lpstr>
      <vt:lpstr>Research!</vt:lpstr>
      <vt:lpstr>BE AHEAD OF THE GAME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PS PRESENTATION</dc:title>
  <dc:subject/>
  <dc:creator/>
  <dc:description/>
  <cp:lastModifiedBy>Ian</cp:lastModifiedBy>
  <cp:revision>2</cp:revision>
  <dcterms:created xsi:type="dcterms:W3CDTF">2023-05-15T11:13:32Z</dcterms:created>
  <dcterms:modified xsi:type="dcterms:W3CDTF">2023-05-15T12:53:07Z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PresentationFormat">
    <vt:lpwstr>On-screen Show (4:3)</vt:lpwstr>
  </property>
</Properties>
</file>